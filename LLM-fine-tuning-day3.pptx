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Helvetica Neue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HelveticaNeue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HelveticaNeue-italic.fntdata"/><Relationship Id="rId16" Type="http://schemas.openxmlformats.org/officeDocument/2006/relationships/slide" Target="slides/slide11.xml"/><Relationship Id="rId38" Type="http://schemas.openxmlformats.org/officeDocument/2006/relationships/font" Target="fonts/HelveticaNeue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2aca577a8_0_8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g3f2aca577a8_0_8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2d0efefad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3f2d0efefa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2d0efefad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g3f2d0efefad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2d0efefad_0_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g3f2d0efefad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2d0efefad_0_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f2d0efefad_0_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2d0efefad_0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f2d0efefad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2aca577a8_0_7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f2aca577a8_0_7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2d0efefad_0_1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f2d0efefad_0_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2d0efefad_0_1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f2d0efefad_0_1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2d0efefad_0_1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f2d0efefad_0_1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2d0efefad_0_1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f2d0efefad_0_1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2d0efefad_0_1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3f2d0efefad_0_1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2d0efefad_0_2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3f2d0efefad_0_2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2d0efefad_0_2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f2d0efefad_0_2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2d0efefad_0_2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3f2d0efefad_0_2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2d0efefad_0_28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3f2d0efefad_0_2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2d0efefad_0_3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g3f2d0efefad_0_3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2d0efefad_0_3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g3f2d0efefad_0_3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2d0efefad_0_3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g3f2d0efefad_0_3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2d0efefad_0_3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g3f2d0efefad_0_3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2d0efefad_0_3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g3f2d0efefad_0_3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2d0efefad_0_3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3f2d0efefad_0_3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2d0efefad_0_5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g3f2d0efefad_0_5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2d0efefad_0_5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g3f2d0efefad_0_5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2d0efefad_0_5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f2d0efefad_0_5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f2d0efefad_0_5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g3f2d0efefad_0_5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2d0efefad_0_4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g3f2d0efefad_0_4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2d0efefad_0_5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g3f2d0efefad_0_5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2d0efefad_0_4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f2d0efefad_0_4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2d0efefad_0_4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g3f2d0efefad_0_4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f2d0efefad_0_4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3" name="Google Shape;453;g3f2d0efefad_0_4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2">
  <p:cSld name="TITLE_AND_BODY_2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3">
  <p:cSld name="TITLE_AND_BODY_3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4">
  <p:cSld name="TITLE_AND_BODY_4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7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5">
  <p:cSld name="TITLE_AND_BODY_5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6">
  <p:cSld name="TITLE_AND_BODY_6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5C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2E4A"/>
          </a:solidFill>
          <a:ln cap="flat" cmpd="sng" w="12700">
            <a:solidFill>
              <a:srgbClr val="16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0"/>
          <p:cNvSpPr/>
          <p:nvPr/>
        </p:nvSpPr>
        <p:spPr>
          <a:xfrm>
            <a:off x="5760720" y="1645920"/>
            <a:ext cx="228600" cy="1828800"/>
          </a:xfrm>
          <a:prstGeom prst="rect">
            <a:avLst/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0"/>
          <p:cNvSpPr txBox="1"/>
          <p:nvPr/>
        </p:nvSpPr>
        <p:spPr>
          <a:xfrm>
            <a:off x="502919" y="2156255"/>
            <a:ext cx="5029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ko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1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1"/>
          <p:cNvSpPr txBox="1"/>
          <p:nvPr/>
        </p:nvSpPr>
        <p:spPr>
          <a:xfrm>
            <a:off x="621875" y="2117550"/>
            <a:ext cx="5455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200">
                <a:latin typeface="Calibri"/>
                <a:ea typeface="Calibri"/>
                <a:cs typeface="Calibri"/>
                <a:sym typeface="Calibri"/>
              </a:rPr>
              <a:t>6. LLM API Fine-tuning 서비스 종료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OpenAI가 fine-tuning을 포기했다?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OpenAI의 fine-tuning api 서비스 종료 선언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2"/>
          <p:cNvSpPr txBox="1"/>
          <p:nvPr/>
        </p:nvSpPr>
        <p:spPr>
          <a:xfrm>
            <a:off x="833725" y="206397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2026년 5월, OpenAI가 공식 발표를 냈습니다.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2"/>
          <p:cNvSpPr txBox="1"/>
          <p:nvPr/>
        </p:nvSpPr>
        <p:spPr>
          <a:xfrm>
            <a:off x="876125" y="2514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“신규 조직은 파인튜닝 불가, 기존 고객도 2027년 1월이면 종료”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2"/>
          <p:cNvSpPr txBox="1"/>
          <p:nvPr/>
        </p:nvSpPr>
        <p:spPr>
          <a:xfrm>
            <a:off x="833725" y="2964875"/>
            <a:ext cx="7391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아이러니하게도 불과 1년 전만 해도 OpenAI는 Fine-tuning을 권장했었지만 이제 그 방법을 스스로 닫은 것입니다.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OpenAI가 fine-tuning을 포기했다?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왜 닫았을까?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3"/>
          <p:cNvSpPr txBox="1"/>
          <p:nvPr/>
        </p:nvSpPr>
        <p:spPr>
          <a:xfrm>
            <a:off x="833725" y="206397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모델이 너무 좋아졌다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3"/>
          <p:cNvSpPr txBox="1"/>
          <p:nvPr/>
        </p:nvSpPr>
        <p:spPr>
          <a:xfrm>
            <a:off x="876125" y="2514425"/>
            <a:ext cx="7391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“GPT-5.5와 같은 최신 모델들은 성능이 뛰어나다. 그렇기 때문에 fine-tuning보다</a:t>
            </a:r>
            <a:br>
              <a:rPr lang="ko">
                <a:latin typeface="Calibri"/>
                <a:ea typeface="Calibri"/>
                <a:cs typeface="Calibri"/>
                <a:sym typeface="Calibri"/>
              </a:rPr>
            </a:br>
            <a:r>
              <a:rPr lang="ko">
                <a:latin typeface="Calibri"/>
                <a:ea typeface="Calibri"/>
                <a:cs typeface="Calibri"/>
                <a:sym typeface="Calibri"/>
              </a:rPr>
              <a:t>프롬프트 기반 접근이 이제 더 저렴하고 빠르다.”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3"/>
          <p:cNvSpPr txBox="1"/>
          <p:nvPr/>
        </p:nvSpPr>
        <p:spPr>
          <a:xfrm>
            <a:off x="833725" y="328797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그러면 이제 Fine-tuning은 필요 없는 걸까?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OpenAI가 fine-tuning을 포기했다?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엔터프라이즈 AI의 패러다임 변화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4"/>
          <p:cNvSpPr txBox="1"/>
          <p:nvPr/>
        </p:nvSpPr>
        <p:spPr>
          <a:xfrm>
            <a:off x="833725" y="1763175"/>
            <a:ext cx="7391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AI 엔지니어링의 병목 현상은 ‘모델 자체’가 아니라 ‘모델을 둘러싼 인프라’로 이동 중.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하네스 엔지니어링 : 모델이 더 잘 일 할 수 있는 환경을 조성해 주기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기업 내 AI 도입의 진짜 난제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평가 시스템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컨텍스트, 메모리 처리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도구 오케스트레이션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OpenAI가 fine-tuning을 포기했다?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Fine-tuning이 그래도 필요할까?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5"/>
          <p:cNvSpPr txBox="1"/>
          <p:nvPr/>
        </p:nvSpPr>
        <p:spPr>
          <a:xfrm>
            <a:off x="833725" y="1836200"/>
            <a:ext cx="7391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모델이 너무 좋은건 ChatGPT, Gemini, Claude와 같은 소수의 모델들 뿐이다.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이런 모델들을 사용하기 위해선 API 요금을 내고, 데이터를 외부 서버에 올리고, 인터넷 연결이 되는 환경에서만 쓸 수 있는 구조.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여전히 소형 AI 모델</a:t>
            </a:r>
            <a:r>
              <a:rPr lang="ko">
                <a:latin typeface="Calibri"/>
                <a:ea typeface="Calibri"/>
                <a:cs typeface="Calibri"/>
                <a:sym typeface="Calibri"/>
              </a:rPr>
              <a:t>과 </a:t>
            </a:r>
            <a:r>
              <a:rPr lang="ko">
                <a:latin typeface="Calibri"/>
                <a:ea typeface="Calibri"/>
                <a:cs typeface="Calibri"/>
                <a:sym typeface="Calibri"/>
              </a:rPr>
              <a:t> fine-tuning도 필요</a:t>
            </a:r>
            <a:r>
              <a:rPr lang="ko">
                <a:latin typeface="Calibri"/>
                <a:ea typeface="Calibri"/>
                <a:cs typeface="Calibri"/>
                <a:sym typeface="Calibri"/>
              </a:rPr>
              <a:t>한 경우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인터넷을 사용할 수 없는 환경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보안이 중요한 경우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비용 절감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6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6"/>
          <p:cNvSpPr txBox="1"/>
          <p:nvPr/>
        </p:nvSpPr>
        <p:spPr>
          <a:xfrm>
            <a:off x="621875" y="2117550"/>
            <a:ext cx="54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200">
                <a:latin typeface="Calibri"/>
                <a:ea typeface="Calibri"/>
                <a:cs typeface="Calibri"/>
                <a:sym typeface="Calibri"/>
              </a:rPr>
              <a:t>9. 정리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7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LLM이란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7"/>
          <p:cNvSpPr txBox="1"/>
          <p:nvPr/>
        </p:nvSpPr>
        <p:spPr>
          <a:xfrm>
            <a:off x="833725" y="1655025"/>
            <a:ext cx="739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Large Language Model : 사람의 언어를 이해한 거대 모델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Transformer의 등장 -&gt; attention layer를 이용해 긴 텍스트를 병렬로 처리할 수 있게됨.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텍스트를 앞에서 순차적으로 처리하지 않고 병렬로 처리할 수 있게 됨.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27"/>
          <p:cNvPicPr preferRelativeResize="0"/>
          <p:nvPr/>
        </p:nvPicPr>
        <p:blipFill rotWithShape="1">
          <a:blip r:embed="rId3">
            <a:alphaModFix/>
          </a:blip>
          <a:srcRect b="0" l="19485" r="6709" t="0"/>
          <a:stretch/>
        </p:blipFill>
        <p:spPr>
          <a:xfrm>
            <a:off x="5744449" y="2668251"/>
            <a:ext cx="1463674" cy="1990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4" name="Google Shape;14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5825" y="3096213"/>
            <a:ext cx="3480822" cy="9144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8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LLM이란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8"/>
          <p:cNvSpPr txBox="1"/>
          <p:nvPr/>
        </p:nvSpPr>
        <p:spPr>
          <a:xfrm>
            <a:off x="833725" y="1655025"/>
            <a:ext cx="7391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Attention 레이어란? 입력 된 각 단어 토큰 사이의 관계를 계산.</a:t>
            </a:r>
            <a:endParaRPr sz="1450">
              <a:solidFill>
                <a:srgbClr val="363737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넷플릭스에서 “science fiction”을 검색한다면 attention layer에서 무슨 일이 일어날까?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Q : “science function” 이라는 질문.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K : 영화의 메타데이터, 라벨들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V : 검색된 영화들의 메타데이터를 기반으로 검색된</a:t>
            </a:r>
            <a:br>
              <a:rPr lang="ko">
                <a:latin typeface="Calibri"/>
                <a:ea typeface="Calibri"/>
                <a:cs typeface="Calibri"/>
                <a:sym typeface="Calibri"/>
              </a:rPr>
            </a:br>
            <a:r>
              <a:rPr lang="ko">
                <a:latin typeface="Calibri"/>
                <a:ea typeface="Calibri"/>
                <a:cs typeface="Calibri"/>
                <a:sym typeface="Calibri"/>
              </a:rPr>
              <a:t>최종 검색 결과.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8"/>
          <p:cNvSpPr txBox="1"/>
          <p:nvPr/>
        </p:nvSpPr>
        <p:spPr>
          <a:xfrm>
            <a:off x="4763125" y="4395075"/>
            <a:ext cx="377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2"/>
                </a:solidFill>
              </a:rPr>
              <a:t>Attention 레이어 잘 된 설명 : 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accent1"/>
                </a:solidFill>
              </a:rPr>
              <a:t>https://joseparreogarcia.substack.com/p/understanding-transformers-part-4</a:t>
            </a:r>
            <a:endParaRPr sz="800" u="sng">
              <a:solidFill>
                <a:schemeClr val="accent1"/>
              </a:solidFill>
            </a:endParaRPr>
          </a:p>
        </p:txBody>
      </p:sp>
      <p:pic>
        <p:nvPicPr>
          <p:cNvPr id="157" name="Google Shape;1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8125" y="2354850"/>
            <a:ext cx="2897300" cy="197642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8"/>
          <p:cNvSpPr txBox="1"/>
          <p:nvPr/>
        </p:nvSpPr>
        <p:spPr>
          <a:xfrm>
            <a:off x="1022675" y="3789950"/>
            <a:ext cx="3835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 Query와 Key를 비교하여 가장 연관성이 높은 것을 파악한 뒤 매칭정도(value)를 반환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9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9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9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9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(Large Language Model)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4238" y="1761725"/>
            <a:ext cx="1935901" cy="2746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9"/>
          <p:cNvPicPr preferRelativeResize="0"/>
          <p:nvPr/>
        </p:nvPicPr>
        <p:blipFill rotWithShape="1">
          <a:blip r:embed="rId4">
            <a:alphaModFix/>
          </a:blip>
          <a:srcRect b="11222" l="39570" r="0" t="0"/>
          <a:stretch/>
        </p:blipFill>
        <p:spPr>
          <a:xfrm>
            <a:off x="4940213" y="1761713"/>
            <a:ext cx="2269501" cy="2139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29"/>
          <p:cNvCxnSpPr/>
          <p:nvPr/>
        </p:nvCxnSpPr>
        <p:spPr>
          <a:xfrm>
            <a:off x="3870138" y="4436400"/>
            <a:ext cx="2241000" cy="8700"/>
          </a:xfrm>
          <a:prstGeom prst="straightConnector1">
            <a:avLst/>
          </a:prstGeom>
          <a:noFill/>
          <a:ln cap="flat" cmpd="sng" w="9525">
            <a:solidFill>
              <a:srgbClr val="A7A7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9"/>
          <p:cNvCxnSpPr/>
          <p:nvPr/>
        </p:nvCxnSpPr>
        <p:spPr>
          <a:xfrm rot="10800000">
            <a:off x="6111200" y="4224000"/>
            <a:ext cx="0" cy="212400"/>
          </a:xfrm>
          <a:prstGeom prst="straightConnector1">
            <a:avLst/>
          </a:prstGeom>
          <a:noFill/>
          <a:ln cap="flat" cmpd="sng" w="9525">
            <a:solidFill>
              <a:srgbClr val="A7A7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9"/>
          <p:cNvCxnSpPr/>
          <p:nvPr/>
        </p:nvCxnSpPr>
        <p:spPr>
          <a:xfrm>
            <a:off x="5426975" y="4224000"/>
            <a:ext cx="1293600" cy="0"/>
          </a:xfrm>
          <a:prstGeom prst="straightConnector1">
            <a:avLst/>
          </a:prstGeom>
          <a:noFill/>
          <a:ln cap="flat" cmpd="sng" w="9525">
            <a:solidFill>
              <a:srgbClr val="A7A7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9"/>
          <p:cNvCxnSpPr/>
          <p:nvPr/>
        </p:nvCxnSpPr>
        <p:spPr>
          <a:xfrm rot="10800000">
            <a:off x="5430500" y="3922975"/>
            <a:ext cx="0" cy="300000"/>
          </a:xfrm>
          <a:prstGeom prst="straightConnector1">
            <a:avLst/>
          </a:prstGeom>
          <a:noFill/>
          <a:ln cap="flat" cmpd="sng" w="9525">
            <a:solidFill>
              <a:srgbClr val="A7A7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9"/>
          <p:cNvCxnSpPr/>
          <p:nvPr/>
        </p:nvCxnSpPr>
        <p:spPr>
          <a:xfrm rot="10800000">
            <a:off x="6720550" y="3912550"/>
            <a:ext cx="2400" cy="315000"/>
          </a:xfrm>
          <a:prstGeom prst="straightConnector1">
            <a:avLst/>
          </a:prstGeom>
          <a:noFill/>
          <a:ln cap="flat" cmpd="sng" w="9525">
            <a:solidFill>
              <a:srgbClr val="A7A7A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BERT와 GPT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30"/>
          <p:cNvPicPr preferRelativeResize="0"/>
          <p:nvPr/>
        </p:nvPicPr>
        <p:blipFill rotWithShape="1">
          <a:blip r:embed="rId3">
            <a:alphaModFix/>
          </a:blip>
          <a:srcRect b="11222" l="39570" r="0" t="0"/>
          <a:stretch/>
        </p:blipFill>
        <p:spPr>
          <a:xfrm>
            <a:off x="6038087" y="1923788"/>
            <a:ext cx="2269501" cy="2139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 txBox="1"/>
          <p:nvPr/>
        </p:nvSpPr>
        <p:spPr>
          <a:xfrm>
            <a:off x="833725" y="1923800"/>
            <a:ext cx="7391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BERT : 문장을 마스킹하고 해당 부분을 예측하는 식으로 학습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	-&gt; 주로 분류, 문장 임베딩에 사용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GPT : 문장을 앞 단어부터 순차적으로 생성하는 것을 학습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-&gt; 생성형 AI에 활용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1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학습 과정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1"/>
          <p:cNvSpPr/>
          <p:nvPr/>
        </p:nvSpPr>
        <p:spPr>
          <a:xfrm>
            <a:off x="1461750" y="2079925"/>
            <a:ext cx="2238000" cy="144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사전학습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(Pre-training)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1"/>
          <p:cNvSpPr/>
          <p:nvPr/>
        </p:nvSpPr>
        <p:spPr>
          <a:xfrm>
            <a:off x="5334750" y="2079925"/>
            <a:ext cx="2238000" cy="144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미세조정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(Fine-tuning)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1"/>
          <p:cNvSpPr txBox="1"/>
          <p:nvPr/>
        </p:nvSpPr>
        <p:spPr>
          <a:xfrm>
            <a:off x="1325250" y="3747025"/>
            <a:ext cx="2511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대량의 텍스트를 학습하며 모델의 전반적인 언어에 대한 이해도를 높이는 과정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1"/>
          <p:cNvSpPr txBox="1"/>
          <p:nvPr/>
        </p:nvSpPr>
        <p:spPr>
          <a:xfrm>
            <a:off x="5198250" y="3854875"/>
            <a:ext cx="251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특정 작업에 대한 성능을 향상시키기 위해 수행하는 과정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Supervised Fine Tuning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2"/>
          <p:cNvSpPr txBox="1"/>
          <p:nvPr/>
        </p:nvSpPr>
        <p:spPr>
          <a:xfrm>
            <a:off x="876150" y="1703825"/>
            <a:ext cx="7536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우리가 아는 AI Assistant와 같이 행동할 수 있도록 대화 내용을 학습한다.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그냥 확률에 의거해 아무 말이나 하던 언어 모델을 특정 의도에 맞춰 대화할 수 있도록 안내하는 역할 (텍스트 요약, 질문 답변 등)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2"/>
          <p:cNvSpPr txBox="1"/>
          <p:nvPr/>
        </p:nvSpPr>
        <p:spPr>
          <a:xfrm>
            <a:off x="5844900" y="4502975"/>
            <a:ext cx="142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Calibri"/>
                <a:ea typeface="Calibri"/>
                <a:cs typeface="Calibri"/>
                <a:sym typeface="Calibri"/>
              </a:rPr>
              <a:t>input : 오늘 날씨 어때?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2"/>
          <p:cNvSpPr txBox="1"/>
          <p:nvPr/>
        </p:nvSpPr>
        <p:spPr>
          <a:xfrm>
            <a:off x="4702350" y="2812650"/>
            <a:ext cx="371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Calibri"/>
                <a:ea typeface="Calibri"/>
                <a:cs typeface="Calibri"/>
                <a:sym typeface="Calibri"/>
              </a:rPr>
              <a:t>output : 안녕하세요! 오늘 날씨는 구름 한 점 없이 맑을 예정입니다!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2"/>
          <p:cNvSpPr/>
          <p:nvPr/>
        </p:nvSpPr>
        <p:spPr>
          <a:xfrm>
            <a:off x="5305500" y="3657810"/>
            <a:ext cx="2503800" cy="40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32"/>
          <p:cNvCxnSpPr>
            <a:stCxn id="213" idx="0"/>
            <a:endCxn id="215" idx="2"/>
          </p:cNvCxnSpPr>
          <p:nvPr/>
        </p:nvCxnSpPr>
        <p:spPr>
          <a:xfrm rot="10800000">
            <a:off x="6557400" y="4058075"/>
            <a:ext cx="0" cy="44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32"/>
          <p:cNvCxnSpPr>
            <a:stCxn id="215" idx="0"/>
            <a:endCxn id="214" idx="2"/>
          </p:cNvCxnSpPr>
          <p:nvPr/>
        </p:nvCxnSpPr>
        <p:spPr>
          <a:xfrm rot="10800000">
            <a:off x="6557400" y="3151410"/>
            <a:ext cx="0" cy="50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32"/>
          <p:cNvSpPr txBox="1"/>
          <p:nvPr/>
        </p:nvSpPr>
        <p:spPr>
          <a:xfrm>
            <a:off x="1911650" y="4502975"/>
            <a:ext cx="142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Calibri"/>
                <a:ea typeface="Calibri"/>
                <a:cs typeface="Calibri"/>
                <a:sym typeface="Calibri"/>
              </a:rPr>
              <a:t>input : 오늘 날씨 어때?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2"/>
          <p:cNvSpPr txBox="1"/>
          <p:nvPr/>
        </p:nvSpPr>
        <p:spPr>
          <a:xfrm>
            <a:off x="769100" y="2812650"/>
            <a:ext cx="371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Calibri"/>
                <a:ea typeface="Calibri"/>
                <a:cs typeface="Calibri"/>
                <a:sym typeface="Calibri"/>
              </a:rPr>
              <a:t>output : 오늘 날씨는 맑다. 그러나 나의 기분은 어둡기만 하다…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2"/>
          <p:cNvSpPr/>
          <p:nvPr/>
        </p:nvSpPr>
        <p:spPr>
          <a:xfrm>
            <a:off x="1372250" y="3657810"/>
            <a:ext cx="2503800" cy="40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32"/>
          <p:cNvCxnSpPr>
            <a:stCxn id="218" idx="0"/>
            <a:endCxn id="220" idx="2"/>
          </p:cNvCxnSpPr>
          <p:nvPr/>
        </p:nvCxnSpPr>
        <p:spPr>
          <a:xfrm rot="10800000">
            <a:off x="2624150" y="4058075"/>
            <a:ext cx="0" cy="44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32"/>
          <p:cNvCxnSpPr>
            <a:stCxn id="220" idx="0"/>
            <a:endCxn id="219" idx="2"/>
          </p:cNvCxnSpPr>
          <p:nvPr/>
        </p:nvCxnSpPr>
        <p:spPr>
          <a:xfrm rot="10800000">
            <a:off x="2624150" y="3151410"/>
            <a:ext cx="0" cy="50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32"/>
          <p:cNvCxnSpPr>
            <a:stCxn id="220" idx="3"/>
            <a:endCxn id="215" idx="1"/>
          </p:cNvCxnSpPr>
          <p:nvPr/>
        </p:nvCxnSpPr>
        <p:spPr>
          <a:xfrm>
            <a:off x="3876050" y="3857910"/>
            <a:ext cx="142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강화학습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3"/>
          <p:cNvSpPr txBox="1"/>
          <p:nvPr/>
        </p:nvSpPr>
        <p:spPr>
          <a:xfrm>
            <a:off x="876150" y="1767975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SFT 만으로는 부족한 이유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876150" y="2332400"/>
            <a:ext cx="7536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SFT는 모델에게 어떻게 대답해야 하는지 가르치지만, 현실에선 정답이 하나가 아닌 경우가 많음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같은 대답이라도 사람이 더 선호하는 대답 스타일이 있음.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“치킨은 정말 맛있죠.”</a:t>
            </a:r>
            <a:b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“치킨 너무 맛있지 않나요? 저는 특히 맛초킹을 좋아한답니다!”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k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그래서 강화학습을 통해 인간이 선호하는 답변을 모델에 학습시킨다.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만들어진  LLM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Base Model vs. Instruct Model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4"/>
          <p:cNvSpPr/>
          <p:nvPr/>
        </p:nvSpPr>
        <p:spPr>
          <a:xfrm>
            <a:off x="1120350" y="2015975"/>
            <a:ext cx="2285700" cy="1158900"/>
          </a:xfrm>
          <a:prstGeom prst="roundRect">
            <a:avLst>
              <a:gd fmla="val 16667" name="adj"/>
            </a:avLst>
          </a:prstGeom>
          <a:solidFill>
            <a:srgbClr val="E8E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4"/>
          <p:cNvSpPr/>
          <p:nvPr/>
        </p:nvSpPr>
        <p:spPr>
          <a:xfrm>
            <a:off x="1573100" y="1748550"/>
            <a:ext cx="1404600" cy="4512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1573100" y="1858659"/>
            <a:ext cx="140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 Model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4"/>
          <p:cNvSpPr/>
          <p:nvPr/>
        </p:nvSpPr>
        <p:spPr>
          <a:xfrm>
            <a:off x="1120350" y="3449950"/>
            <a:ext cx="2285700" cy="1158900"/>
          </a:xfrm>
          <a:prstGeom prst="roundRect">
            <a:avLst>
              <a:gd fmla="val 16667" name="adj"/>
            </a:avLst>
          </a:prstGeom>
          <a:solidFill>
            <a:srgbClr val="E8E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4"/>
          <p:cNvSpPr/>
          <p:nvPr/>
        </p:nvSpPr>
        <p:spPr>
          <a:xfrm>
            <a:off x="1573100" y="3309950"/>
            <a:ext cx="1404600" cy="4512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4"/>
          <p:cNvSpPr txBox="1"/>
          <p:nvPr/>
        </p:nvSpPr>
        <p:spPr>
          <a:xfrm>
            <a:off x="1573100" y="3420059"/>
            <a:ext cx="140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 Model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4"/>
          <p:cNvSpPr txBox="1"/>
          <p:nvPr/>
        </p:nvSpPr>
        <p:spPr>
          <a:xfrm>
            <a:off x="1206650" y="2312250"/>
            <a:ext cx="2137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사전 학습만 수행된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- 대화 능력 없이 텍스트 생성 가능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4"/>
          <p:cNvSpPr txBox="1"/>
          <p:nvPr/>
        </p:nvSpPr>
        <p:spPr>
          <a:xfrm>
            <a:off x="1206650" y="3797275"/>
            <a:ext cx="2137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SFT + DPO까지 수행한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- 기본적인 대화 능력을 갖춘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4"/>
          <p:cNvSpPr txBox="1"/>
          <p:nvPr/>
        </p:nvSpPr>
        <p:spPr>
          <a:xfrm>
            <a:off x="3933275" y="1923800"/>
            <a:ext cx="4586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도메인 특화 어시스턴트를 처음부터 설계할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데이터가 충분히 많을 때 (1000개 이상)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텍스트 완성 자체가 목적인 경우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어시스턴트 스러운 말투가 필요 없을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4"/>
          <p:cNvSpPr txBox="1"/>
          <p:nvPr/>
        </p:nvSpPr>
        <p:spPr>
          <a:xfrm>
            <a:off x="3933275" y="3706150"/>
            <a:ext cx="458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어시스턴트 챗봇을 만들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ko" sz="1200">
                <a:latin typeface="Calibri"/>
                <a:ea typeface="Calibri"/>
                <a:cs typeface="Calibri"/>
                <a:sym typeface="Calibri"/>
              </a:rPr>
              <a:t>데이터가 충분치 않을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Customization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6"/>
          <p:cNvSpPr txBox="1"/>
          <p:nvPr/>
        </p:nvSpPr>
        <p:spPr>
          <a:xfrm>
            <a:off x="6318360" y="1521650"/>
            <a:ext cx="2172600" cy="55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latin typeface="Calibri"/>
                <a:ea typeface="Calibri"/>
                <a:cs typeface="Calibri"/>
                <a:sym typeface="Calibri"/>
              </a:rPr>
              <a:t>Fine-tuning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6"/>
          <p:cNvSpPr txBox="1"/>
          <p:nvPr/>
        </p:nvSpPr>
        <p:spPr>
          <a:xfrm>
            <a:off x="3828075" y="1521650"/>
            <a:ext cx="2172600" cy="55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latin typeface="Calibri"/>
                <a:ea typeface="Calibri"/>
                <a:cs typeface="Calibri"/>
                <a:sym typeface="Calibri"/>
              </a:rPr>
              <a:t>RAG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6"/>
          <p:cNvSpPr txBox="1"/>
          <p:nvPr/>
        </p:nvSpPr>
        <p:spPr>
          <a:xfrm>
            <a:off x="1337800" y="1337000"/>
            <a:ext cx="2172600" cy="923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latin typeface="Calibri"/>
                <a:ea typeface="Calibri"/>
                <a:cs typeface="Calibri"/>
                <a:sym typeface="Calibri"/>
              </a:rPr>
              <a:t>Prompt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6"/>
          <p:cNvSpPr txBox="1"/>
          <p:nvPr/>
        </p:nvSpPr>
        <p:spPr>
          <a:xfrm>
            <a:off x="1337675" y="2436400"/>
            <a:ext cx="2172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모델에 입력되는 프롬프트를 설정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--------------------------------------------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비용 전혀 없음. 쉬움.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--------------------------------------------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예외 케이스, 프롬프트 인젝션 등에 취약함. 프롬프트가 길어지면 효과가 감소함.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78" name="Google Shape;278;p36"/>
          <p:cNvSpPr txBox="1"/>
          <p:nvPr/>
        </p:nvSpPr>
        <p:spPr>
          <a:xfrm>
            <a:off x="3828075" y="2436400"/>
            <a:ext cx="2172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모델에 질문과 관련 있는 문서들을 함께 제공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--------------------------------------------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지속적으로 변하는 지식을 주입하기 쉬움.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모델 답변의 출처를 확인 가능.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--------------------------------------------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</a:rPr>
              <a:t>RAG 파이프라인 구축 비용 필요. 관련 문서를 가져오는 Retriever 성능의 영향을 받음.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79" name="Google Shape;279;p36"/>
          <p:cNvSpPr txBox="1"/>
          <p:nvPr/>
        </p:nvSpPr>
        <p:spPr>
          <a:xfrm>
            <a:off x="6303425" y="2436400"/>
            <a:ext cx="2172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모델을 새로운 데이터로 학습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--------------------------------------------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모델의 답변 스타일, 형식을 조절하기 좋음.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프롬프트 공격에 크게 흔들리지 않음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--------------------------------------------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</a:rPr>
              <a:t>학습 비용이 큼. 할루시네이션 위험 존재. 모델을 주기적으로 업데이트하기 어려움.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80" name="Google Shape;280;p36"/>
          <p:cNvSpPr txBox="1"/>
          <p:nvPr/>
        </p:nvSpPr>
        <p:spPr>
          <a:xfrm>
            <a:off x="713575" y="2436400"/>
            <a:ext cx="525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방법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--------</a:t>
            </a:r>
            <a:r>
              <a:rPr lang="ko" sz="1000">
                <a:solidFill>
                  <a:schemeClr val="dk2"/>
                </a:solidFill>
              </a:rPr>
              <a:t>장점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--------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단점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281" name="Google Shape;281;p36"/>
          <p:cNvCxnSpPr/>
          <p:nvPr/>
        </p:nvCxnSpPr>
        <p:spPr>
          <a:xfrm>
            <a:off x="1273925" y="2301050"/>
            <a:ext cx="0" cy="199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36"/>
          <p:cNvCxnSpPr/>
          <p:nvPr/>
        </p:nvCxnSpPr>
        <p:spPr>
          <a:xfrm>
            <a:off x="3686450" y="2301050"/>
            <a:ext cx="0" cy="199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6"/>
          <p:cNvCxnSpPr/>
          <p:nvPr/>
        </p:nvCxnSpPr>
        <p:spPr>
          <a:xfrm>
            <a:off x="6162650" y="2301050"/>
            <a:ext cx="0" cy="199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6"/>
          <p:cNvCxnSpPr/>
          <p:nvPr/>
        </p:nvCxnSpPr>
        <p:spPr>
          <a:xfrm>
            <a:off x="891750" y="2301050"/>
            <a:ext cx="76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7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k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LLM Customization</a:t>
            </a:r>
            <a:endParaRPr b="1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Fine tuning 하기 위한 준비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7"/>
          <p:cNvSpPr txBox="1"/>
          <p:nvPr/>
        </p:nvSpPr>
        <p:spPr>
          <a:xfrm>
            <a:off x="876150" y="1767975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1. 데이터셋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876150" y="2213750"/>
            <a:ext cx="75363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입력 데이터는 텍스트. 컴퓨터가 이해할 수 있도록 숫자로 변경해줄 필요가 있음.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문장을 ‘서브워드’ 단위로 나눈 뒤(이를 토큰이라 함) 토큰마다 번호를 부여하여 숫자로 변환한다.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이를 ‘토큰화’라고 하고, ‘토크나이저(tokenizer)’를 사용해 수행한다.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7"/>
          <p:cNvSpPr/>
          <p:nvPr/>
        </p:nvSpPr>
        <p:spPr>
          <a:xfrm>
            <a:off x="3369738" y="4124875"/>
            <a:ext cx="543600" cy="432900"/>
          </a:xfrm>
          <a:prstGeom prst="roundRect">
            <a:avLst>
              <a:gd fmla="val 37453" name="adj"/>
            </a:avLst>
          </a:prstGeom>
          <a:solidFill>
            <a:srgbClr val="A7A7A7"/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7"/>
          <p:cNvSpPr/>
          <p:nvPr/>
        </p:nvSpPr>
        <p:spPr>
          <a:xfrm>
            <a:off x="4041750" y="4124875"/>
            <a:ext cx="969300" cy="432900"/>
          </a:xfrm>
          <a:prstGeom prst="roundRect">
            <a:avLst>
              <a:gd fmla="val 37453" name="adj"/>
            </a:avLst>
          </a:prstGeom>
          <a:solidFill>
            <a:srgbClr val="A7A7A7"/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##afford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7"/>
          <p:cNvSpPr/>
          <p:nvPr/>
        </p:nvSpPr>
        <p:spPr>
          <a:xfrm>
            <a:off x="5139463" y="4124875"/>
            <a:ext cx="779400" cy="432900"/>
          </a:xfrm>
          <a:prstGeom prst="roundRect">
            <a:avLst>
              <a:gd fmla="val 37453" name="adj"/>
            </a:avLst>
          </a:prstGeom>
          <a:solidFill>
            <a:srgbClr val="A7A7A7"/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##able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7"/>
          <p:cNvSpPr/>
          <p:nvPr/>
        </p:nvSpPr>
        <p:spPr>
          <a:xfrm>
            <a:off x="3970888" y="3731275"/>
            <a:ext cx="1280100" cy="236100"/>
          </a:xfrm>
          <a:prstGeom prst="roundRect">
            <a:avLst>
              <a:gd fmla="val 16667" name="adj"/>
            </a:avLst>
          </a:prstGeom>
          <a:solidFill>
            <a:srgbClr val="E8402A"/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서브워드 단위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7"/>
          <p:cNvSpPr/>
          <p:nvPr/>
        </p:nvSpPr>
        <p:spPr>
          <a:xfrm>
            <a:off x="6310325" y="3884125"/>
            <a:ext cx="21021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132: un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1338 : ##aford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10594 : ##able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7"/>
          <p:cNvSpPr/>
          <p:nvPr/>
        </p:nvSpPr>
        <p:spPr>
          <a:xfrm>
            <a:off x="809475" y="3884125"/>
            <a:ext cx="21021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Calibri"/>
                <a:ea typeface="Calibri"/>
                <a:cs typeface="Calibri"/>
                <a:sym typeface="Calibri"/>
              </a:rPr>
              <a:t>unaffordable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37"/>
          <p:cNvCxnSpPr>
            <a:stCxn id="302" idx="3"/>
            <a:endCxn id="297" idx="1"/>
          </p:cNvCxnSpPr>
          <p:nvPr/>
        </p:nvCxnSpPr>
        <p:spPr>
          <a:xfrm>
            <a:off x="2911575" y="4341325"/>
            <a:ext cx="45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37"/>
          <p:cNvCxnSpPr>
            <a:stCxn id="299" idx="3"/>
            <a:endCxn id="301" idx="1"/>
          </p:cNvCxnSpPr>
          <p:nvPr/>
        </p:nvCxnSpPr>
        <p:spPr>
          <a:xfrm>
            <a:off x="5918863" y="4341325"/>
            <a:ext cx="39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8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k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LLM Customization</a:t>
            </a:r>
            <a:endParaRPr b="1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Fine tuning 하기 위한 준비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8"/>
          <p:cNvSpPr txBox="1"/>
          <p:nvPr/>
        </p:nvSpPr>
        <p:spPr>
          <a:xfrm>
            <a:off x="876150" y="1767975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1. 데이터셋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8"/>
          <p:cNvSpPr txBox="1"/>
          <p:nvPr/>
        </p:nvSpPr>
        <p:spPr>
          <a:xfrm>
            <a:off x="876150" y="2213750"/>
            <a:ext cx="7536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훈련셋 : 모델이 학습 중에 보는 데이터.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테스트셋 : 모델이 학습 중에 보지 않은 데이터. 모델이 처음 보는 데이터에 대해 잘 맞추는지를 확인해야 함. (일반화 성능)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특히 실무에서 테스트셋은 굉장히 중요함!</a:t>
            </a:r>
            <a:r>
              <a:rPr lang="ko">
                <a:latin typeface="Calibri"/>
                <a:ea typeface="Calibri"/>
                <a:cs typeface="Calibri"/>
                <a:sym typeface="Calibri"/>
              </a:rPr>
              <a:t> 모델의 목표이자 지향점이라고 생각.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9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9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9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k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LLM Customization</a:t>
            </a:r>
            <a:endParaRPr b="1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9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9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Fine tuning 하기 위한 준비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9"/>
          <p:cNvSpPr txBox="1"/>
          <p:nvPr/>
        </p:nvSpPr>
        <p:spPr>
          <a:xfrm>
            <a:off x="876150" y="1767975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2. 모델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9"/>
          <p:cNvSpPr txBox="1"/>
          <p:nvPr/>
        </p:nvSpPr>
        <p:spPr>
          <a:xfrm>
            <a:off x="876150" y="2213750"/>
            <a:ext cx="7536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LLM은 굉장히 크다. (일반적인 gpu로는 학습이 불가능함)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따라서 모델을 경량화하고, 훈련을 효율적으로 수행하기 위한 기법이 필요하다.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QLoRA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Quantization(양자화) </a:t>
            </a:r>
            <a:r>
              <a:rPr lang="ko">
                <a:latin typeface="Calibri"/>
                <a:ea typeface="Calibri"/>
                <a:cs typeface="Calibri"/>
                <a:sym typeface="Calibri"/>
              </a:rPr>
              <a:t>: 모델 연산에 사용되는 데이터의 타입을 float32에서 int4로 바꿔 메모리를 절약하는 방법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LoRA</a:t>
            </a:r>
            <a:r>
              <a:rPr lang="ko">
                <a:latin typeface="Calibri"/>
                <a:ea typeface="Calibri"/>
                <a:cs typeface="Calibri"/>
                <a:sym typeface="Calibri"/>
              </a:rPr>
              <a:t> : 모델의 파라미터 전체를 학습하는 대신, 파라미터를 더 작은 차원의 행렬곱 형태로 표현하여 파라미터 수를 극단적으로 줄이면서도 성능을 유지할 수 있다.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k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LLM Customization</a:t>
            </a:r>
            <a:endParaRPr b="1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Fine tuning </a:t>
            </a: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수행과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0"/>
          <p:cNvSpPr txBox="1"/>
          <p:nvPr/>
        </p:nvSpPr>
        <p:spPr>
          <a:xfrm>
            <a:off x="876150" y="1767975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Calibri"/>
                <a:ea typeface="Calibri"/>
                <a:cs typeface="Calibri"/>
                <a:sym typeface="Calibri"/>
              </a:rPr>
              <a:t>학습 파라미터 수정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40"/>
          <p:cNvSpPr txBox="1"/>
          <p:nvPr/>
        </p:nvSpPr>
        <p:spPr>
          <a:xfrm>
            <a:off x="876150" y="2213750"/>
            <a:ext cx="7536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epoch : 데이터 전체를 1회 학습 = 1에포크.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LoRA r : 클수록 모델의 표현력이 높아짐. (지능이 높아짐) 대신 그만큼 연산량과 메모리도 커짐.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4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Customization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41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생성형 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1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생성형 AI 모델에서도 사용 가능한 평가지표가 존재한다!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1"/>
          <p:cNvSpPr txBox="1"/>
          <p:nvPr/>
        </p:nvSpPr>
        <p:spPr>
          <a:xfrm>
            <a:off x="731519" y="2156339"/>
            <a:ext cx="7680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텍스트 매칭 기반 - BLEU와 ROUGE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답변 결과가 라벨 데이터와 얼마나 텍스트가 겹치는지를 계산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의미적 유사도 기반 - LLM Embedding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모델을 이용해 텍스트 임베딩이 서로 유사한 지를 측정. 텍스트가 겹치지 않는 답변도 정답 인정 가능.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형식 검사 계열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json과 같은 형식이 정해진 데이터를 출력할 때는 코드로 바로 확인 가능.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as judge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을 이용해 모델 성능을 체크하는 방법. 기준을 설계하고 LLM에게 지시한다. API를 이용해 자동화 가능.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Fine-tuning 사례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1. Honeycomb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2"/>
          <p:cNvSpPr txBox="1"/>
          <p:nvPr/>
        </p:nvSpPr>
        <p:spPr>
          <a:xfrm>
            <a:off x="731519" y="1759239"/>
            <a:ext cx="7680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개발자들이 만든 소프트웨어가 실제 사용자들에게 문제없이 잘 돌아가고 있는지 실시간으로 감시하고 분석해주는 플랫폼 회사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자사의 Observability 데이터에 접근할 수 있는 AI 툴을 제작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2"/>
          <p:cNvSpPr txBox="1"/>
          <p:nvPr/>
        </p:nvSpPr>
        <p:spPr>
          <a:xfrm>
            <a:off x="731519" y="2867439"/>
            <a:ext cx="7680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초기 프로토타입 : OpenAI APi와 프롬프트 엔지니어링으로 80%의 use case를 커버함. 그러나 Production 레벨로 전환하는 과정에서…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신뢰성 문제를 직면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프롬프트 취약성 발생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RAG 파이프라인의 복잡도가 높음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2"/>
          <p:cNvSpPr txBox="1"/>
          <p:nvPr/>
        </p:nvSpPr>
        <p:spPr>
          <a:xfrm>
            <a:off x="2738950" y="4621850"/>
            <a:ext cx="594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https://www.zenml.io/llmops-database/natural-language-query-interface-with-production-llm-integration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Fine-tuning 사례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1. Honeycomb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3"/>
          <p:cNvSpPr txBox="1"/>
          <p:nvPr/>
        </p:nvSpPr>
        <p:spPr>
          <a:xfrm>
            <a:off x="731519" y="1668689"/>
            <a:ext cx="7680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초기 프로토타입 : OpenAI APi와 프롬프트 엔지니어링으로 80%의 use case를 커버함. 그러나 Production 레벨로 전환하는 과정에서…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신뢰성 문제를 직면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프롬프트 취약성 발생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RAG 파이프라인의 복잡도가 높음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3"/>
          <p:cNvSpPr txBox="1"/>
          <p:nvPr/>
        </p:nvSpPr>
        <p:spPr>
          <a:xfrm>
            <a:off x="731519" y="3087189"/>
            <a:ext cx="7680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해결 방법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AI가 작업하는 과정을 전부 기록하여 LLM이 실수하는 곳을 찾아 지속적으로 개선할 수 있는 환경을 구축.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Production 레벨에서 수집된 고품질의 데이터를 이용해 모델의 프롬프트 취약성을 해결하기 위한 데이터로 활용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기존에는 프롬프트에 방대한 쿼리 매뉴얼과 예시를 집어넣었으나, 파인튜닝을 도입한 후 자체 도메인 특화 언어의 문법과 규칙을 훨씬 더 잘 학습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3"/>
          <p:cNvSpPr txBox="1"/>
          <p:nvPr/>
        </p:nvSpPr>
        <p:spPr>
          <a:xfrm>
            <a:off x="2738950" y="4621850"/>
            <a:ext cx="594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https://www.zenml.io/llmops-database/natural-language-query-interface-with-production-llm-integration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Fine-tuning 사례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2. OpenPipe CEO 인터뷰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4"/>
          <p:cNvSpPr txBox="1"/>
          <p:nvPr/>
        </p:nvSpPr>
        <p:spPr>
          <a:xfrm>
            <a:off x="731519" y="1668689"/>
            <a:ext cx="76809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OpenPipe : 개발자용 파인튜닝 플랫폼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ChatGPT와 같은 파운데이션 api 기반의 MVP를 오픈소스 소형 모델로 전환할 수 있도록 돕는 플랫폼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소형 모델을 fine-tuning하여 교체한 효과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비용 및 지연시간 감소 : 평균적으로 비용 14배 절감 + 지연 시간 5배 감소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품질 유지 : 데이터 필터링과 전처리 과정을 거쳐 ChatGPT와 유사한 성능 발휘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OpenPipe 작동 방식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사용자의 프롬프트와 응답 로그를 수집하여 데이터셋으로 구축 -&gt; 성공/실패 태그와 필터링 기능을 통해 고품질의 fine-tuning용 학습 데이터 확보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데이터 준비, 파인튜닝, 모델 서빙, 평가까지의 모든 과정을 하나의 플랫폼에서 제공.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4"/>
          <p:cNvSpPr txBox="1"/>
          <p:nvPr/>
        </p:nvSpPr>
        <p:spPr>
          <a:xfrm>
            <a:off x="3800650" y="4621850"/>
            <a:ext cx="488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https://cerebralvalley.beehiiv.com/p/openpipe-finetunes-faster-cheaper-better-model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Fine-tuning 사례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4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3. Fine-tuning은 아직 유용하다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45"/>
          <p:cNvSpPr txBox="1"/>
          <p:nvPr/>
        </p:nvSpPr>
        <p:spPr>
          <a:xfrm>
            <a:off x="731519" y="1668689"/>
            <a:ext cx="76809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파인튜닝이 힘을 발휘하기 힘든 케이스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적합하지 않은 도메인 작업 : 범용 모델, 개인 비서 등을 만들 때는 부적합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평가 시스템의 부재 : 제품 개발 초기 단계라 도메인에 특화된 평가 시스템이 없는 경우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파인튜닝 전에 프롬프트 엔지니어링을 최대한 시도해볼 것.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프롬프트 엔지니어링이 구축해 둔 평가 시스템을 검증하기 가장 좋은 방법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파인튜닝이 강력한 효과를 발휘하는 경우 : </a:t>
            </a: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특정 문법, 스타일, 규칙을 학습 시키는데 효과적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ReChat의 Lucy(부동산 AI 비서) : 웹 화면에 다양한 인터랙티브 위젯과 카드를 동적으로 띄우기 위해, 정형 데이터와 비정형 데이터가 복잡하게 얽혀 ReChat만의 독특한 포맷이 필요. -&gt; 파인 튜닝을 통해 이 형식을 맞출 수 있었음.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5"/>
          <p:cNvSpPr txBox="1"/>
          <p:nvPr/>
        </p:nvSpPr>
        <p:spPr>
          <a:xfrm>
            <a:off x="5403850" y="4621850"/>
            <a:ext cx="328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https://hamel.dev/blog/posts/fine_tuning_valuable.html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4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6"/>
          <p:cNvSpPr txBox="1"/>
          <p:nvPr/>
        </p:nvSpPr>
        <p:spPr>
          <a:xfrm>
            <a:off x="2245650" y="2667500"/>
            <a:ext cx="4269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200">
                <a:solidFill>
                  <a:schemeClr val="dk1"/>
                </a:solidFill>
              </a:rPr>
              <a:t>그 뒤엔…</a:t>
            </a:r>
            <a:endParaRPr b="1"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7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Agent란?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Agent란 무엇일까?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7"/>
          <p:cNvSpPr txBox="1"/>
          <p:nvPr/>
        </p:nvSpPr>
        <p:spPr>
          <a:xfrm>
            <a:off x="731519" y="1852789"/>
            <a:ext cx="76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Codex, Claude Code와 같은 서비스들을 생각해 보자…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4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8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Agent란?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Agent는 자율적으로 작업을 수행할 수 있는 ‘직원’ 느낌.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48"/>
          <p:cNvSpPr txBox="1"/>
          <p:nvPr/>
        </p:nvSpPr>
        <p:spPr>
          <a:xfrm>
            <a:off x="731519" y="1852789"/>
            <a:ext cx="768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단순 채팅으로 답변 해주던 AI -&gt; 실제로 작업을 수행하는 AI로 발전.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툴을 제공해 AI가 직접 작업을 수행할 수 있게 하고, LLM이 작업을 효율적으로 해결할 수 있는 환경을 제공.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5" name="Google Shape;43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988" y="2655951"/>
            <a:ext cx="2551863" cy="1855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7374" y="2655951"/>
            <a:ext cx="2668319" cy="1855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5693" y="2610200"/>
            <a:ext cx="2668316" cy="194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9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9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9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Agent란?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9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9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Agent 구축에서 fine-tuning이 할 수 있는 일은?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9"/>
          <p:cNvSpPr txBox="1"/>
          <p:nvPr/>
        </p:nvSpPr>
        <p:spPr>
          <a:xfrm>
            <a:off x="731519" y="1852789"/>
            <a:ext cx="768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Multi-agent에서 서로 소통을 원할하게 하기 위해 텍스트 생성 방식을 통일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ko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단순 작업은 파운데이션 모델 대신 로컬 소형 모델로 대체하여 비용 절감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700" y="3165493"/>
            <a:ext cx="3343909" cy="98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2019" y="2874319"/>
            <a:ext cx="2724450" cy="145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5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5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ko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5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ko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Agent란?</a:t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5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50"/>
          <p:cNvSpPr txBox="1"/>
          <p:nvPr/>
        </p:nvSpPr>
        <p:spPr>
          <a:xfrm>
            <a:off x="755950" y="2244200"/>
            <a:ext cx="75819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900">
                <a:solidFill>
                  <a:schemeClr val="dk1"/>
                </a:solidFill>
              </a:rPr>
              <a:t>어떤 Agent를 만들까?</a:t>
            </a:r>
            <a:endParaRPr b="1" sz="2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900">
                <a:solidFill>
                  <a:schemeClr val="dk1"/>
                </a:solidFill>
              </a:rPr>
              <a:t>거기에 fine-tuning은 어떻게 활용될 수 있을까?</a:t>
            </a:r>
            <a:endParaRPr b="1" sz="2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