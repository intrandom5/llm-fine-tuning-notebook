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5143500" cx="9144000"/>
  <p:notesSz cx="6858000" cy="9144000"/>
  <p:embeddedFontLst>
    <p:embeddedFont>
      <p:font typeface="Helvetica Neue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HelveticaNeue-regular.fntdata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HelveticaNeue-italic.fntdata"/><Relationship Id="rId14" Type="http://schemas.openxmlformats.org/officeDocument/2006/relationships/slide" Target="slides/slide9.xml"/><Relationship Id="rId36" Type="http://schemas.openxmlformats.org/officeDocument/2006/relationships/font" Target="fonts/HelveticaNeue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schemas.openxmlformats.org/officeDocument/2006/relationships/font" Target="fonts/HelveticaNeue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2aca577a8_0_89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" name="Google Shape;59;g3f2aca577a8_0_89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2aca577a8_0_60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" name="Google Shape;66;g3f2aca577a8_0_60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efdae4c71f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" name="Google Shape;73;g3efdae4c71f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f2aca577a8_0_6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" name="Google Shape;93;g3f2aca577a8_0_6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efdae4c71f_0_2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g3efdae4c71f_0_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efdae4c71f_0_4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" name="Google Shape;119;g3efdae4c71f_0_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efcd89290c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g3efcd89290c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efd57b9513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" name="Google Shape;142;g3efd57b9513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efd57b9513_0_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" name="Google Shape;149;g3efd57b9513_0_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efd57b9513_0_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" name="Google Shape;162;g3efd57b9513_0_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efd57b9513_0_4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g3efd57b9513_0_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efd57b9513_0_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" name="Google Shape;186;g3efd57b9513_0_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f2aca577a8_0_65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7" name="Google Shape;197;g3f2aca577a8_0_65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f2aca577a8_0_66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4" name="Google Shape;204;g3f2aca577a8_0_66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f2aca577a8_0_67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5" name="Google Shape;215;g3f2aca577a8_0_67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f2aca577a8_0_68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0" name="Google Shape;230;g3f2aca577a8_0_68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f2aca577a8_0_69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3" name="Google Shape;243;g3f2aca577a8_0_69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f2aca577a8_0_70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5" name="Google Shape;255;g3f2aca577a8_0_70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efd57b9513_0_5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6" name="Google Shape;266;g3efd57b9513_0_5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efd57b9513_0_6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8" name="Google Shape;278;g3efd57b9513_0_6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efdae4c71f_0_5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2" name="Google Shape;292;g3efdae4c71f_0_5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efdae4c71f_0_7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6" name="Google Shape;306;g3efdae4c71f_0_7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efdae4c71f_0_8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9" name="Google Shape;319;g3efdae4c71f_0_8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f2aca577a8_0_7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3" name="Google Shape;333;g3f2aca577a8_0_7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f2aca577a8_0_74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6" name="Google Shape;346;g3f2aca577a8_0_7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efdae4c71f_0_10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8" name="Google Shape;358;g3efdae4c71f_0_10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efdae4c71f_0_1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0" name="Google Shape;370;g3efdae4c71f_0_1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efdae4c71f_0_10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2" name="Google Shape;382;g3efdae4c71f_0_10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f2aca577a8_0_76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9" name="Google Shape;389;g3f2aca577a8_0_76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TITLE_AND_BODY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4419600" y="4627562"/>
            <a:ext cx="2133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 1">
  <p:cSld name="DEFAULT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 2">
  <p:cSld name="TITLE_AND_BODY_2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5"/>
          <p:cNvSpPr txBox="1"/>
          <p:nvPr>
            <p:ph idx="12" type="sldNum"/>
          </p:nvPr>
        </p:nvSpPr>
        <p:spPr>
          <a:xfrm>
            <a:off x="4419600" y="4627562"/>
            <a:ext cx="2133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 3">
  <p:cSld name="TITLE_AND_BODY_3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6"/>
          <p:cNvSpPr txBox="1"/>
          <p:nvPr>
            <p:ph idx="12" type="sldNum"/>
          </p:nvPr>
        </p:nvSpPr>
        <p:spPr>
          <a:xfrm>
            <a:off x="4419600" y="4627562"/>
            <a:ext cx="2133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3A5C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7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62E4A"/>
          </a:solidFill>
          <a:ln cap="flat" cmpd="sng" w="12700">
            <a:solidFill>
              <a:srgbClr val="16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7"/>
          <p:cNvSpPr/>
          <p:nvPr/>
        </p:nvSpPr>
        <p:spPr>
          <a:xfrm>
            <a:off x="5760720" y="1645920"/>
            <a:ext cx="228600" cy="1828800"/>
          </a:xfrm>
          <a:prstGeom prst="rect">
            <a:avLst/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7"/>
          <p:cNvSpPr txBox="1"/>
          <p:nvPr/>
        </p:nvSpPr>
        <p:spPr>
          <a:xfrm>
            <a:off x="502919" y="2156255"/>
            <a:ext cx="50292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b="1" lang="ko"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 fine 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8"/>
          <p:cNvSpPr/>
          <p:nvPr/>
        </p:nvSpPr>
        <p:spPr>
          <a:xfrm>
            <a:off x="0" y="0"/>
            <a:ext cx="7667100" cy="5143500"/>
          </a:xfrm>
          <a:prstGeom prst="roundRect">
            <a:avLst>
              <a:gd fmla="val 1871" name="adj"/>
            </a:avLst>
          </a:prstGeom>
          <a:solidFill>
            <a:srgbClr val="E8402A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8"/>
          <p:cNvSpPr/>
          <p:nvPr/>
        </p:nvSpPr>
        <p:spPr>
          <a:xfrm>
            <a:off x="0" y="0"/>
            <a:ext cx="6376200" cy="51435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8"/>
          <p:cNvSpPr txBox="1"/>
          <p:nvPr/>
        </p:nvSpPr>
        <p:spPr>
          <a:xfrm>
            <a:off x="621875" y="2117550"/>
            <a:ext cx="5455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200">
                <a:latin typeface="Calibri"/>
                <a:ea typeface="Calibri"/>
                <a:cs typeface="Calibri"/>
                <a:sym typeface="Calibri"/>
              </a:rPr>
              <a:t>5. Instruct fine tuning</a:t>
            </a:r>
            <a:endParaRPr b="1" sz="3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9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9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ko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SFT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9"/>
          <p:cNvSpPr txBox="1"/>
          <p:nvPr/>
        </p:nvSpPr>
        <p:spPr>
          <a:xfrm>
            <a:off x="1920239" y="285750"/>
            <a:ext cx="67665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None/>
            </a:pPr>
            <a:r>
              <a:rPr b="1" lang="ko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Text Generate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t/>
            </a:r>
            <a:endParaRPr b="1"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9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9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Base Model vs. Instruct Model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9"/>
          <p:cNvSpPr/>
          <p:nvPr/>
        </p:nvSpPr>
        <p:spPr>
          <a:xfrm>
            <a:off x="1133175" y="2015975"/>
            <a:ext cx="2285700" cy="1158900"/>
          </a:xfrm>
          <a:prstGeom prst="roundRect">
            <a:avLst>
              <a:gd fmla="val 16667" name="adj"/>
            </a:avLst>
          </a:prstGeom>
          <a:solidFill>
            <a:srgbClr val="E8EAF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9"/>
          <p:cNvSpPr/>
          <p:nvPr/>
        </p:nvSpPr>
        <p:spPr>
          <a:xfrm>
            <a:off x="1585925" y="1748550"/>
            <a:ext cx="1404600" cy="4512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9"/>
          <p:cNvSpPr txBox="1"/>
          <p:nvPr/>
        </p:nvSpPr>
        <p:spPr>
          <a:xfrm>
            <a:off x="1585925" y="1858659"/>
            <a:ext cx="1404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ko" sz="13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Base Model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9"/>
          <p:cNvSpPr/>
          <p:nvPr/>
        </p:nvSpPr>
        <p:spPr>
          <a:xfrm>
            <a:off x="1133175" y="3449950"/>
            <a:ext cx="2285700" cy="1158900"/>
          </a:xfrm>
          <a:prstGeom prst="roundRect">
            <a:avLst>
              <a:gd fmla="val 16667" name="adj"/>
            </a:avLst>
          </a:prstGeom>
          <a:solidFill>
            <a:srgbClr val="E8EAF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9"/>
          <p:cNvSpPr/>
          <p:nvPr/>
        </p:nvSpPr>
        <p:spPr>
          <a:xfrm>
            <a:off x="1585925" y="3309950"/>
            <a:ext cx="1404600" cy="4512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9"/>
          <p:cNvSpPr txBox="1"/>
          <p:nvPr/>
        </p:nvSpPr>
        <p:spPr>
          <a:xfrm>
            <a:off x="1585925" y="3420059"/>
            <a:ext cx="1404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ko" sz="13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Instruct Model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9"/>
          <p:cNvSpPr txBox="1"/>
          <p:nvPr/>
        </p:nvSpPr>
        <p:spPr>
          <a:xfrm>
            <a:off x="1219475" y="2312250"/>
            <a:ext cx="21375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latin typeface="Calibri"/>
                <a:ea typeface="Calibri"/>
                <a:cs typeface="Calibri"/>
                <a:sym typeface="Calibri"/>
              </a:rPr>
              <a:t>사전 학습만 수행된 모델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latin typeface="Calibri"/>
                <a:ea typeface="Calibri"/>
                <a:cs typeface="Calibri"/>
                <a:sym typeface="Calibri"/>
              </a:rPr>
              <a:t>- 대화 능력 없이 텍스트 생성 가능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9"/>
          <p:cNvSpPr txBox="1"/>
          <p:nvPr/>
        </p:nvSpPr>
        <p:spPr>
          <a:xfrm>
            <a:off x="1219475" y="3797275"/>
            <a:ext cx="21375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latin typeface="Calibri"/>
                <a:ea typeface="Calibri"/>
                <a:cs typeface="Calibri"/>
                <a:sym typeface="Calibri"/>
              </a:rPr>
              <a:t>SFT + DPO까지 수행한 모델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latin typeface="Calibri"/>
                <a:ea typeface="Calibri"/>
                <a:cs typeface="Calibri"/>
                <a:sym typeface="Calibri"/>
              </a:rPr>
              <a:t>- 기본적인 대화 능력을 갖춘 모델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9"/>
          <p:cNvSpPr txBox="1"/>
          <p:nvPr/>
        </p:nvSpPr>
        <p:spPr>
          <a:xfrm>
            <a:off x="3933275" y="1971450"/>
            <a:ext cx="45861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ko" sz="1200">
                <a:latin typeface="Calibri"/>
                <a:ea typeface="Calibri"/>
                <a:cs typeface="Calibri"/>
                <a:sym typeface="Calibri"/>
              </a:rPr>
              <a:t>도메인 특화 어시스턴트를 처음부터 설계할 때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ko" sz="1200">
                <a:latin typeface="Calibri"/>
                <a:ea typeface="Calibri"/>
                <a:cs typeface="Calibri"/>
                <a:sym typeface="Calibri"/>
              </a:rPr>
              <a:t>데이터가 충분히 많을 때 (1000개 이상) 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ko" sz="1200">
                <a:latin typeface="Calibri"/>
                <a:ea typeface="Calibri"/>
                <a:cs typeface="Calibri"/>
                <a:sym typeface="Calibri"/>
              </a:rPr>
              <a:t>텍스트 완성 자체가 목적인 경우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ko" sz="1200">
                <a:latin typeface="Calibri"/>
                <a:ea typeface="Calibri"/>
                <a:cs typeface="Calibri"/>
                <a:sym typeface="Calibri"/>
              </a:rPr>
              <a:t>어시스턴트 스러운 말투가 필요 없을 때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9"/>
          <p:cNvSpPr txBox="1"/>
          <p:nvPr/>
        </p:nvSpPr>
        <p:spPr>
          <a:xfrm>
            <a:off x="3933275" y="3706150"/>
            <a:ext cx="4586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ko" sz="1200">
                <a:latin typeface="Calibri"/>
                <a:ea typeface="Calibri"/>
                <a:cs typeface="Calibri"/>
                <a:sym typeface="Calibri"/>
              </a:rPr>
              <a:t>어시스턴트 챗봇을 만들 때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ko" sz="1200">
                <a:latin typeface="Calibri"/>
                <a:ea typeface="Calibri"/>
                <a:cs typeface="Calibri"/>
                <a:sym typeface="Calibri"/>
              </a:rPr>
              <a:t>데이터가 충분치 않을 때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0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0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ko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Fine-tuning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0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ko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Fine-tuning의 효과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0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0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Instruct Model의 입력 데이터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0"/>
          <p:cNvSpPr txBox="1"/>
          <p:nvPr/>
        </p:nvSpPr>
        <p:spPr>
          <a:xfrm>
            <a:off x="876150" y="1755425"/>
            <a:ext cx="739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latin typeface="Calibri"/>
                <a:ea typeface="Calibri"/>
                <a:cs typeface="Calibri"/>
                <a:sym typeface="Calibri"/>
              </a:rPr>
              <a:t>1. 텍스트 전처리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0"/>
          <p:cNvSpPr txBox="1"/>
          <p:nvPr/>
        </p:nvSpPr>
        <p:spPr>
          <a:xfrm>
            <a:off x="833725" y="2307300"/>
            <a:ext cx="73917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각 instruct model마다 </a:t>
            </a:r>
            <a:r>
              <a:rPr lang="ko">
                <a:latin typeface="Calibri"/>
                <a:ea typeface="Calibri"/>
                <a:cs typeface="Calibri"/>
                <a:sym typeface="Calibri"/>
              </a:rPr>
              <a:t>학습에 이용한 질문-답변 템플릿 형태가 다름.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따라서 instruct model에 sft를 수행할 때는 질문-답변 형식을 해당 템플릿에 맞춰서 작성해야 함.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7650" y="3430363"/>
            <a:ext cx="6705600" cy="107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1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1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ko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Fine-tuning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1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ko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Fine-tuning의 효과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1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1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Instruct Model의 입력 데이터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1"/>
          <p:cNvSpPr txBox="1"/>
          <p:nvPr/>
        </p:nvSpPr>
        <p:spPr>
          <a:xfrm>
            <a:off x="876150" y="1755425"/>
            <a:ext cx="739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latin typeface="Calibri"/>
                <a:ea typeface="Calibri"/>
                <a:cs typeface="Calibri"/>
                <a:sym typeface="Calibri"/>
              </a:rPr>
              <a:t>1. 텍스트 전처리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1"/>
          <p:cNvSpPr txBox="1"/>
          <p:nvPr/>
        </p:nvSpPr>
        <p:spPr>
          <a:xfrm>
            <a:off x="833725" y="2307300"/>
            <a:ext cx="73917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학습 템플릿은 토크나이저에 기록되어 있기 때문에 `tokenizer.apply_chat_template()` 명령어 하나로 쉽게 변환 가능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데이터를 사전에 ‘role’과 ‘content’ 키를 포함하면 됨.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6" name="Google Shape;11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6975" y="3619800"/>
            <a:ext cx="4210050" cy="704850"/>
          </a:xfrm>
          <a:prstGeom prst="rect">
            <a:avLst/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2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22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ko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Fine-tuning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2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ko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Fine-tuning의 효과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2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22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Instruct Model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2"/>
          <p:cNvSpPr txBox="1"/>
          <p:nvPr/>
        </p:nvSpPr>
        <p:spPr>
          <a:xfrm>
            <a:off x="876150" y="1755425"/>
            <a:ext cx="739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latin typeface="Calibri"/>
                <a:ea typeface="Calibri"/>
                <a:cs typeface="Calibri"/>
                <a:sym typeface="Calibri"/>
              </a:rPr>
              <a:t>1. Instruct Model fine-tuning</a:t>
            </a:r>
            <a:r>
              <a:rPr b="1" lang="ko">
                <a:latin typeface="Calibri"/>
                <a:ea typeface="Calibri"/>
                <a:cs typeface="Calibri"/>
                <a:sym typeface="Calibri"/>
              </a:rPr>
              <a:t>을 통해 수행 가능한 작업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22"/>
          <p:cNvSpPr txBox="1"/>
          <p:nvPr/>
        </p:nvSpPr>
        <p:spPr>
          <a:xfrm>
            <a:off x="833725" y="2307300"/>
            <a:ext cx="73917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말투 조정하기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지식 증류하기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출력 형식 고정하기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3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3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ko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Fine-tuning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3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ko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Fine-tuning의 효과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3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지식 주입을 위해 문서로부터 질문-답변 추출하기</a:t>
            </a:r>
            <a:endParaRPr b="1" sz="18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3"/>
          <p:cNvSpPr txBox="1"/>
          <p:nvPr/>
        </p:nvSpPr>
        <p:spPr>
          <a:xfrm>
            <a:off x="833725" y="2571750"/>
            <a:ext cx="73917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문서에서 사실 추출 - “배송비 4만원”, “환불 14일” 등의 개별 사실을 먼저 뽑는다.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각 사실마다 다양한 각도의 QA 생성 - 다른 표현, 반대되는 답변 등의 다양한 예시를 뽑는다.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JSON 형식으로 출력 - 결과를 json 포맷으로 저장한다.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4"/>
          <p:cNvSpPr/>
          <p:nvPr/>
        </p:nvSpPr>
        <p:spPr>
          <a:xfrm>
            <a:off x="0" y="0"/>
            <a:ext cx="7667100" cy="5143500"/>
          </a:xfrm>
          <a:prstGeom prst="roundRect">
            <a:avLst>
              <a:gd fmla="val 1871" name="adj"/>
            </a:avLst>
          </a:prstGeom>
          <a:solidFill>
            <a:srgbClr val="E8402A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4"/>
          <p:cNvSpPr/>
          <p:nvPr/>
        </p:nvSpPr>
        <p:spPr>
          <a:xfrm>
            <a:off x="0" y="0"/>
            <a:ext cx="6376200" cy="51435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4"/>
          <p:cNvSpPr txBox="1"/>
          <p:nvPr/>
        </p:nvSpPr>
        <p:spPr>
          <a:xfrm>
            <a:off x="621875" y="2117550"/>
            <a:ext cx="54552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200"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b="1" lang="ko" sz="3200">
                <a:latin typeface="Calibri"/>
                <a:ea typeface="Calibri"/>
                <a:cs typeface="Calibri"/>
                <a:sym typeface="Calibri"/>
              </a:rPr>
              <a:t>. LLM API Fine-tuning </a:t>
            </a:r>
            <a:r>
              <a:rPr b="1" lang="ko" sz="3200">
                <a:latin typeface="Calibri"/>
                <a:ea typeface="Calibri"/>
                <a:cs typeface="Calibri"/>
                <a:sym typeface="Calibri"/>
              </a:rPr>
              <a:t>서비스 종료</a:t>
            </a:r>
            <a:endParaRPr b="1" sz="3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5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5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5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ko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Fine-tuning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5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ko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OpenAI가 fine-tuning을 포기했다?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5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OpenAI의 fine-tuning api 서비스 종료 선언</a:t>
            </a:r>
            <a:endParaRPr b="1" sz="18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5"/>
          <p:cNvSpPr txBox="1"/>
          <p:nvPr/>
        </p:nvSpPr>
        <p:spPr>
          <a:xfrm>
            <a:off x="833725" y="2063975"/>
            <a:ext cx="739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2026년 5월, OpenAI가 공식 발표를 냈습니다.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5"/>
          <p:cNvSpPr txBox="1"/>
          <p:nvPr/>
        </p:nvSpPr>
        <p:spPr>
          <a:xfrm>
            <a:off x="876125" y="2514425"/>
            <a:ext cx="739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“신규 조직은 파인튜닝 불가, 기존 고객도 2027년 1월이면 종료”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5"/>
          <p:cNvSpPr txBox="1"/>
          <p:nvPr/>
        </p:nvSpPr>
        <p:spPr>
          <a:xfrm>
            <a:off x="833725" y="2964875"/>
            <a:ext cx="73917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아이러니하게도 불과 1년 전만 해도 OpenAI는 Fine-tuning을 권장했었지만 이제 그 방법을 스스로 닫은 것입니다.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6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6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6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ko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Fine-tuning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6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ko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OpenAI가 fine-tuning을 포기했다?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6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왜 닫았을까?</a:t>
            </a:r>
            <a:endParaRPr b="1" sz="18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6"/>
          <p:cNvSpPr txBox="1"/>
          <p:nvPr/>
        </p:nvSpPr>
        <p:spPr>
          <a:xfrm>
            <a:off x="833725" y="2063975"/>
            <a:ext cx="739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모델이 너무 좋아졌다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6"/>
          <p:cNvSpPr txBox="1"/>
          <p:nvPr/>
        </p:nvSpPr>
        <p:spPr>
          <a:xfrm>
            <a:off x="876125" y="2514425"/>
            <a:ext cx="73917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“GPT-5.5</a:t>
            </a:r>
            <a:r>
              <a:rPr lang="ko">
                <a:latin typeface="Calibri"/>
                <a:ea typeface="Calibri"/>
                <a:cs typeface="Calibri"/>
                <a:sym typeface="Calibri"/>
              </a:rPr>
              <a:t>와 같은 최신 모델들은 성능이 뛰어나다. 그렇기 때문에 fine-tuning보다</a:t>
            </a:r>
            <a:br>
              <a:rPr lang="ko">
                <a:latin typeface="Calibri"/>
                <a:ea typeface="Calibri"/>
                <a:cs typeface="Calibri"/>
                <a:sym typeface="Calibri"/>
              </a:rPr>
            </a:br>
            <a:r>
              <a:rPr lang="ko">
                <a:latin typeface="Calibri"/>
                <a:ea typeface="Calibri"/>
                <a:cs typeface="Calibri"/>
                <a:sym typeface="Calibri"/>
              </a:rPr>
              <a:t>프롬프트 기반 접근이 이제 더 저렴하고 빠르다.</a:t>
            </a:r>
            <a:r>
              <a:rPr lang="ko">
                <a:latin typeface="Calibri"/>
                <a:ea typeface="Calibri"/>
                <a:cs typeface="Calibri"/>
                <a:sym typeface="Calibri"/>
              </a:rPr>
              <a:t>”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6"/>
          <p:cNvSpPr txBox="1"/>
          <p:nvPr/>
        </p:nvSpPr>
        <p:spPr>
          <a:xfrm>
            <a:off x="833725" y="3287975"/>
            <a:ext cx="739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b="1" lang="ko">
                <a:latin typeface="Calibri"/>
                <a:ea typeface="Calibri"/>
                <a:cs typeface="Calibri"/>
                <a:sym typeface="Calibri"/>
              </a:rPr>
              <a:t>그러면 이제 Fine-tuning은 필요 없는 걸까?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7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7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7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7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ko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Fine-tuning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7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ko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OpenAI가 fine-tuning을 포기했다?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7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엔터프라이즈 AI의 패러다임 변화</a:t>
            </a:r>
            <a:endParaRPr b="1" sz="18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7"/>
          <p:cNvSpPr txBox="1"/>
          <p:nvPr/>
        </p:nvSpPr>
        <p:spPr>
          <a:xfrm>
            <a:off x="833725" y="2063975"/>
            <a:ext cx="73917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AI 엔지니어링의 병목 현상은 ‘모델 자체’가 아니라 ‘모델을 둘러싼 인프라’로 이동 중.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○"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하네스 엔지니어링 : 모델이 더 잘 일 할 수 있는 환경을 조성해 주기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기업 내 AI 도입의 진짜 난제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○"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평가 시스템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○"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컨텍스트, 메모리 처리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○"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도구 오케스트레이션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8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8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8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8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ko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Fine-tuning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8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ko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OpenAI가 fine-tuning을 포기했다?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8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Fine-tuning이 그래도 필요할까?</a:t>
            </a:r>
            <a:endParaRPr b="1" sz="18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8"/>
          <p:cNvSpPr txBox="1"/>
          <p:nvPr/>
        </p:nvSpPr>
        <p:spPr>
          <a:xfrm>
            <a:off x="833725" y="2063975"/>
            <a:ext cx="73917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모델이 너무 좋은건 ChatGPT, Gemini, Claude와 같은 소수의 모델들 뿐이다.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이런 모델들을 사용하기 위해선 API 요금을 내고, 데이터를 외부 서버에 올리고, 인터넷 연결이 되는 환경에서만 쓸 수 있는 구조.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비용, 보안, 인터넷이 없는 환경에선 여전히 소형 AI 모델이 필요하고, fine-tuning도 필요하다.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9"/>
          <p:cNvSpPr/>
          <p:nvPr/>
        </p:nvSpPr>
        <p:spPr>
          <a:xfrm>
            <a:off x="0" y="0"/>
            <a:ext cx="7667100" cy="5143500"/>
          </a:xfrm>
          <a:prstGeom prst="roundRect">
            <a:avLst>
              <a:gd fmla="val 1871" name="adj"/>
            </a:avLst>
          </a:prstGeom>
          <a:solidFill>
            <a:srgbClr val="E8402A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9"/>
          <p:cNvSpPr/>
          <p:nvPr/>
        </p:nvSpPr>
        <p:spPr>
          <a:xfrm>
            <a:off x="0" y="0"/>
            <a:ext cx="6376200" cy="51435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9"/>
          <p:cNvSpPr txBox="1"/>
          <p:nvPr/>
        </p:nvSpPr>
        <p:spPr>
          <a:xfrm>
            <a:off x="621875" y="2117550"/>
            <a:ext cx="5455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200">
                <a:latin typeface="Calibri"/>
                <a:ea typeface="Calibri"/>
                <a:cs typeface="Calibri"/>
                <a:sym typeface="Calibri"/>
              </a:rPr>
              <a:t>6. 모델 평가</a:t>
            </a:r>
            <a:endParaRPr b="1" sz="3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30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30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ko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모델 평가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30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ko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모델 평가와 배포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30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30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모델 평가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30"/>
          <p:cNvSpPr txBox="1"/>
          <p:nvPr/>
        </p:nvSpPr>
        <p:spPr>
          <a:xfrm>
            <a:off x="731519" y="1726139"/>
            <a:ext cx="7680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●"/>
            </a:pPr>
            <a:r>
              <a:rPr lang="ko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앞서 분류 모델은 어떻게 평가했을까요?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31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31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ko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모델 평가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31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ko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모델 평가와 배포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31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31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모델 평가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31"/>
          <p:cNvSpPr txBox="1"/>
          <p:nvPr/>
        </p:nvSpPr>
        <p:spPr>
          <a:xfrm>
            <a:off x="731519" y="1726139"/>
            <a:ext cx="7680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●"/>
            </a:pPr>
            <a:r>
              <a:rPr lang="ko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앞서 분류 모델은 어떻게 평가했을까요?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4" name="Google Shape;22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2500" y="2363173"/>
            <a:ext cx="5894433" cy="1595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76926" y="2363175"/>
            <a:ext cx="1884555" cy="1595699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31"/>
          <p:cNvSpPr txBox="1"/>
          <p:nvPr/>
        </p:nvSpPr>
        <p:spPr>
          <a:xfrm>
            <a:off x="731519" y="4048264"/>
            <a:ext cx="7680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ko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Loss, Accuracy, F1 Score, Confusion Matrix</a:t>
            </a:r>
            <a:endParaRPr b="1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31"/>
          <p:cNvSpPr txBox="1"/>
          <p:nvPr/>
        </p:nvSpPr>
        <p:spPr>
          <a:xfrm>
            <a:off x="731519" y="4445464"/>
            <a:ext cx="768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ko" sz="1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이들을 생성형 AI에도 적용할 수 있을까요?</a:t>
            </a:r>
            <a:endParaRPr b="1"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32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32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ko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모델 평가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32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ko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모델 평가와 배포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32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32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모델 평가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32"/>
          <p:cNvSpPr txBox="1"/>
          <p:nvPr/>
        </p:nvSpPr>
        <p:spPr>
          <a:xfrm>
            <a:off x="731519" y="1726139"/>
            <a:ext cx="7680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●"/>
            </a:pPr>
            <a:r>
              <a:rPr lang="ko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Loss가 잘 떨어지면 학습이 잘 된 모델이 아닌가요?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9" name="Google Shape;23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4763" y="2329173"/>
            <a:ext cx="5894433" cy="1595699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32"/>
          <p:cNvSpPr txBox="1"/>
          <p:nvPr/>
        </p:nvSpPr>
        <p:spPr>
          <a:xfrm>
            <a:off x="731519" y="4374689"/>
            <a:ext cx="768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ko" sz="1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Loss는 모델의 성능을 대표하지 못한다.</a:t>
            </a:r>
            <a:endParaRPr b="1"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33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33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ko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모델 평가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33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ko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모델 평가와 배포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33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33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모델 평가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33"/>
          <p:cNvSpPr txBox="1"/>
          <p:nvPr/>
        </p:nvSpPr>
        <p:spPr>
          <a:xfrm>
            <a:off x="731519" y="1726139"/>
            <a:ext cx="7680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●"/>
            </a:pPr>
            <a:r>
              <a:rPr lang="ko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텍스트 생성도 결국 토큰 분류니 accuracy를 사용할 수 있지 않을까요?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2" name="Google Shape;25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3550" y="2073823"/>
            <a:ext cx="4756849" cy="2578700"/>
          </a:xfrm>
          <a:prstGeom prst="rect">
            <a:avLst/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34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34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ko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모델 평가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34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ko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모델 평가와 배포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34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34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모델 평가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34"/>
          <p:cNvSpPr txBox="1"/>
          <p:nvPr/>
        </p:nvSpPr>
        <p:spPr>
          <a:xfrm>
            <a:off x="731519" y="1726139"/>
            <a:ext cx="7680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●"/>
            </a:pPr>
            <a:r>
              <a:rPr lang="ko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그러면 어떻게 평가해야 할까요…?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35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35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ko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모델 평가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35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ko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모델 평가와 배포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35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35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생성형 </a:t>
            </a:r>
            <a:r>
              <a:rPr b="1" lang="ko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모델 평가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35"/>
          <p:cNvSpPr txBox="1"/>
          <p:nvPr/>
        </p:nvSpPr>
        <p:spPr>
          <a:xfrm>
            <a:off x="731519" y="1726139"/>
            <a:ext cx="7680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ko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생성형 AI 모델에서도 사용 가능한 평가지표가 존재한다!</a:t>
            </a:r>
            <a:endParaRPr b="1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35"/>
          <p:cNvSpPr txBox="1"/>
          <p:nvPr/>
        </p:nvSpPr>
        <p:spPr>
          <a:xfrm>
            <a:off x="731519" y="2156339"/>
            <a:ext cx="76809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●"/>
            </a:pPr>
            <a:r>
              <a:rPr lang="ko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텍스트 매칭 기반 - BLEU와 ROUGE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○"/>
            </a:pPr>
            <a:r>
              <a:rPr lang="ko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모델 답변 결과가 라벨 데이터와 얼마나 텍스트가 겹치는지를 계산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●"/>
            </a:pPr>
            <a:r>
              <a:rPr lang="ko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의미적 유사도 기반 - LLM Embedding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○"/>
            </a:pPr>
            <a:r>
              <a:rPr lang="ko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LLM 모델을 이용해 텍스트 임베딩이 서로 유사한 지를 측정. 텍스트가 겹치지 않는 답변도 정답 인정 가능.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●"/>
            </a:pPr>
            <a:r>
              <a:rPr lang="ko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형식 검사 계열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○"/>
            </a:pPr>
            <a:r>
              <a:rPr lang="ko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json과 같은 형식이 정해진 데이터를 출력할 때는 코드로 바로 확인 가능.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36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36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ko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모델 평가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36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ko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모델 평가와 배포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36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36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생성형 </a:t>
            </a:r>
            <a:r>
              <a:rPr b="1" lang="ko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모델 평가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36"/>
          <p:cNvSpPr txBox="1"/>
          <p:nvPr/>
        </p:nvSpPr>
        <p:spPr>
          <a:xfrm>
            <a:off x="731519" y="1726139"/>
            <a:ext cx="7680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ko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텍스트 매칭 기반 - BLEU와 ROUGE</a:t>
            </a:r>
            <a:endParaRPr b="1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36"/>
          <p:cNvSpPr txBox="1"/>
          <p:nvPr/>
        </p:nvSpPr>
        <p:spPr>
          <a:xfrm>
            <a:off x="731650" y="2170600"/>
            <a:ext cx="7680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</a:rPr>
              <a:t>정답: “</a:t>
            </a:r>
            <a:r>
              <a:rPr lang="ko" sz="1200">
                <a:solidFill>
                  <a:schemeClr val="accent1"/>
                </a:solidFill>
              </a:rPr>
              <a:t>오늘 서울에 비가</a:t>
            </a:r>
            <a:r>
              <a:rPr lang="ko" sz="1200">
                <a:solidFill>
                  <a:schemeClr val="dk1"/>
                </a:solidFill>
              </a:rPr>
              <a:t> </a:t>
            </a:r>
            <a:r>
              <a:rPr lang="ko" sz="1200">
                <a:solidFill>
                  <a:srgbClr val="E8402A"/>
                </a:solidFill>
              </a:rPr>
              <a:t>많이</a:t>
            </a:r>
            <a:r>
              <a:rPr lang="ko" sz="1200">
                <a:solidFill>
                  <a:schemeClr val="dk1"/>
                </a:solidFill>
              </a:rPr>
              <a:t> </a:t>
            </a:r>
            <a:r>
              <a:rPr lang="ko" sz="1200">
                <a:solidFill>
                  <a:schemeClr val="accent1"/>
                </a:solidFill>
              </a:rPr>
              <a:t>내렸다.</a:t>
            </a:r>
            <a:r>
              <a:rPr lang="ko" sz="1200">
                <a:solidFill>
                  <a:schemeClr val="dk1"/>
                </a:solidFill>
              </a:rPr>
              <a:t>”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</a:rPr>
              <a:t>생성 A : “</a:t>
            </a:r>
            <a:r>
              <a:rPr lang="ko" sz="1200">
                <a:solidFill>
                  <a:schemeClr val="accent1"/>
                </a:solidFill>
              </a:rPr>
              <a:t>오늘 서울에</a:t>
            </a:r>
            <a:r>
              <a:rPr lang="ko" sz="1200">
                <a:solidFill>
                  <a:schemeClr val="dk1"/>
                </a:solidFill>
              </a:rPr>
              <a:t> </a:t>
            </a:r>
            <a:r>
              <a:rPr lang="ko" sz="1200">
                <a:solidFill>
                  <a:schemeClr val="accent1"/>
                </a:solidFill>
              </a:rPr>
              <a:t>비가</a:t>
            </a:r>
            <a:r>
              <a:rPr lang="ko" sz="1200">
                <a:solidFill>
                  <a:schemeClr val="dk1"/>
                </a:solidFill>
              </a:rPr>
              <a:t> </a:t>
            </a:r>
            <a:r>
              <a:rPr lang="ko" sz="1200">
                <a:solidFill>
                  <a:schemeClr val="accent1"/>
                </a:solidFill>
              </a:rPr>
              <a:t>내렸다.</a:t>
            </a:r>
            <a:r>
              <a:rPr lang="ko" sz="1200">
                <a:solidFill>
                  <a:schemeClr val="dk1"/>
                </a:solidFill>
              </a:rPr>
              <a:t>”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</a:rPr>
              <a:t>생성 B : “</a:t>
            </a:r>
            <a:r>
              <a:rPr lang="ko" sz="1200">
                <a:solidFill>
                  <a:schemeClr val="accent1"/>
                </a:solidFill>
              </a:rPr>
              <a:t>오늘 서울에 비가</a:t>
            </a:r>
            <a:r>
              <a:rPr lang="ko" sz="1200">
                <a:solidFill>
                  <a:schemeClr val="dk1"/>
                </a:solidFill>
              </a:rPr>
              <a:t> </a:t>
            </a:r>
            <a:r>
              <a:rPr lang="ko" sz="1200">
                <a:solidFill>
                  <a:srgbClr val="E03E2D"/>
                </a:solidFill>
              </a:rPr>
              <a:t>많이</a:t>
            </a:r>
            <a:r>
              <a:rPr lang="ko" sz="1200">
                <a:solidFill>
                  <a:schemeClr val="dk1"/>
                </a:solidFill>
              </a:rPr>
              <a:t> 내렸고 사람들이 우산을 썼다.”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88" name="Google Shape;288;p36"/>
          <p:cNvSpPr txBox="1"/>
          <p:nvPr/>
        </p:nvSpPr>
        <p:spPr>
          <a:xfrm>
            <a:off x="731525" y="3516575"/>
            <a:ext cx="3945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1"/>
                </a:solidFill>
              </a:rPr>
              <a:t>BLEU : “모델이 생성한 문장 중 정답 단어가 얼마나 되는가?”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ko" sz="1000">
                <a:solidFill>
                  <a:schemeClr val="dk1"/>
                </a:solidFill>
              </a:rPr>
              <a:t>생성 A : 거의 만점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ko" sz="1000">
                <a:solidFill>
                  <a:schemeClr val="dk1"/>
                </a:solidFill>
              </a:rPr>
              <a:t>생성 B : 뒤에 불필요한 문장이 추가되어 점수 감소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289" name="Google Shape;289;p36"/>
          <p:cNvSpPr txBox="1"/>
          <p:nvPr/>
        </p:nvSpPr>
        <p:spPr>
          <a:xfrm>
            <a:off x="4724800" y="3516575"/>
            <a:ext cx="36879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1"/>
                </a:solidFill>
              </a:rPr>
              <a:t>ROUGE : “정답 문장에 있는 내용을 얼마나 빠짐 없이 말했는가?”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ko" sz="1000">
                <a:solidFill>
                  <a:schemeClr val="dk1"/>
                </a:solidFill>
              </a:rPr>
              <a:t>생성 A : “많이”가 빠졌기 때문에 감점.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ko" sz="1000">
                <a:solidFill>
                  <a:schemeClr val="dk1"/>
                </a:solidFill>
              </a:rPr>
              <a:t>생성 B : 정답 문장에 있는 내용을 대부분 포함했기 때문에 높은 점수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7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37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37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ko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모델 평가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37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ko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모델 평가와 배포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37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37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생성형 모델 평가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37"/>
          <p:cNvSpPr txBox="1"/>
          <p:nvPr/>
        </p:nvSpPr>
        <p:spPr>
          <a:xfrm>
            <a:off x="731519" y="1726139"/>
            <a:ext cx="7680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ko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텍스트 매칭 기반 - BLEU와 ROUGE</a:t>
            </a:r>
            <a:endParaRPr b="1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37"/>
          <p:cNvSpPr txBox="1"/>
          <p:nvPr/>
        </p:nvSpPr>
        <p:spPr>
          <a:xfrm>
            <a:off x="731650" y="2170600"/>
            <a:ext cx="7680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</a:rPr>
              <a:t>정답: “</a:t>
            </a:r>
            <a:r>
              <a:rPr lang="ko" sz="1200">
                <a:solidFill>
                  <a:schemeClr val="accent1"/>
                </a:solidFill>
              </a:rPr>
              <a:t>오늘 서울에 비가</a:t>
            </a:r>
            <a:r>
              <a:rPr lang="ko" sz="1200">
                <a:solidFill>
                  <a:schemeClr val="dk1"/>
                </a:solidFill>
              </a:rPr>
              <a:t> </a:t>
            </a:r>
            <a:r>
              <a:rPr lang="ko" sz="1200">
                <a:solidFill>
                  <a:srgbClr val="E8402A"/>
                </a:solidFill>
              </a:rPr>
              <a:t>많이</a:t>
            </a:r>
            <a:r>
              <a:rPr lang="ko" sz="1200">
                <a:solidFill>
                  <a:schemeClr val="dk1"/>
                </a:solidFill>
              </a:rPr>
              <a:t> </a:t>
            </a:r>
            <a:r>
              <a:rPr lang="ko" sz="1200">
                <a:solidFill>
                  <a:schemeClr val="accent1"/>
                </a:solidFill>
              </a:rPr>
              <a:t>내렸다.</a:t>
            </a:r>
            <a:r>
              <a:rPr lang="ko" sz="1200">
                <a:solidFill>
                  <a:schemeClr val="dk1"/>
                </a:solidFill>
              </a:rPr>
              <a:t>”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</a:rPr>
              <a:t>생성 A : “</a:t>
            </a:r>
            <a:r>
              <a:rPr lang="ko" sz="1200">
                <a:solidFill>
                  <a:schemeClr val="accent1"/>
                </a:solidFill>
              </a:rPr>
              <a:t>오늘 서울에</a:t>
            </a:r>
            <a:r>
              <a:rPr lang="ko" sz="1200">
                <a:solidFill>
                  <a:schemeClr val="dk1"/>
                </a:solidFill>
              </a:rPr>
              <a:t> </a:t>
            </a:r>
            <a:r>
              <a:rPr lang="ko" sz="1200">
                <a:solidFill>
                  <a:schemeClr val="accent1"/>
                </a:solidFill>
              </a:rPr>
              <a:t>비가</a:t>
            </a:r>
            <a:r>
              <a:rPr lang="ko" sz="1200">
                <a:solidFill>
                  <a:schemeClr val="dk1"/>
                </a:solidFill>
              </a:rPr>
              <a:t> </a:t>
            </a:r>
            <a:r>
              <a:rPr lang="ko" sz="1200">
                <a:solidFill>
                  <a:schemeClr val="accent1"/>
                </a:solidFill>
              </a:rPr>
              <a:t>내렸다.</a:t>
            </a:r>
            <a:r>
              <a:rPr lang="ko" sz="1200">
                <a:solidFill>
                  <a:schemeClr val="dk1"/>
                </a:solidFill>
              </a:rPr>
              <a:t>”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</a:rPr>
              <a:t>생성 B : “</a:t>
            </a:r>
            <a:r>
              <a:rPr lang="ko" sz="1200">
                <a:solidFill>
                  <a:schemeClr val="accent1"/>
                </a:solidFill>
              </a:rPr>
              <a:t>오늘 서울에 비가</a:t>
            </a:r>
            <a:r>
              <a:rPr lang="ko" sz="1200">
                <a:solidFill>
                  <a:schemeClr val="dk1"/>
                </a:solidFill>
              </a:rPr>
              <a:t> </a:t>
            </a:r>
            <a:r>
              <a:rPr lang="ko" sz="1200">
                <a:solidFill>
                  <a:srgbClr val="E03E2D"/>
                </a:solidFill>
              </a:rPr>
              <a:t>많이</a:t>
            </a:r>
            <a:r>
              <a:rPr lang="ko" sz="1200">
                <a:solidFill>
                  <a:schemeClr val="dk1"/>
                </a:solidFill>
              </a:rPr>
              <a:t> 내렸고 사람들이 우산을 썼다.”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302" name="Google Shape;302;p37"/>
          <p:cNvSpPr txBox="1"/>
          <p:nvPr/>
        </p:nvSpPr>
        <p:spPr>
          <a:xfrm>
            <a:off x="731525" y="3516575"/>
            <a:ext cx="3945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1"/>
                </a:solidFill>
              </a:rPr>
              <a:t>BLEU : “모델이 생성한 문장 중 정답 단어가 얼마나 되는가?”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ko" sz="1000">
                <a:solidFill>
                  <a:schemeClr val="dk1"/>
                </a:solidFill>
              </a:rPr>
              <a:t>생성 A : 거의 만점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ko" sz="1000">
                <a:solidFill>
                  <a:schemeClr val="dk1"/>
                </a:solidFill>
              </a:rPr>
              <a:t>생성 B : 뒤에 불필요한 문장이 추가되어 점수 감소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303" name="Google Shape;303;p37"/>
          <p:cNvSpPr txBox="1"/>
          <p:nvPr/>
        </p:nvSpPr>
        <p:spPr>
          <a:xfrm>
            <a:off x="4724800" y="3516575"/>
            <a:ext cx="36879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1"/>
                </a:solidFill>
              </a:rPr>
              <a:t>ROUGE : “정답 문장에 있는 내용을 얼마나 빠짐 없이 말했는가?”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ko" sz="1000">
                <a:solidFill>
                  <a:schemeClr val="dk1"/>
                </a:solidFill>
              </a:rPr>
              <a:t>생성 A : “많이”가 빠졌기 때문에 감점.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ko" sz="1000">
                <a:solidFill>
                  <a:schemeClr val="dk1"/>
                </a:solidFill>
              </a:rPr>
              <a:t>생성 B : 정답 문장에 있는 내용을 대부분 포함했기 때문에 높은 점수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8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38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38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ko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모델 평가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38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ko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모델 평가와 배포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38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38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생성형 모델 평가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38"/>
          <p:cNvSpPr txBox="1"/>
          <p:nvPr/>
        </p:nvSpPr>
        <p:spPr>
          <a:xfrm>
            <a:off x="731519" y="1726139"/>
            <a:ext cx="7680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ko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의미</a:t>
            </a:r>
            <a:r>
              <a:rPr b="1" lang="ko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매칭 기반 - LLM Embedding</a:t>
            </a:r>
            <a:endParaRPr b="1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38"/>
          <p:cNvSpPr txBox="1"/>
          <p:nvPr/>
        </p:nvSpPr>
        <p:spPr>
          <a:xfrm>
            <a:off x="731519" y="2148939"/>
            <a:ext cx="7680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문장 임베딩 벡터를 학습한 모델을 불러와서 생성 결과와 예측 결과를 임베딩하고 두 벡터의 유사도를 살펴본다.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6" name="Google Shape;316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4250" y="2571750"/>
            <a:ext cx="6575501" cy="230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9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39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39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ko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모델 평가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39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ko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모델 평가와 배포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39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39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생성형 모델 평가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39"/>
          <p:cNvSpPr txBox="1"/>
          <p:nvPr/>
        </p:nvSpPr>
        <p:spPr>
          <a:xfrm>
            <a:off x="731519" y="1726139"/>
            <a:ext cx="7680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ko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LLM as judge</a:t>
            </a:r>
            <a:endParaRPr b="1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39"/>
          <p:cNvSpPr txBox="1"/>
          <p:nvPr/>
        </p:nvSpPr>
        <p:spPr>
          <a:xfrm>
            <a:off x="731519" y="2148939"/>
            <a:ext cx="7680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●"/>
            </a:pPr>
            <a:r>
              <a:rPr lang="ko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인간이 직접 답변을 일일이 확인하는 대신에 llm을 이용해 답변 퀄리티를 평가한다.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●"/>
            </a:pPr>
            <a:r>
              <a:rPr lang="ko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인간 대신 수행시키는 만큼 더 엄격한 기준을 세워야 한다.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39"/>
          <p:cNvSpPr txBox="1"/>
          <p:nvPr/>
        </p:nvSpPr>
        <p:spPr>
          <a:xfrm>
            <a:off x="3310200" y="3344125"/>
            <a:ext cx="2800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어떤 기준을 세워야 할까?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330" name="Google Shape;330;p39"/>
          <p:cNvCxnSpPr>
            <a:endCxn id="329" idx="1"/>
          </p:cNvCxnSpPr>
          <p:nvPr/>
        </p:nvCxnSpPr>
        <p:spPr>
          <a:xfrm>
            <a:off x="2461500" y="3574975"/>
            <a:ext cx="84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40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40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ko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모델 평가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40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ko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모델 평가와 배포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40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40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모델 평가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40"/>
          <p:cNvSpPr txBox="1"/>
          <p:nvPr/>
        </p:nvSpPr>
        <p:spPr>
          <a:xfrm>
            <a:off x="731519" y="1726139"/>
            <a:ext cx="7680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ko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평가 </a:t>
            </a:r>
            <a:r>
              <a:rPr b="1" lang="ko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기준은</a:t>
            </a:r>
            <a:r>
              <a:rPr b="1" lang="ko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모델의 목적에 따라 다릅니다!</a:t>
            </a:r>
            <a:endParaRPr b="1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40"/>
          <p:cNvSpPr txBox="1"/>
          <p:nvPr/>
        </p:nvSpPr>
        <p:spPr>
          <a:xfrm>
            <a:off x="731519" y="2213739"/>
            <a:ext cx="7680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●"/>
            </a:pPr>
            <a:r>
              <a:rPr lang="ko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고객상담 챗봇 : 주어진 가이드라인의 내용을 기반으로 팩트체크가 중요. 친절한 말투를 유지하는 것이 중요함.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●"/>
            </a:pPr>
            <a:r>
              <a:rPr lang="ko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법률분석 챗봇 : 지정된 형식대로 답변해야 함. 관련 도메인 지식이 중요함.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●"/>
            </a:pPr>
            <a:r>
              <a:rPr lang="ko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코드 어시스턴트 : 코드가 실제로 잘 실행되는가가 핵심.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●"/>
            </a:pPr>
            <a:r>
              <a:rPr lang="ko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금융 상담 봇 : 투자 권유성 발언 금지.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40"/>
          <p:cNvSpPr txBox="1"/>
          <p:nvPr/>
        </p:nvSpPr>
        <p:spPr>
          <a:xfrm>
            <a:off x="1165049" y="4044950"/>
            <a:ext cx="6813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ko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ko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모델을 학습하기 전에 먼저 </a:t>
            </a:r>
            <a:r>
              <a:rPr b="1" lang="ko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모델의 목표를 정의</a:t>
            </a:r>
            <a:r>
              <a:rPr lang="ko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하고, </a:t>
            </a:r>
            <a:r>
              <a:rPr b="1" lang="ko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테스트셋을 먼저 구축</a:t>
            </a:r>
            <a:r>
              <a:rPr lang="ko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해야 함.”</a:t>
            </a:r>
            <a:endParaRPr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41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41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ko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모델 평가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41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ko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모델 평가와 배포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41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41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모델 평가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41"/>
          <p:cNvSpPr txBox="1"/>
          <p:nvPr/>
        </p:nvSpPr>
        <p:spPr>
          <a:xfrm>
            <a:off x="731519" y="1726139"/>
            <a:ext cx="7680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ko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테스트 데이터 구축</a:t>
            </a:r>
            <a:endParaRPr b="1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41"/>
          <p:cNvSpPr txBox="1"/>
          <p:nvPr/>
        </p:nvSpPr>
        <p:spPr>
          <a:xfrm>
            <a:off x="731519" y="2213739"/>
            <a:ext cx="7680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●"/>
            </a:pPr>
            <a:r>
              <a:rPr lang="ko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테스트 데이터 = “모델이 이 질문들에 이렇게 답변하게 만들겠다”는 목표 그 자체.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●"/>
            </a:pPr>
            <a:r>
              <a:rPr lang="ko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테스트 데이터에 모델이 달성해야 하는 목표들이 전부 반영되어 있어야 모델을 내가 원하는 대로 학습할 수 있음.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●"/>
            </a:pPr>
            <a:r>
              <a:rPr lang="ko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테스트 데이터가 잘못 구축되면 아무리 좋은 모델을 써도 원하는 결과를 달성할 수 없다. (모델은 결국 데이터의 패턴을 학습하는 것)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42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42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ko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모델 평가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42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ko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모델 평가와 배포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42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42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모델 평가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42"/>
          <p:cNvSpPr txBox="1"/>
          <p:nvPr/>
        </p:nvSpPr>
        <p:spPr>
          <a:xfrm>
            <a:off x="731519" y="1726139"/>
            <a:ext cx="7680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ko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키키테크 QA 챗봇 구축</a:t>
            </a:r>
            <a:endParaRPr b="1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42"/>
          <p:cNvSpPr txBox="1"/>
          <p:nvPr/>
        </p:nvSpPr>
        <p:spPr>
          <a:xfrm>
            <a:off x="731519" y="2213739"/>
            <a:ext cx="7680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●"/>
            </a:pPr>
            <a:r>
              <a:rPr lang="ko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테스트 데이터 = “모델이 이 질문들에 이렇게 답변하게 만들겠다”는 목표 그 자체.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●"/>
            </a:pPr>
            <a:r>
              <a:rPr lang="ko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테스트 데이터에 모델이 달성해야 하는 목표들이 전부 반영되어 있어야 모델을 내가 원하는 대로 학습할 수 있음.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●"/>
            </a:pPr>
            <a:r>
              <a:rPr lang="ko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테스트 데이터가 잘못 구축되면 아무리 좋은 모델을 써도 원하는 결과를 달성할 수 없다. (모델은 결국 데이터의 패턴을 학습하는 것)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43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43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ko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모델 평가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43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ko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모델 평가와 배포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43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43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모델 평가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43"/>
          <p:cNvSpPr txBox="1"/>
          <p:nvPr/>
        </p:nvSpPr>
        <p:spPr>
          <a:xfrm>
            <a:off x="731519" y="1726139"/>
            <a:ext cx="7680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ko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키키테크 QA 챗봇 구축</a:t>
            </a:r>
            <a:endParaRPr b="1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43"/>
          <p:cNvSpPr txBox="1"/>
          <p:nvPr/>
        </p:nvSpPr>
        <p:spPr>
          <a:xfrm>
            <a:off x="731519" y="2213739"/>
            <a:ext cx="76809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●"/>
            </a:pPr>
            <a:r>
              <a:rPr lang="ko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Step 1. 챗봇 목적과 범위 확정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○"/>
            </a:pPr>
            <a:r>
              <a:rPr lang="ko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어떤 질문에 답할 것인가? / 어떤 질문은 거절할 것인가?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●"/>
            </a:pPr>
            <a:r>
              <a:rPr lang="ko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Step 2. 팩트 추출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○"/>
            </a:pPr>
            <a:r>
              <a:rPr lang="ko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문서와 기준을 LLM에게 주고 팩트 테이블 생성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●"/>
            </a:pPr>
            <a:r>
              <a:rPr lang="ko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Step 3. 테스트셋 확정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○"/>
            </a:pPr>
            <a:r>
              <a:rPr lang="ko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팩트마다 쉬운 질문 하나, 어려운 질문 하나 추출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●"/>
            </a:pPr>
            <a:r>
              <a:rPr lang="ko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Step 4. 훈련 데이터 제작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○"/>
            </a:pPr>
            <a:r>
              <a:rPr lang="ko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테스트셋과 겹치지 않는 표현으로 데이터 제작. 거절 케이스도 충분히 마련하기.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●"/>
            </a:pPr>
            <a:r>
              <a:rPr lang="ko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Step 5. 결과 확인 후 데이터 다듬기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4"/>
          <p:cNvSpPr/>
          <p:nvPr/>
        </p:nvSpPr>
        <p:spPr>
          <a:xfrm>
            <a:off x="0" y="0"/>
            <a:ext cx="7667100" cy="5143500"/>
          </a:xfrm>
          <a:prstGeom prst="roundRect">
            <a:avLst>
              <a:gd fmla="val 1871" name="adj"/>
            </a:avLst>
          </a:prstGeom>
          <a:solidFill>
            <a:srgbClr val="E8402A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44"/>
          <p:cNvSpPr/>
          <p:nvPr/>
        </p:nvSpPr>
        <p:spPr>
          <a:xfrm>
            <a:off x="0" y="0"/>
            <a:ext cx="6376200" cy="51435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44"/>
          <p:cNvSpPr txBox="1"/>
          <p:nvPr/>
        </p:nvSpPr>
        <p:spPr>
          <a:xfrm>
            <a:off x="621875" y="2117550"/>
            <a:ext cx="5455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200"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b="1" lang="ko" sz="3200">
                <a:latin typeface="Calibri"/>
                <a:ea typeface="Calibri"/>
                <a:cs typeface="Calibri"/>
                <a:sym typeface="Calibri"/>
              </a:rPr>
              <a:t>. 모델 </a:t>
            </a:r>
            <a:r>
              <a:rPr b="1" lang="ko" sz="3200">
                <a:latin typeface="Calibri"/>
                <a:ea typeface="Calibri"/>
                <a:cs typeface="Calibri"/>
                <a:sym typeface="Calibri"/>
              </a:rPr>
              <a:t>배포</a:t>
            </a:r>
            <a:endParaRPr b="1" sz="3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45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45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ko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모델 평가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45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ko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모델 평가와 배포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45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45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모델 배포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45"/>
          <p:cNvSpPr txBox="1"/>
          <p:nvPr/>
        </p:nvSpPr>
        <p:spPr>
          <a:xfrm>
            <a:off x="731544" y="1789039"/>
            <a:ext cx="7680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●"/>
            </a:pPr>
            <a:r>
              <a:rPr lang="ko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내가 만든 모델은 어떻게 다른 사람과 공유할 수 있을까?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●"/>
            </a:pPr>
            <a:r>
              <a:rPr lang="ko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huggingface에 모델을 업로드하고 다른 사람과 공유해보자.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45"/>
          <p:cNvSpPr txBox="1"/>
          <p:nvPr/>
        </p:nvSpPr>
        <p:spPr>
          <a:xfrm>
            <a:off x="731525" y="2707550"/>
            <a:ext cx="488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600">
                <a:latin typeface="Calibri"/>
                <a:ea typeface="Calibri"/>
                <a:cs typeface="Calibri"/>
                <a:sym typeface="Calibri"/>
              </a:rPr>
              <a:t>업로드 하는 방법</a:t>
            </a:r>
            <a:endParaRPr b="1"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45"/>
          <p:cNvSpPr txBox="1"/>
          <p:nvPr/>
        </p:nvSpPr>
        <p:spPr>
          <a:xfrm>
            <a:off x="731544" y="3265889"/>
            <a:ext cx="76809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●"/>
            </a:pPr>
            <a:r>
              <a:rPr lang="ko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LoRA를 적용했기 때문에 모델 전체를 업로드 할 필요 없이 LoRA 가중치만 업로드하면 됨.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●"/>
            </a:pPr>
            <a:r>
              <a:rPr lang="ko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모델이 메모리에 있을 땐 `push_to_hub()`로, 폴더에서 업로드할 땐 `HfApi.upload_folder()`로 업로드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●"/>
            </a:pPr>
            <a:r>
              <a:rPr lang="ko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모델을 불러올 땐 베이스 모델을 불러온 뒤, 업로드 된 가중치를 불러와 적용하면 된다.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