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92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84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6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9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82.xml"/>
  <Override ContentType="application/vnd.openxmlformats-officedocument.presentationml.notesSlide+xml" PartName="/ppt/notesSlides/notesSlide8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77.xml"/>
  <Override ContentType="application/vnd.openxmlformats-officedocument.presentationml.notesSlide+xml" PartName="/ppt/notesSlides/notesSlide90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8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73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8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80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74.xml"/>
  <Override ContentType="application/vnd.openxmlformats-officedocument.presentationml.notesSlide+xml" PartName="/ppt/notesSlides/notesSlide87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8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75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89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78.xml"/>
  <Override ContentType="application/vnd.openxmlformats-officedocument.presentationml.notesSlide+xml" PartName="/ppt/notesSlides/notesSlide79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83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78.xml"/>
  <Override ContentType="application/vnd.openxmlformats-officedocument.presentationml.slide+xml" PartName="/ppt/slides/slide86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69.xml"/>
  <Override ContentType="application/vnd.openxmlformats-officedocument.presentationml.slide+xml" PartName="/ppt/slides/slide8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77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6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84.xml"/>
  <Override ContentType="application/vnd.openxmlformats-officedocument.presentationml.slide+xml" PartName="/ppt/slides/slide37.xml"/>
  <Override ContentType="application/vnd.openxmlformats-officedocument.presentationml.slide+xml" PartName="/ppt/slides/slide71.xml"/>
  <Override ContentType="application/vnd.openxmlformats-officedocument.presentationml.slide+xml" PartName="/ppt/slides/slide41.xml"/>
  <Override ContentType="application/vnd.openxmlformats-officedocument.presentationml.slide+xml" PartName="/ppt/slides/slide67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66.xml"/>
  <Override ContentType="application/vnd.openxmlformats-officedocument.presentationml.slide+xml" PartName="/ppt/slides/slide79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83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7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82.xml"/>
  <Override ContentType="application/vnd.openxmlformats-officedocument.presentationml.slide+xml" PartName="/ppt/slides/slide39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72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64.xml"/>
  <Override ContentType="application/vnd.openxmlformats-officedocument.presentationml.slide+xml" PartName="/ppt/slides/slide81.xml"/>
  <Override ContentType="application/vnd.openxmlformats-officedocument.presentationml.slide+xml" PartName="/ppt/slides/slide90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8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75.xml"/>
  <Override ContentType="application/vnd.openxmlformats-officedocument.presentationml.slide+xml" PartName="/ppt/slides/slide76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63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80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91.xml"/>
  <Override ContentType="application/vnd.openxmlformats-officedocument.presentationml.slide+xml" PartName="/ppt/slides/slide31.xml"/>
  <Override ContentType="application/vnd.openxmlformats-officedocument.presentationml.slide+xml" PartName="/ppt/slides/slide87.xml"/>
  <Override ContentType="application/vnd.openxmlformats-officedocument.presentationml.slide+xml" PartName="/ppt/slides/slide74.xml"/>
  <Override ContentType="application/vnd.openxmlformats-officedocument.presentationml.slide+xml" PartName="/ppt/slides/slide88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slide+xml" PartName="/ppt/slides/slide92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  <p:sldMasterId id="214748365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</p:sldIdLst>
  <p:sldSz cy="5143500" cx="9144000"/>
  <p:notesSz cx="6858000" cy="9144000"/>
  <p:embeddedFontLst>
    <p:embeddedFont>
      <p:font typeface="Helvetica Neue"/>
      <p:regular r:id="rId99"/>
      <p:bold r:id="rId100"/>
      <p:italic r:id="rId101"/>
      <p:boldItalic r:id="rId10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03" roundtripDataSignature="AMtx7mg7+p+OgZTejk9ek1jILMXR9wEM6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BD8FE40-2236-47C2-B004-6F83EA70BFFC}">
  <a:tblStyle styleId="{7BD8FE40-2236-47C2-B004-6F83EA70BFFC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103" Type="http://customschemas.google.com/relationships/presentationmetadata" Target="metadata"/><Relationship Id="rId102" Type="http://schemas.openxmlformats.org/officeDocument/2006/relationships/font" Target="fonts/HelveticaNeue-boldItalic.fntdata"/><Relationship Id="rId101" Type="http://schemas.openxmlformats.org/officeDocument/2006/relationships/font" Target="fonts/HelveticaNeue-italic.fntdata"/><Relationship Id="rId100" Type="http://schemas.openxmlformats.org/officeDocument/2006/relationships/font" Target="fonts/HelveticaNeue-bold.fntdata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95" Type="http://schemas.openxmlformats.org/officeDocument/2006/relationships/slide" Target="slides/slide89.xml"/><Relationship Id="rId94" Type="http://schemas.openxmlformats.org/officeDocument/2006/relationships/slide" Target="slides/slide88.xml"/><Relationship Id="rId97" Type="http://schemas.openxmlformats.org/officeDocument/2006/relationships/slide" Target="slides/slide91.xml"/><Relationship Id="rId96" Type="http://schemas.openxmlformats.org/officeDocument/2006/relationships/slide" Target="slides/slide90.xml"/><Relationship Id="rId11" Type="http://schemas.openxmlformats.org/officeDocument/2006/relationships/slide" Target="slides/slide5.xml"/><Relationship Id="rId99" Type="http://schemas.openxmlformats.org/officeDocument/2006/relationships/font" Target="fonts/HelveticaNeue-regular.fntdata"/><Relationship Id="rId10" Type="http://schemas.openxmlformats.org/officeDocument/2006/relationships/slide" Target="slides/slide4.xml"/><Relationship Id="rId98" Type="http://schemas.openxmlformats.org/officeDocument/2006/relationships/slide" Target="slides/slide92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91" Type="http://schemas.openxmlformats.org/officeDocument/2006/relationships/slide" Target="slides/slide85.xml"/><Relationship Id="rId90" Type="http://schemas.openxmlformats.org/officeDocument/2006/relationships/slide" Target="slides/slide84.xml"/><Relationship Id="rId93" Type="http://schemas.openxmlformats.org/officeDocument/2006/relationships/slide" Target="slides/slide87.xml"/><Relationship Id="rId92" Type="http://schemas.openxmlformats.org/officeDocument/2006/relationships/slide" Target="slides/slide8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Relationship Id="rId84" Type="http://schemas.openxmlformats.org/officeDocument/2006/relationships/slide" Target="slides/slide78.xml"/><Relationship Id="rId83" Type="http://schemas.openxmlformats.org/officeDocument/2006/relationships/slide" Target="slides/slide77.xml"/><Relationship Id="rId86" Type="http://schemas.openxmlformats.org/officeDocument/2006/relationships/slide" Target="slides/slide80.xml"/><Relationship Id="rId85" Type="http://schemas.openxmlformats.org/officeDocument/2006/relationships/slide" Target="slides/slide79.xml"/><Relationship Id="rId88" Type="http://schemas.openxmlformats.org/officeDocument/2006/relationships/slide" Target="slides/slide82.xml"/><Relationship Id="rId87" Type="http://schemas.openxmlformats.org/officeDocument/2006/relationships/slide" Target="slides/slide81.xml"/><Relationship Id="rId89" Type="http://schemas.openxmlformats.org/officeDocument/2006/relationships/slide" Target="slides/slide83.xml"/><Relationship Id="rId80" Type="http://schemas.openxmlformats.org/officeDocument/2006/relationships/slide" Target="slides/slide74.xml"/><Relationship Id="rId82" Type="http://schemas.openxmlformats.org/officeDocument/2006/relationships/slide" Target="slides/slide76.xml"/><Relationship Id="rId81" Type="http://schemas.openxmlformats.org/officeDocument/2006/relationships/slide" Target="slides/slide75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73" Type="http://schemas.openxmlformats.org/officeDocument/2006/relationships/slide" Target="slides/slide67.xml"/><Relationship Id="rId72" Type="http://schemas.openxmlformats.org/officeDocument/2006/relationships/slide" Target="slides/slide66.xml"/><Relationship Id="rId75" Type="http://schemas.openxmlformats.org/officeDocument/2006/relationships/slide" Target="slides/slide69.xml"/><Relationship Id="rId74" Type="http://schemas.openxmlformats.org/officeDocument/2006/relationships/slide" Target="slides/slide68.xml"/><Relationship Id="rId77" Type="http://schemas.openxmlformats.org/officeDocument/2006/relationships/slide" Target="slides/slide71.xml"/><Relationship Id="rId76" Type="http://schemas.openxmlformats.org/officeDocument/2006/relationships/slide" Target="slides/slide70.xml"/><Relationship Id="rId79" Type="http://schemas.openxmlformats.org/officeDocument/2006/relationships/slide" Target="slides/slide73.xml"/><Relationship Id="rId78" Type="http://schemas.openxmlformats.org/officeDocument/2006/relationships/slide" Target="slides/slide72.xml"/><Relationship Id="rId71" Type="http://schemas.openxmlformats.org/officeDocument/2006/relationships/slide" Target="slides/slide65.xml"/><Relationship Id="rId70" Type="http://schemas.openxmlformats.org/officeDocument/2006/relationships/slide" Target="slides/slide64.xml"/><Relationship Id="rId62" Type="http://schemas.openxmlformats.org/officeDocument/2006/relationships/slide" Target="slides/slide56.xml"/><Relationship Id="rId61" Type="http://schemas.openxmlformats.org/officeDocument/2006/relationships/slide" Target="slides/slide55.xml"/><Relationship Id="rId64" Type="http://schemas.openxmlformats.org/officeDocument/2006/relationships/slide" Target="slides/slide58.xml"/><Relationship Id="rId63" Type="http://schemas.openxmlformats.org/officeDocument/2006/relationships/slide" Target="slides/slide57.xml"/><Relationship Id="rId66" Type="http://schemas.openxmlformats.org/officeDocument/2006/relationships/slide" Target="slides/slide60.xml"/><Relationship Id="rId65" Type="http://schemas.openxmlformats.org/officeDocument/2006/relationships/slide" Target="slides/slide59.xml"/><Relationship Id="rId68" Type="http://schemas.openxmlformats.org/officeDocument/2006/relationships/slide" Target="slides/slide62.xml"/><Relationship Id="rId67" Type="http://schemas.openxmlformats.org/officeDocument/2006/relationships/slide" Target="slides/slide61.xml"/><Relationship Id="rId60" Type="http://schemas.openxmlformats.org/officeDocument/2006/relationships/slide" Target="slides/slide54.xml"/><Relationship Id="rId69" Type="http://schemas.openxmlformats.org/officeDocument/2006/relationships/slide" Target="slides/slide6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55" Type="http://schemas.openxmlformats.org/officeDocument/2006/relationships/slide" Target="slides/slide49.xml"/><Relationship Id="rId54" Type="http://schemas.openxmlformats.org/officeDocument/2006/relationships/slide" Target="slides/slide48.xml"/><Relationship Id="rId57" Type="http://schemas.openxmlformats.org/officeDocument/2006/relationships/slide" Target="slides/slide51.xml"/><Relationship Id="rId56" Type="http://schemas.openxmlformats.org/officeDocument/2006/relationships/slide" Target="slides/slide50.xml"/><Relationship Id="rId59" Type="http://schemas.openxmlformats.org/officeDocument/2006/relationships/slide" Target="slides/slide53.xml"/><Relationship Id="rId58" Type="http://schemas.openxmlformats.org/officeDocument/2006/relationships/slide" Target="slides/slide5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6" name="Google Shape;66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f22fe52246_0_24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3" name="Google Shape;73;g3f22fe52246_0_24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0" name="Google Shape;80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f2a70976d9_0_5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0" name="Google Shape;90;g3f2a70976d9_0_5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f22fe52246_0_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4" name="Google Shape;104;g3f22fe52246_0_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f22fe52246_0_1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1" name="Google Shape;121;g3f22fe52246_0_1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f22fe52246_0_10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2" name="Google Shape;142;g3f22fe52246_0_10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f2a70976d9_0_7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6" name="Google Shape;166;g3f2a70976d9_0_7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f22fe52246_0_6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7" name="Google Shape;187;g3f22fe52246_0_6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f22fe52246_0_8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1" name="Google Shape;201;g3f22fe52246_0_8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f22fe52246_0_13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5" name="Google Shape;215;g3f22fe52246_0_13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3f22fe52246_0_22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5" name="Google Shape;245;g3f22fe52246_0_22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3f22fe52246_0_16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5" name="Google Shape;265;g3f22fe52246_0_16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3f2a70976d9_0_11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6" name="Google Shape;276;g3f2a70976d9_0_11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3f22fe52246_0_36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7" name="Google Shape;297;g3f22fe52246_0_36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3f22fe52246_0_38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7" name="Google Shape;317;g3f22fe52246_0_38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g3f22fe52246_0_40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33" name="Google Shape;333;g3f22fe52246_0_40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g3f22fe52246_0_43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60" name="Google Shape;360;g3f22fe52246_0_43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g3f22fe52246_0_46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73" name="Google Shape;373;g3f22fe52246_0_46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g3f22fe52246_0_47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86" name="Google Shape;386;g3f22fe52246_0_47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g3f22fe52246_0_48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98" name="Google Shape;398;g3f22fe52246_0_48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g3f275b9f5c3_0_4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15" name="Google Shape;415;g3f275b9f5c3_0_4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g3f275b9f5c3_0_6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28" name="Google Shape;428;g3f275b9f5c3_0_6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g3f22fe52246_0_35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42" name="Google Shape;442;g3f22fe52246_0_35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g3f279b47e8f_0_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54" name="Google Shape;454;g3f279b47e8f_0_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g3f279b47e8f_0_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61" name="Google Shape;461;g3f279b47e8f_0_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g3f279b47e8f_0_1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72" name="Google Shape;472;g3f279b47e8f_0_1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g3f279b47e8f_0_18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06" name="Google Shape;506;g3f279b47e8f_0_18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g3f279b47e8f_0_9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24" name="Google Shape;524;g3f279b47e8f_0_9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g3f279b47e8f_0_5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35" name="Google Shape;535;g3f279b47e8f_0_5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5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g3f299fd751c_0_4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57" name="Google Shape;557;g3f299fd751c_0_4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g3f299fd751c_0_2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69" name="Google Shape;569;g3f299fd751c_0_2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g3f299fd751c_0_7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83" name="Google Shape;583;g3f299fd751c_0_7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g3f2a70976d9_0_15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03" name="Google Shape;603;g3f2a70976d9_0_15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3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Google Shape;614;g3f279b47e8f_0_14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15" name="Google Shape;615;g3f279b47e8f_0_14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3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Google Shape;634;g3f299fd751c_0_9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35" name="Google Shape;635;g3f299fd751c_0_9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3" name="Shape 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" name="Google Shape;644;g3f279b47e8f_0_16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45" name="Google Shape;645;g3f279b47e8f_0_16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g3f2a70976d9_0_17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63" name="Google Shape;663;g3f2a70976d9_0_17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3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Google Shape;674;g3f22fe52246_0_25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75" name="Google Shape;675;g3f22fe52246_0_25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0" name="Shape 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g3f22fe52246_0_26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82" name="Google Shape;682;g3f22fe52246_0_26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3" name="Shape 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" name="Google Shape;694;g3f22fe52246_0_27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Prompt Engineering </a:t>
            </a:r>
            <a:r>
              <a:rPr lang="en-US"/>
              <a:t>실습</a:t>
            </a:r>
            <a:endParaRPr/>
          </a:p>
        </p:txBody>
      </p:sp>
      <p:sp>
        <p:nvSpPr>
          <p:cNvPr id="695" name="Google Shape;695;g3f22fe52246_0_27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8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" name="Google Shape;709;g3f22fe52246_0_28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RAG </a:t>
            </a:r>
            <a:r>
              <a:rPr lang="en-US"/>
              <a:t>실습 - Notebook LM?</a:t>
            </a:r>
            <a:endParaRPr/>
          </a:p>
        </p:txBody>
      </p:sp>
      <p:sp>
        <p:nvSpPr>
          <p:cNvPr id="710" name="Google Shape;710;g3f22fe52246_0_28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0" name="Shape 7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1" name="Google Shape;731;g3f22fe52246_0_29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32" name="Google Shape;732;g3f22fe52246_0_29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2" name="Shape 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743;g3f22fe52246_0_30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44" name="Google Shape;744;g3f22fe52246_0_30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4" name="Shape 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5" name="Google Shape;755;g3f22fe52246_0_34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56" name="Google Shape;756;g3f22fe52246_0_34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5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Google Shape;766;g3f299fd751c_0_10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67" name="Google Shape;767;g3f299fd751c_0_10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6" name="Shape 7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7" name="Google Shape;777;g3f22fe52246_0_50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78" name="Google Shape;778;g3f22fe52246_0_50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6" name="Shape 7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7" name="Google Shape;787;g3f275b9f5c3_0_9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88" name="Google Shape;788;g3f275b9f5c3_0_9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9" name="Shape 7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0" name="Google Shape;800;g3f275b9f5c3_0_10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01" name="Google Shape;801;g3f275b9f5c3_0_10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1" name="Shape 8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2" name="Google Shape;812;g3f275b9f5c3_0_11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13" name="Google Shape;813;g3f275b9f5c3_0_11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3" name="Shape 8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4" name="Google Shape;824;g3efd3672a5f_0_18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25" name="Google Shape;825;g3efd3672a5f_0_18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0" name="Shape 8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1" name="Google Shape;831;g3efd3672a5f_0_19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32" name="Google Shape;832;g3efd3672a5f_0_19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1" name="Shape 8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2" name="Google Shape;842;g3efd3672a5f_0_20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43" name="Google Shape;843;g3efd3672a5f_0_20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2" name="Shape 8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3" name="Google Shape;853;g3efd3672a5f_0_21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54" name="Google Shape;854;g3efd3672a5f_0_21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0" name="Shape 8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1" name="Google Shape;871;g3efd3672a5f_0_23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72" name="Google Shape;872;g3efd3672a5f_0_23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0" name="Shape 8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1" name="Google Shape;881;g3efd3672a5f_0_24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82" name="Google Shape;882;g3efd3672a5f_0_24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3" name="Shape 8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4" name="Google Shape;894;g3efd3672a5f_0_25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95" name="Google Shape;895;g3efd3672a5f_0_25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5" name="Shape 9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6" name="Google Shape;906;g3efd3672a5f_0_26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07" name="Google Shape;907;g3efd3672a5f_0_26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8" name="Shape 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9" name="Google Shape;919;g3efd3672a5f_0_27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20" name="Google Shape;920;g3efd3672a5f_0_27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1" name="Shape 9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2" name="Google Shape;932;g3efd3672a5f_0_28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33" name="Google Shape;933;g3efd3672a5f_0_28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7" name="Shape 9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8" name="Google Shape;948;g3efd3672a5f_0_30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49" name="Google Shape;949;g3efd3672a5f_0_30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9" name="Shape 9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0" name="Google Shape;960;g3efd3672a5f_0_31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61" name="Google Shape;961;g3efd3672a5f_0_31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2" name="Shape 9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3" name="Google Shape;973;g3effa262bf0_0_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74" name="Google Shape;974;g3effa262bf0_0_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9" name="Shape 9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0" name="Google Shape;980;g3effa262bf0_0_1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81" name="Google Shape;981;g3effa262bf0_0_1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9" name="Shape 9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" name="Google Shape;1000;g3effa262bf0_0_3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01" name="Google Shape;1001;g3effa262bf0_0_3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2" name="Shape 10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" name="Google Shape;1013;g3effa262bf0_0_4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14" name="Google Shape;1014;g3effa262bf0_0_4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5" name="Shape 10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Google Shape;1026;g3effa262bf0_0_5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27" name="Google Shape;1027;g3effa262bf0_0_5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7" name="Shape 10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8" name="Google Shape;1038;g3effa262bf0_0_6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39" name="Google Shape;1039;g3effa262bf0_0_6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8" name="Shape 10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" name="Google Shape;1049;g3effa262bf0_0_7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50" name="Google Shape;1050;g3effa262bf0_0_7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5" name="Shape 10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6" name="Google Shape;1056;g3effa262bf0_0_8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57" name="Google Shape;1057;g3effa262bf0_0_8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8" name="Shape 10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9" name="Google Shape;1069;g3effa262bf0_0_9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70" name="Google Shape;1070;g3effa262bf0_0_9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1" name="Shape 10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2" name="Google Shape;1082;g3effa262bf0_0_10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83" name="Google Shape;1083;g3effa262bf0_0_10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2" name="Shape 10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3" name="Google Shape;1093;g3effa262bf0_0_11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94" name="Google Shape;1094;g3effa262bf0_0_11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3" name="Shape 1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4" name="Google Shape;1104;g3effa262bf0_0_12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05" name="Google Shape;1105;g3effa262bf0_0_12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0" name="Shape 1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1" name="Google Shape;1111;g3effa262bf0_0_13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12" name="Google Shape;1112;g3effa262bf0_0_13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1" name="Shape 1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2" name="Google Shape;1122;g3effa262bf0_0_14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23" name="Google Shape;1123;g3effa262bf0_0_14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6" name="Shape 1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7" name="Google Shape;1137;g3effa262bf0_0_15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38" name="Google Shape;1138;g3effa262bf0_0_15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9" name="Shape 1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0" name="Google Shape;1150;g3effa262bf0_0_16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51" name="Google Shape;1151;g3effa262bf0_0_16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1" name="Shape 1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2" name="Google Shape;1162;g3effa262bf0_0_17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63" name="Google Shape;1163;g3effa262bf0_0_17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2" name="Shape 1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3" name="Google Shape;1173;g3effa262bf0_0_18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74" name="Google Shape;1174;g3effa262bf0_0_18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4" name="Shape 1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5" name="Google Shape;1185;g3effa262bf0_0_20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86" name="Google Shape;1186;g3effa262bf0_0_20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8" name="Shape 1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9" name="Google Shape;1199;g3effa262bf0_0_21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00" name="Google Shape;1200;g3effa262bf0_0_21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2" name="Shape 1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3" name="Google Shape;1213;g3effa262bf0_0_22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14" name="Google Shape;1214;g3effa262bf0_0_22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5" name="Shape 1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6" name="Google Shape;1226;g3effa262bf0_0_23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27" name="Google Shape;1227;g3effa262bf0_0_23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9" name="Shape 1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0" name="Google Shape;1240;g3effa262bf0_0_25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41" name="Google Shape;1241;g3effa262bf0_0_25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2" name="Shape 1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3" name="Google Shape;1253;g3effa262bf0_0_26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54" name="Google Shape;1254;g3effa262bf0_0_26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4" name="Shape 1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5" name="Google Shape;1265;g3effa262bf0_0_27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66" name="Google Shape;1266;g3effa262bf0_0_27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6" name="Shape 1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7" name="Google Shape;1277;g3effa262bf0_0_28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78" name="Google Shape;1278;g3effa262bf0_0_28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8" name="Shape 1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9" name="Google Shape;1289;g3effa262bf0_0_29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90" name="Google Shape;1290;g3effa262bf0_0_29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0" name="Shape 1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1" name="Google Shape;1301;g3effa262bf0_0_30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02" name="Google Shape;1302;g3effa262bf0_0_30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7" name="Shape 1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8" name="Google Shape;1308;g3effa262bf0_0_31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09" name="Google Shape;1309;g3effa262bf0_0_31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0" name="Shape 1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1" name="Google Shape;1321;g3effa262bf0_0_32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22" name="Google Shape;1322;g3effa262bf0_0_32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 type="tx">
  <p:cSld name="TITLE_AND_BODY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8"/>
          <p:cNvSpPr txBox="1"/>
          <p:nvPr>
            <p:ph idx="12" type="sldNum"/>
          </p:nvPr>
        </p:nvSpPr>
        <p:spPr>
          <a:xfrm>
            <a:off x="4419600" y="4627562"/>
            <a:ext cx="2133600" cy="2794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 1">
  <p:cSld name="DEFAULT">
    <p:bg>
      <p:bgPr>
        <a:solidFill>
          <a:schemeClr val="lt1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g3efd3672a5f_0_330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8" name="Google Shape;18;g3efd3672a5f_0_330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9" name="Google Shape;19;g3efd3672a5f_0_3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g3efd3672a5f_0_33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2" name="Google Shape;22;g3efd3672a5f_0_3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g3efd3672a5f_0_3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" name="Google Shape;25;g3efd3672a5f_0_33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6" name="Google Shape;26;g3efd3672a5f_0_33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g3efd3672a5f_0_3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g3efd3672a5f_0_341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g3efd3672a5f_0_341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g3efd3672a5f_0_34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g3efd3672a5f_0_3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4" name="Google Shape;34;g3efd3672a5f_0_34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g3efd3672a5f_0_34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7" name="Google Shape;37;g3efd3672a5f_0_34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8" name="Google Shape;38;g3efd3672a5f_0_34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g3efd3672a5f_0_353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1" name="Google Shape;41;g3efd3672a5f_0_35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g3efd3672a5f_0_356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g3efd3672a5f_0_356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5" name="Google Shape;45;g3efd3672a5f_0_356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6" name="Google Shape;46;g3efd3672a5f_0_356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g3efd3672a5f_0_35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g3efd3672a5f_0_36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50" name="Google Shape;50;g3efd3672a5f_0_36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3efd3672a5f_0_365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3" name="Google Shape;53;g3efd3672a5f_0_365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4" name="Google Shape;54;g3efd3672a5f_0_36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efd3672a5f_0_36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TITLE_AND_BODY_1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efd3672a5f_0_371"/>
          <p:cNvSpPr txBox="1"/>
          <p:nvPr>
            <p:ph idx="12" type="sldNum"/>
          </p:nvPr>
        </p:nvSpPr>
        <p:spPr>
          <a:xfrm>
            <a:off x="4419600" y="4627562"/>
            <a:ext cx="21336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 1">
  <p:cSld name="DEFAULT">
    <p:bg>
      <p:bgPr>
        <a:solidFill>
          <a:schemeClr val="lt1"/>
        </a:solid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 2">
  <p:cSld name="TITLE_AND_BODY_2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efd3672a5f_0_374"/>
          <p:cNvSpPr txBox="1"/>
          <p:nvPr>
            <p:ph idx="12" type="sldNum"/>
          </p:nvPr>
        </p:nvSpPr>
        <p:spPr>
          <a:xfrm>
            <a:off x="4419600" y="4627562"/>
            <a:ext cx="21336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 3">
  <p:cSld name="TITLE_AND_BODY_3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effa262bf0_0_389"/>
          <p:cNvSpPr txBox="1"/>
          <p:nvPr>
            <p:ph idx="12" type="sldNum"/>
          </p:nvPr>
        </p:nvSpPr>
        <p:spPr>
          <a:xfrm>
            <a:off x="4419600" y="4627562"/>
            <a:ext cx="21336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3.xml"/><Relationship Id="rId10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5.xml"/><Relationship Id="rId1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3.xml"/><Relationship Id="rId2" Type="http://schemas.openxmlformats.org/officeDocument/2006/relationships/slideLayout" Target="../slideLayouts/slideLayout4.xml"/><Relationship Id="rId3" Type="http://schemas.openxmlformats.org/officeDocument/2006/relationships/slideLayout" Target="../slideLayouts/slideLayout5.xml"/><Relationship Id="rId4" Type="http://schemas.openxmlformats.org/officeDocument/2006/relationships/slideLayout" Target="../slideLayouts/slideLayout6.xml"/><Relationship Id="rId9" Type="http://schemas.openxmlformats.org/officeDocument/2006/relationships/slideLayout" Target="../slideLayouts/slideLayout11.xml"/><Relationship Id="rId15" Type="http://schemas.openxmlformats.org/officeDocument/2006/relationships/slideLayout" Target="../slideLayouts/slideLayout17.xml"/><Relationship Id="rId14" Type="http://schemas.openxmlformats.org/officeDocument/2006/relationships/slideLayout" Target="../slideLayouts/slideLayout16.xml"/><Relationship Id="rId16" Type="http://schemas.openxmlformats.org/officeDocument/2006/relationships/theme" Target="../theme/theme3.xml"/><Relationship Id="rId5" Type="http://schemas.openxmlformats.org/officeDocument/2006/relationships/slideLayout" Target="../slideLayouts/slideLayout7.xml"/><Relationship Id="rId6" Type="http://schemas.openxmlformats.org/officeDocument/2006/relationships/slideLayout" Target="../slideLayouts/slideLayout8.xml"/><Relationship Id="rId7" Type="http://schemas.openxmlformats.org/officeDocument/2006/relationships/slideLayout" Target="../slideLayouts/slideLayout9.xml"/><Relationship Id="rId8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7"/>
          <p:cNvSpPr txBox="1"/>
          <p:nvPr>
            <p:ph type="title"/>
          </p:nvPr>
        </p:nvSpPr>
        <p:spPr>
          <a:xfrm>
            <a:off x="457200" y="69056"/>
            <a:ext cx="8229600" cy="11310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p37"/>
          <p:cNvSpPr txBox="1"/>
          <p:nvPr>
            <p:ph idx="1" type="body"/>
          </p:nvPr>
        </p:nvSpPr>
        <p:spPr>
          <a:xfrm>
            <a:off x="457200" y="1200150"/>
            <a:ext cx="8229600" cy="3943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31800" lvl="1" marL="9144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–"/>
              <a:def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431800" lvl="2" marL="13716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431800" lvl="3" marL="18288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–"/>
              <a:def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431800" lvl="4" marL="22860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»"/>
              <a:def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431800" lvl="5" marL="27432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431800" lvl="6" marL="32004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431800" lvl="7" marL="36576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431800" lvl="8" marL="41148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37"/>
          <p:cNvSpPr txBox="1"/>
          <p:nvPr>
            <p:ph idx="12" type="sldNum"/>
          </p:nvPr>
        </p:nvSpPr>
        <p:spPr>
          <a:xfrm>
            <a:off x="4419600" y="4627562"/>
            <a:ext cx="2133600" cy="2794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g3efd3672a5f_0_3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" name="Google Shape;14;g3efd3672a5f_0_3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5" name="Google Shape;15;g3efd3672a5f_0_3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  <p:sldLayoutId id="2147483663" r:id="rId12"/>
    <p:sldLayoutId id="2147483664" r:id="rId13"/>
    <p:sldLayoutId id="2147483665" r:id="rId14"/>
    <p:sldLayoutId id="2147483666" r:id="rId1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2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1" Type="http://schemas.openxmlformats.org/officeDocument/2006/relationships/hyperlink" Target="https://ko.wikipedia.org/wiki/%EB%AC%B4%EC%A3%BC_(%EB%8B%B9%EB%82%98%EB%9D%BC)" TargetMode="External"/><Relationship Id="rId10" Type="http://schemas.openxmlformats.org/officeDocument/2006/relationships/hyperlink" Target="https://ko.wikipedia.org/wiki/%EB%8B%B9_%EA%B3%A0%EC%A2%85" TargetMode="External"/><Relationship Id="rId13" Type="http://schemas.openxmlformats.org/officeDocument/2006/relationships/hyperlink" Target="https://ko.wikipedia.org/wiki/%ED%95%9C%EC%96%B4_%EB%B3%91%EC%9D%8C" TargetMode="External"/><Relationship Id="rId12" Type="http://schemas.openxmlformats.org/officeDocument/2006/relationships/hyperlink" Target="https://ko.wikipedia.org/wiki/%EC%A4%91%EA%B5%AD%EC%96%B4" TargetMode="External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ko.wikipedia.org/wiki/624%EB%85%84" TargetMode="External"/><Relationship Id="rId4" Type="http://schemas.openxmlformats.org/officeDocument/2006/relationships/hyperlink" Target="https://ko.wikipedia.org/wiki/2%EC%9B%94_17%EC%9D%BC" TargetMode="External"/><Relationship Id="rId9" Type="http://schemas.openxmlformats.org/officeDocument/2006/relationships/hyperlink" Target="https://ko.wikipedia.org/wiki/%EB%8B%B9%EB%82%98%EB%9D%BC" TargetMode="External"/><Relationship Id="rId14" Type="http://schemas.openxmlformats.org/officeDocument/2006/relationships/hyperlink" Target="https://ko.wikipedia.org/wiki/%EC%9C%84%ED%82%A4%EB%B0%B1%EA%B3%BC:%EC%A4%91%EA%B5%AD%EC%96%B4%EC%9D%98_%ED%95%9C%EA%B8%80_%ED%91%9C%EA%B8%B0" TargetMode="External"/><Relationship Id="rId5" Type="http://schemas.openxmlformats.org/officeDocument/2006/relationships/hyperlink" Target="https://ko.wikipedia.org/wiki/%EC%9D%8C%EB%A0%A5_1%EC%9B%94_23%EC%9D%BC" TargetMode="External"/><Relationship Id="rId6" Type="http://schemas.openxmlformats.org/officeDocument/2006/relationships/hyperlink" Target="https://ko.wikipedia.org/wiki/705%EB%85%84" TargetMode="External"/><Relationship Id="rId7" Type="http://schemas.openxmlformats.org/officeDocument/2006/relationships/hyperlink" Target="https://ko.wikipedia.org/wiki/12%EC%9B%94_16%EC%9D%BC" TargetMode="External"/><Relationship Id="rId8" Type="http://schemas.openxmlformats.org/officeDocument/2006/relationships/hyperlink" Target="https://ko.wikipedia.org/wiki/%EC%9D%8C%EB%A0%A5_11%EC%9B%94_26%EC%9D%BC" TargetMode="Externa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0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1.png"/><Relationship Id="rId4" Type="http://schemas.openxmlformats.org/officeDocument/2006/relationships/image" Target="../media/image6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2.png"/><Relationship Id="rId4" Type="http://schemas.openxmlformats.org/officeDocument/2006/relationships/image" Target="../media/image7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13.png"/><Relationship Id="rId4" Type="http://schemas.openxmlformats.org/officeDocument/2006/relationships/image" Target="../media/image8.png"/><Relationship Id="rId5" Type="http://schemas.openxmlformats.org/officeDocument/2006/relationships/image" Target="../media/image17.png"/><Relationship Id="rId6" Type="http://schemas.openxmlformats.org/officeDocument/2006/relationships/image" Target="../media/image11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9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16.png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15.png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14.png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24.png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6.xml"/><Relationship Id="rId3" Type="http://schemas.openxmlformats.org/officeDocument/2006/relationships/image" Target="../media/image22.png"/><Relationship Id="rId4" Type="http://schemas.openxmlformats.org/officeDocument/2006/relationships/image" Target="../media/image19.png"/></Relationships>
</file>

<file path=ppt/slides/_rels/slide7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7.xml"/><Relationship Id="rId3" Type="http://schemas.openxmlformats.org/officeDocument/2006/relationships/image" Target="../media/image22.png"/></Relationships>
</file>

<file path=ppt/slides/_rels/slide7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8.xml"/><Relationship Id="rId3" Type="http://schemas.openxmlformats.org/officeDocument/2006/relationships/image" Target="../media/image18.png"/></Relationships>
</file>

<file path=ppt/slides/_rels/slide7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9.xml"/></Relationships>
</file>

<file path=ppt/slides/_rels/slide8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0.xml"/></Relationships>
</file>

<file path=ppt/slides/_rels/slide8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1.xml"/></Relationships>
</file>

<file path=ppt/slides/_rels/slide8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2.xml"/></Relationships>
</file>

<file path=ppt/slides/_rels/slide8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3.xml"/><Relationship Id="rId3" Type="http://schemas.openxmlformats.org/officeDocument/2006/relationships/image" Target="../media/image20.png"/></Relationships>
</file>

<file path=ppt/slides/_rels/slide8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4.xml"/></Relationships>
</file>

<file path=ppt/slides/_rels/slide8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5.xml"/></Relationships>
</file>

<file path=ppt/slides/_rels/slide8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6.xml"/></Relationships>
</file>

<file path=ppt/slides/_rels/slide8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7.xml"/></Relationships>
</file>

<file path=ppt/slides/_rels/slide8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8.xml"/></Relationships>
</file>

<file path=ppt/slides/_rels/slide8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9.xml"/></Relationships>
</file>

<file path=ppt/slides/_rels/slide9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0.xml"/></Relationships>
</file>

<file path=ppt/slides/_rels/slide9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1.xml"/></Relationships>
</file>

<file path=ppt/slides/_rels/slide9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2.xml"/><Relationship Id="rId3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3A5C"/>
        </a:solid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162E4A"/>
          </a:solidFill>
          <a:ln cap="flat" cmpd="sng" w="12700">
            <a:solidFill>
              <a:srgbClr val="162E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1"/>
          <p:cNvSpPr/>
          <p:nvPr/>
        </p:nvSpPr>
        <p:spPr>
          <a:xfrm>
            <a:off x="5760720" y="1645920"/>
            <a:ext cx="228601" cy="1828801"/>
          </a:xfrm>
          <a:prstGeom prst="rect">
            <a:avLst/>
          </a:prstGeom>
          <a:solidFill>
            <a:srgbClr val="E8402A"/>
          </a:solidFill>
          <a:ln cap="flat" cmpd="sng" w="12700">
            <a:solidFill>
              <a:srgbClr val="E840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1"/>
          <p:cNvSpPr txBox="1"/>
          <p:nvPr/>
        </p:nvSpPr>
        <p:spPr>
          <a:xfrm>
            <a:off x="502919" y="2156255"/>
            <a:ext cx="50292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Calibri"/>
              <a:buNone/>
            </a:pPr>
            <a:r>
              <a:rPr b="1" lang="en-US" sz="4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LLM fine tuning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f22fe52246_0_243"/>
          <p:cNvSpPr/>
          <p:nvPr/>
        </p:nvSpPr>
        <p:spPr>
          <a:xfrm>
            <a:off x="0" y="0"/>
            <a:ext cx="7667100" cy="5143500"/>
          </a:xfrm>
          <a:prstGeom prst="roundRect">
            <a:avLst>
              <a:gd fmla="val 1871" name="adj"/>
            </a:avLst>
          </a:prstGeom>
          <a:solidFill>
            <a:srgbClr val="E8402A"/>
          </a:solidFill>
          <a:ln cap="flat" cmpd="sng" w="12700">
            <a:solidFill>
              <a:srgbClr val="D8DDE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dir="2700000" dist="25400">
              <a:srgbClr val="000000">
                <a:alpha val="7840"/>
              </a:srgbClr>
            </a:outerShdw>
          </a:effectLst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g3f22fe52246_0_243"/>
          <p:cNvSpPr/>
          <p:nvPr/>
        </p:nvSpPr>
        <p:spPr>
          <a:xfrm>
            <a:off x="0" y="0"/>
            <a:ext cx="6376200" cy="5143500"/>
          </a:xfrm>
          <a:prstGeom prst="roundRect">
            <a:avLst>
              <a:gd fmla="val 1871" name="adj"/>
            </a:avLst>
          </a:prstGeom>
          <a:solidFill>
            <a:srgbClr val="F4F6F9"/>
          </a:solidFill>
          <a:ln cap="flat" cmpd="sng" w="12700">
            <a:solidFill>
              <a:srgbClr val="D8DDE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dir="2700000" dist="25400">
              <a:srgbClr val="000000">
                <a:alpha val="7840"/>
              </a:srgbClr>
            </a:outerShdw>
          </a:effectLst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g3f22fe52246_0_243"/>
          <p:cNvSpPr txBox="1"/>
          <p:nvPr/>
        </p:nvSpPr>
        <p:spPr>
          <a:xfrm>
            <a:off x="621875" y="2117550"/>
            <a:ext cx="23694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431800" lvl="0" marL="457200" rtl="0" algn="l">
              <a:spcBef>
                <a:spcPts val="0"/>
              </a:spcBef>
              <a:spcAft>
                <a:spcPts val="0"/>
              </a:spcAft>
              <a:buSzPts val="3200"/>
              <a:buFont typeface="Calibri"/>
              <a:buAutoNum type="arabicPeriod"/>
            </a:pPr>
            <a:r>
              <a:rPr b="1" lang="en-US" sz="3200">
                <a:latin typeface="Calibri"/>
                <a:ea typeface="Calibri"/>
                <a:cs typeface="Calibri"/>
                <a:sym typeface="Calibri"/>
              </a:rPr>
              <a:t>LLM이란?</a:t>
            </a:r>
            <a:endParaRPr b="1" sz="32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A5C"/>
          </a:solidFill>
          <a:ln cap="flat" cmpd="sng" w="12700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2"/>
          <p:cNvSpPr/>
          <p:nvPr/>
        </p:nvSpPr>
        <p:spPr>
          <a:xfrm>
            <a:off x="336316" y="297179"/>
            <a:ext cx="1280161" cy="320042"/>
          </a:xfrm>
          <a:prstGeom prst="roundRect">
            <a:avLst>
              <a:gd fmla="val 14286" name="adj"/>
            </a:avLst>
          </a:prstGeom>
          <a:solidFill>
            <a:srgbClr val="E8402A"/>
          </a:solidFill>
          <a:ln cap="flat" cmpd="sng" w="12700">
            <a:solidFill>
              <a:srgbClr val="E840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2"/>
          <p:cNvSpPr txBox="1"/>
          <p:nvPr/>
        </p:nvSpPr>
        <p:spPr>
          <a:xfrm>
            <a:off x="336316" y="387350"/>
            <a:ext cx="1280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Helvetica Neue"/>
              <a:buNone/>
            </a:pPr>
            <a:r>
              <a:rPr b="1" lang="en-US" sz="9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LLM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2"/>
          <p:cNvSpPr txBox="1"/>
          <p:nvPr/>
        </p:nvSpPr>
        <p:spPr>
          <a:xfrm>
            <a:off x="1920239" y="285750"/>
            <a:ext cx="6766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LLM이란?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2"/>
          <p:cNvSpPr/>
          <p:nvPr/>
        </p:nvSpPr>
        <p:spPr>
          <a:xfrm>
            <a:off x="457200" y="1051560"/>
            <a:ext cx="8229600" cy="3909060"/>
          </a:xfrm>
          <a:prstGeom prst="roundRect">
            <a:avLst>
              <a:gd fmla="val 1871" name="adj"/>
            </a:avLst>
          </a:prstGeom>
          <a:solidFill>
            <a:srgbClr val="F4F6F9"/>
          </a:solidFill>
          <a:ln cap="flat" cmpd="sng" w="12700">
            <a:solidFill>
              <a:srgbClr val="D8DDE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dir="2700000" dist="25400">
              <a:srgbClr val="000000">
                <a:alpha val="7843"/>
              </a:srgbClr>
            </a:outerShdw>
          </a:effectLst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2"/>
          <p:cNvSpPr txBox="1"/>
          <p:nvPr/>
        </p:nvSpPr>
        <p:spPr>
          <a:xfrm>
            <a:off x="731519" y="1234439"/>
            <a:ext cx="7680900" cy="24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LLM (Large Language Model)</a:t>
            </a:r>
            <a:endParaRPr b="1" sz="18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1950" lvl="0" marL="34290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rgbClr val="1A1A2E"/>
              </a:buClr>
              <a:buSzPts val="1600"/>
              <a:buFont typeface="Calibri"/>
              <a:buChar char="•"/>
            </a:pPr>
            <a:r>
              <a:rPr lang="en-US" sz="16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Language Model (언어 모델) : 사람의 언어를 학습한 AI 모델</a:t>
            </a:r>
            <a:endParaRPr sz="16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1950" lvl="0" marL="34290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rgbClr val="1A1A2E"/>
              </a:buClr>
              <a:buSzPts val="1600"/>
              <a:buFont typeface="Calibri"/>
              <a:buChar char="•"/>
            </a:pPr>
            <a:r>
              <a:rPr lang="en-US" sz="16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Large Language Model : 거대한 사람의 언어를 학습한 AI 모델</a:t>
            </a:r>
            <a:endParaRPr sz="16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1950" lvl="0" marL="34290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rgbClr val="1A1A2E"/>
              </a:buClr>
              <a:buSzPts val="1600"/>
              <a:buFont typeface="Calibri"/>
              <a:buChar char="•"/>
            </a:pPr>
            <a:r>
              <a:rPr lang="en-US" sz="16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초창기 언어 모델의 파라미터 수는 1억 개 가량</a:t>
            </a:r>
            <a:endParaRPr sz="16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1950" lvl="0" marL="34290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rgbClr val="1A1A2E"/>
              </a:buClr>
              <a:buSzPts val="1600"/>
              <a:buFont typeface="Calibri"/>
              <a:buChar char="•"/>
            </a:pPr>
            <a:r>
              <a:rPr lang="en-US" sz="16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최신 모델들의 파라미터 수는 1천억~1조 로 추정되고 있음.</a:t>
            </a:r>
            <a:endParaRPr sz="16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1950" lvl="0" marL="34290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rgbClr val="1A1A2E"/>
              </a:buClr>
              <a:buSzPts val="1600"/>
              <a:buFont typeface="Calibri"/>
              <a:buChar char="•"/>
            </a:pPr>
            <a:r>
              <a:rPr lang="en-US" sz="16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언어 모델들은 왜 이렇게 거대해졌을까?</a:t>
            </a:r>
            <a:endParaRPr sz="16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f2a70976d9_0_55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A5C"/>
          </a:solidFill>
          <a:ln cap="flat" cmpd="sng" w="12700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g3f2a70976d9_0_55"/>
          <p:cNvSpPr/>
          <p:nvPr/>
        </p:nvSpPr>
        <p:spPr>
          <a:xfrm>
            <a:off x="336316" y="297179"/>
            <a:ext cx="1280100" cy="320100"/>
          </a:xfrm>
          <a:prstGeom prst="roundRect">
            <a:avLst>
              <a:gd fmla="val 14286" name="adj"/>
            </a:avLst>
          </a:prstGeom>
          <a:solidFill>
            <a:srgbClr val="E8402A"/>
          </a:solidFill>
          <a:ln cap="flat" cmpd="sng" w="12700">
            <a:solidFill>
              <a:srgbClr val="E840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g3f2a70976d9_0_55"/>
          <p:cNvSpPr txBox="1"/>
          <p:nvPr/>
        </p:nvSpPr>
        <p:spPr>
          <a:xfrm>
            <a:off x="336316" y="387350"/>
            <a:ext cx="1280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Helvetica Neue"/>
              <a:buNone/>
            </a:pPr>
            <a:r>
              <a:rPr b="1" lang="en-US" sz="9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LLM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g3f2a70976d9_0_55"/>
          <p:cNvSpPr txBox="1"/>
          <p:nvPr/>
        </p:nvSpPr>
        <p:spPr>
          <a:xfrm>
            <a:off x="1920239" y="285750"/>
            <a:ext cx="6766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LLM이란?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g3f2a70976d9_0_55"/>
          <p:cNvSpPr/>
          <p:nvPr/>
        </p:nvSpPr>
        <p:spPr>
          <a:xfrm>
            <a:off x="457200" y="1051560"/>
            <a:ext cx="8229600" cy="3909000"/>
          </a:xfrm>
          <a:prstGeom prst="roundRect">
            <a:avLst>
              <a:gd fmla="val 1871" name="adj"/>
            </a:avLst>
          </a:prstGeom>
          <a:solidFill>
            <a:srgbClr val="F4F6F9"/>
          </a:solidFill>
          <a:ln cap="flat" cmpd="sng" w="12700">
            <a:solidFill>
              <a:srgbClr val="D8DDE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dir="2700000" dist="25400">
              <a:srgbClr val="000000">
                <a:alpha val="7840"/>
              </a:srgbClr>
            </a:outerShdw>
          </a:effectLst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g3f2a70976d9_0_55"/>
          <p:cNvSpPr txBox="1"/>
          <p:nvPr/>
        </p:nvSpPr>
        <p:spPr>
          <a:xfrm>
            <a:off x="731523" y="1234450"/>
            <a:ext cx="5524800" cy="270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딥러닝의 부상</a:t>
            </a:r>
            <a:endParaRPr b="1" sz="18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1950" lvl="0" marL="34290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rgbClr val="1A1A2E"/>
              </a:buClr>
              <a:buSzPts val="1600"/>
              <a:buFont typeface="Calibri"/>
              <a:buChar char="•"/>
            </a:pPr>
            <a:r>
              <a:rPr b="1" lang="en-US" sz="16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단어 임베딩</a:t>
            </a:r>
            <a:br>
              <a:rPr b="1" lang="en-US" sz="16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6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단어의 뜻을 ‘느낌’으로 이해하기 시작. 수많은 단어들을 수백, 수천 개의 숫자로 이뤄진 벡터 좌표로 인식.</a:t>
            </a:r>
            <a:endParaRPr sz="16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1950" lvl="0" marL="34290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rgbClr val="1A1A2E"/>
              </a:buClr>
              <a:buSzPts val="1600"/>
              <a:buFont typeface="Calibri"/>
              <a:buChar char="•"/>
            </a:pPr>
            <a:r>
              <a:rPr b="1" lang="en-US" sz="16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RNN 등장</a:t>
            </a:r>
            <a:br>
              <a:rPr lang="en-US" sz="16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6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RNN 레이어 구조 등장으로 문장이 길어져도 앞 부분의 중요한 맥락을 유지할 수 있게 됨.</a:t>
            </a:r>
            <a:endParaRPr sz="16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g3f2a70976d9_0_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76725" y="1234450"/>
            <a:ext cx="2120600" cy="1775175"/>
          </a:xfrm>
          <a:prstGeom prst="rect">
            <a:avLst/>
          </a:prstGeom>
          <a:solidFill>
            <a:srgbClr val="F4F6F9"/>
          </a:solidFill>
          <a:ln cap="flat" cmpd="sng" w="12700">
            <a:solidFill>
              <a:srgbClr val="D8DDE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dir="2700000" dist="25400">
              <a:srgbClr val="000000">
                <a:alpha val="7840"/>
              </a:srgbClr>
            </a:outerShdw>
          </a:effectLst>
        </p:spPr>
      </p:pic>
      <p:pic>
        <p:nvPicPr>
          <p:cNvPr id="99" name="Google Shape;99;g3f2a70976d9_0_5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16500" y="3619626"/>
            <a:ext cx="3480822" cy="914400"/>
          </a:xfrm>
          <a:prstGeom prst="rect">
            <a:avLst/>
          </a:prstGeom>
          <a:solidFill>
            <a:srgbClr val="F4F6F9"/>
          </a:solidFill>
          <a:ln cap="flat" cmpd="sng" w="12700">
            <a:solidFill>
              <a:srgbClr val="D8DDE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dir="2700000" dist="25400">
              <a:srgbClr val="000000">
                <a:alpha val="7840"/>
              </a:srgbClr>
            </a:outerShdw>
          </a:effectLst>
        </p:spPr>
      </p:pic>
      <p:sp>
        <p:nvSpPr>
          <p:cNvPr id="100" name="Google Shape;100;g3f2a70976d9_0_55"/>
          <p:cNvSpPr txBox="1"/>
          <p:nvPr/>
        </p:nvSpPr>
        <p:spPr>
          <a:xfrm>
            <a:off x="6891625" y="3105200"/>
            <a:ext cx="1090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latin typeface="Calibri"/>
                <a:ea typeface="Calibri"/>
                <a:cs typeface="Calibri"/>
                <a:sym typeface="Calibri"/>
              </a:rPr>
              <a:t>&lt;단어 임베딩&gt;</a:t>
            </a:r>
            <a:endParaRPr b="1" sz="1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g3f2a70976d9_0_55"/>
          <p:cNvSpPr txBox="1"/>
          <p:nvPr/>
        </p:nvSpPr>
        <p:spPr>
          <a:xfrm>
            <a:off x="6211513" y="4621850"/>
            <a:ext cx="1090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latin typeface="Calibri"/>
                <a:ea typeface="Calibri"/>
                <a:cs typeface="Calibri"/>
                <a:sym typeface="Calibri"/>
              </a:rPr>
              <a:t>&lt;RNN 레이어&gt;</a:t>
            </a:r>
            <a:endParaRPr b="1" sz="10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f22fe52246_0_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A5C"/>
          </a:solidFill>
          <a:ln cap="flat" cmpd="sng" w="12700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g3f22fe52246_0_0"/>
          <p:cNvSpPr/>
          <p:nvPr/>
        </p:nvSpPr>
        <p:spPr>
          <a:xfrm>
            <a:off x="336316" y="297179"/>
            <a:ext cx="1280100" cy="320100"/>
          </a:xfrm>
          <a:prstGeom prst="roundRect">
            <a:avLst>
              <a:gd fmla="val 14286" name="adj"/>
            </a:avLst>
          </a:prstGeom>
          <a:solidFill>
            <a:srgbClr val="E8402A"/>
          </a:solidFill>
          <a:ln cap="flat" cmpd="sng" w="12700">
            <a:solidFill>
              <a:srgbClr val="E840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g3f22fe52246_0_0"/>
          <p:cNvSpPr txBox="1"/>
          <p:nvPr/>
        </p:nvSpPr>
        <p:spPr>
          <a:xfrm>
            <a:off x="336316" y="387350"/>
            <a:ext cx="1280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Helvetica Neue"/>
              <a:buNone/>
            </a:pPr>
            <a:r>
              <a:rPr b="1" lang="en-US" sz="9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LLM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g3f22fe52246_0_0"/>
          <p:cNvSpPr txBox="1"/>
          <p:nvPr/>
        </p:nvSpPr>
        <p:spPr>
          <a:xfrm>
            <a:off x="1920239" y="285750"/>
            <a:ext cx="6766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LLM이란?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g3f22fe52246_0_0"/>
          <p:cNvSpPr/>
          <p:nvPr/>
        </p:nvSpPr>
        <p:spPr>
          <a:xfrm>
            <a:off x="457200" y="1051560"/>
            <a:ext cx="8229600" cy="3909000"/>
          </a:xfrm>
          <a:prstGeom prst="roundRect">
            <a:avLst>
              <a:gd fmla="val 1871" name="adj"/>
            </a:avLst>
          </a:prstGeom>
          <a:solidFill>
            <a:srgbClr val="F4F6F9"/>
          </a:solidFill>
          <a:ln cap="flat" cmpd="sng" w="12700">
            <a:solidFill>
              <a:srgbClr val="D8DDE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dir="2700000" dist="25400">
              <a:srgbClr val="000000">
                <a:alpha val="7840"/>
              </a:srgbClr>
            </a:outerShdw>
          </a:effectLst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g3f22fe52246_0_0"/>
          <p:cNvSpPr txBox="1"/>
          <p:nvPr/>
        </p:nvSpPr>
        <p:spPr>
          <a:xfrm>
            <a:off x="731519" y="1234439"/>
            <a:ext cx="7680900" cy="80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LLM (Large Language Model)</a:t>
            </a:r>
            <a:endParaRPr b="1" sz="18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1950" lvl="0" marL="34290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rgbClr val="1A1A2E"/>
              </a:buClr>
              <a:buSzPts val="1600"/>
              <a:buFont typeface="Calibri"/>
              <a:buChar char="•"/>
            </a:pPr>
            <a:r>
              <a:rPr lang="en-US" sz="16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시작은 Attention 구조의 등장 (transformers)</a:t>
            </a:r>
            <a:endParaRPr sz="16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2" name="Google Shape;112;g3f22fe52246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64000" y="2315938"/>
            <a:ext cx="3480822" cy="914400"/>
          </a:xfrm>
          <a:prstGeom prst="rect">
            <a:avLst/>
          </a:prstGeom>
          <a:solidFill>
            <a:srgbClr val="F4F6F9"/>
          </a:solidFill>
          <a:ln cap="flat" cmpd="sng" w="12700">
            <a:solidFill>
              <a:srgbClr val="D8DDE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dir="2700000" dist="25400">
              <a:srgbClr val="000000">
                <a:alpha val="7840"/>
              </a:srgbClr>
            </a:outerShdw>
          </a:effectLst>
        </p:spPr>
      </p:pic>
      <p:sp>
        <p:nvSpPr>
          <p:cNvPr id="113" name="Google Shape;113;g3f22fe52246_0_0"/>
          <p:cNvSpPr txBox="1"/>
          <p:nvPr/>
        </p:nvSpPr>
        <p:spPr>
          <a:xfrm>
            <a:off x="2525963" y="3367513"/>
            <a:ext cx="756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&lt;RNN&gt;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g3f22fe52246_0_0"/>
          <p:cNvSpPr txBox="1"/>
          <p:nvPr/>
        </p:nvSpPr>
        <p:spPr>
          <a:xfrm>
            <a:off x="6222038" y="3938838"/>
            <a:ext cx="1146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&lt;Attention&gt;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g3f22fe52246_0_0"/>
          <p:cNvSpPr txBox="1"/>
          <p:nvPr/>
        </p:nvSpPr>
        <p:spPr>
          <a:xfrm>
            <a:off x="1164000" y="3767725"/>
            <a:ext cx="3480900" cy="5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Calibri"/>
              <a:buChar char="●"/>
            </a:pPr>
            <a:r>
              <a:rPr lang="en-US" sz="1000">
                <a:latin typeface="Calibri"/>
                <a:ea typeface="Calibri"/>
                <a:cs typeface="Calibri"/>
                <a:sym typeface="Calibri"/>
              </a:rPr>
              <a:t>텍스트가 길어질수록 학습/추론 시간이 길어짐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Calibri"/>
              <a:buChar char="●"/>
            </a:pPr>
            <a:r>
              <a:rPr lang="en-US" sz="1000">
                <a:latin typeface="Calibri"/>
                <a:ea typeface="Calibri"/>
                <a:cs typeface="Calibri"/>
                <a:sym typeface="Calibri"/>
              </a:rPr>
              <a:t>기울기 소실/폭발 문제 발생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6" name="Google Shape;116;g3f22fe52246_0_0"/>
          <p:cNvCxnSpPr>
            <a:stCxn id="112" idx="3"/>
            <a:endCxn id="117" idx="1"/>
          </p:cNvCxnSpPr>
          <p:nvPr/>
        </p:nvCxnSpPr>
        <p:spPr>
          <a:xfrm>
            <a:off x="4644822" y="2773138"/>
            <a:ext cx="13413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117" name="Google Shape;117;g3f22fe52246_0_0"/>
          <p:cNvPicPr preferRelativeResize="0"/>
          <p:nvPr/>
        </p:nvPicPr>
        <p:blipFill rotWithShape="1">
          <a:blip r:embed="rId4">
            <a:alphaModFix/>
          </a:blip>
          <a:srcRect b="0" l="19485" r="6709" t="0"/>
          <a:stretch/>
        </p:blipFill>
        <p:spPr>
          <a:xfrm>
            <a:off x="5986213" y="1673063"/>
            <a:ext cx="1617673" cy="220015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118" name="Google Shape;118;g3f22fe52246_0_0"/>
          <p:cNvSpPr txBox="1"/>
          <p:nvPr/>
        </p:nvSpPr>
        <p:spPr>
          <a:xfrm>
            <a:off x="5735600" y="4339038"/>
            <a:ext cx="2118900" cy="5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Calibri"/>
              <a:buChar char="●"/>
            </a:pPr>
            <a:r>
              <a:rPr lang="en-US" sz="1000">
                <a:latin typeface="Calibri"/>
                <a:ea typeface="Calibri"/>
                <a:cs typeface="Calibri"/>
                <a:sym typeface="Calibri"/>
              </a:rPr>
              <a:t>텍스트 병렬 처리 가능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Calibri"/>
              <a:buChar char="●"/>
            </a:pPr>
            <a:r>
              <a:rPr lang="en-US" sz="1000">
                <a:latin typeface="Calibri"/>
                <a:ea typeface="Calibri"/>
                <a:cs typeface="Calibri"/>
                <a:sym typeface="Calibri"/>
              </a:rPr>
              <a:t>더 긴 텍스트 처리 가능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f22fe52246_0_15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A5C"/>
          </a:solidFill>
          <a:ln cap="flat" cmpd="sng" w="12700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g3f22fe52246_0_15"/>
          <p:cNvSpPr/>
          <p:nvPr/>
        </p:nvSpPr>
        <p:spPr>
          <a:xfrm>
            <a:off x="336316" y="297179"/>
            <a:ext cx="1280100" cy="320100"/>
          </a:xfrm>
          <a:prstGeom prst="roundRect">
            <a:avLst>
              <a:gd fmla="val 14286" name="adj"/>
            </a:avLst>
          </a:prstGeom>
          <a:solidFill>
            <a:srgbClr val="E8402A"/>
          </a:solidFill>
          <a:ln cap="flat" cmpd="sng" w="12700">
            <a:solidFill>
              <a:srgbClr val="E840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g3f22fe52246_0_15"/>
          <p:cNvSpPr txBox="1"/>
          <p:nvPr/>
        </p:nvSpPr>
        <p:spPr>
          <a:xfrm>
            <a:off x="336316" y="387350"/>
            <a:ext cx="1280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Helvetica Neue"/>
              <a:buNone/>
            </a:pPr>
            <a:r>
              <a:rPr b="1" lang="en-US" sz="9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LLM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g3f22fe52246_0_15"/>
          <p:cNvSpPr txBox="1"/>
          <p:nvPr/>
        </p:nvSpPr>
        <p:spPr>
          <a:xfrm>
            <a:off x="1920239" y="285750"/>
            <a:ext cx="6766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LLM이란?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g3f22fe52246_0_15"/>
          <p:cNvSpPr/>
          <p:nvPr/>
        </p:nvSpPr>
        <p:spPr>
          <a:xfrm>
            <a:off x="457200" y="1051560"/>
            <a:ext cx="8229600" cy="3909000"/>
          </a:xfrm>
          <a:prstGeom prst="roundRect">
            <a:avLst>
              <a:gd fmla="val 1871" name="adj"/>
            </a:avLst>
          </a:prstGeom>
          <a:solidFill>
            <a:srgbClr val="F4F6F9"/>
          </a:solidFill>
          <a:ln cap="flat" cmpd="sng" w="12700">
            <a:solidFill>
              <a:srgbClr val="D8DDE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dir="2700000" dist="25400">
              <a:srgbClr val="000000">
                <a:alpha val="7840"/>
              </a:srgbClr>
            </a:outerShdw>
          </a:effectLst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g3f22fe52246_0_15"/>
          <p:cNvSpPr txBox="1"/>
          <p:nvPr/>
        </p:nvSpPr>
        <p:spPr>
          <a:xfrm>
            <a:off x="731519" y="1234439"/>
            <a:ext cx="7680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LLM (Large Language Model)</a:t>
            </a:r>
            <a:endParaRPr sz="16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9" name="Google Shape;129;g3f22fe52246_0_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62775" y="1761725"/>
            <a:ext cx="1935901" cy="2746526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g3f22fe52246_0_15"/>
          <p:cNvSpPr txBox="1"/>
          <p:nvPr/>
        </p:nvSpPr>
        <p:spPr>
          <a:xfrm>
            <a:off x="1446425" y="4508250"/>
            <a:ext cx="1368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&lt;transformer&gt;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1" name="Google Shape;131;g3f22fe52246_0_15"/>
          <p:cNvPicPr preferRelativeResize="0"/>
          <p:nvPr/>
        </p:nvPicPr>
        <p:blipFill rotWithShape="1">
          <a:blip r:embed="rId4">
            <a:alphaModFix/>
          </a:blip>
          <a:srcRect b="11222" l="39570" r="0" t="0"/>
          <a:stretch/>
        </p:blipFill>
        <p:spPr>
          <a:xfrm>
            <a:off x="4168750" y="1761713"/>
            <a:ext cx="2269501" cy="213919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2" name="Google Shape;132;g3f22fe52246_0_15"/>
          <p:cNvCxnSpPr/>
          <p:nvPr/>
        </p:nvCxnSpPr>
        <p:spPr>
          <a:xfrm>
            <a:off x="3098675" y="4436400"/>
            <a:ext cx="2241000" cy="8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3" name="Google Shape;133;g3f22fe52246_0_15"/>
          <p:cNvCxnSpPr/>
          <p:nvPr/>
        </p:nvCxnSpPr>
        <p:spPr>
          <a:xfrm rot="10800000">
            <a:off x="5339738" y="4224000"/>
            <a:ext cx="0" cy="212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4" name="Google Shape;134;g3f22fe52246_0_15"/>
          <p:cNvCxnSpPr/>
          <p:nvPr/>
        </p:nvCxnSpPr>
        <p:spPr>
          <a:xfrm>
            <a:off x="4655513" y="4224000"/>
            <a:ext cx="1293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5" name="Google Shape;135;g3f22fe52246_0_15"/>
          <p:cNvCxnSpPr/>
          <p:nvPr/>
        </p:nvCxnSpPr>
        <p:spPr>
          <a:xfrm rot="10800000">
            <a:off x="4659038" y="3922975"/>
            <a:ext cx="0" cy="300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6" name="Google Shape;136;g3f22fe52246_0_15"/>
          <p:cNvCxnSpPr/>
          <p:nvPr/>
        </p:nvCxnSpPr>
        <p:spPr>
          <a:xfrm rot="10800000">
            <a:off x="5949088" y="3912550"/>
            <a:ext cx="2400" cy="315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137" name="Google Shape;137;g3f22fe52246_0_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98875" y="1761725"/>
            <a:ext cx="1507808" cy="2139176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g3f22fe52246_0_15"/>
          <p:cNvSpPr txBox="1"/>
          <p:nvPr/>
        </p:nvSpPr>
        <p:spPr>
          <a:xfrm>
            <a:off x="6636000" y="3832775"/>
            <a:ext cx="1180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latin typeface="Calibri"/>
                <a:ea typeface="Calibri"/>
                <a:cs typeface="Calibri"/>
                <a:sym typeface="Calibri"/>
              </a:rPr>
              <a:t>Encoder-Decoder</a:t>
            </a:r>
            <a:endParaRPr b="1" sz="1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g3f22fe52246_0_15"/>
          <p:cNvSpPr txBox="1"/>
          <p:nvPr/>
        </p:nvSpPr>
        <p:spPr>
          <a:xfrm>
            <a:off x="6946950" y="1486000"/>
            <a:ext cx="558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latin typeface="Calibri"/>
                <a:ea typeface="Calibri"/>
                <a:cs typeface="Calibri"/>
                <a:sym typeface="Calibri"/>
              </a:rPr>
              <a:t>BART</a:t>
            </a:r>
            <a:endParaRPr b="1" sz="10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f22fe52246_0_10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A5C"/>
          </a:solidFill>
          <a:ln cap="flat" cmpd="sng" w="12700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g3f22fe52246_0_100"/>
          <p:cNvSpPr/>
          <p:nvPr/>
        </p:nvSpPr>
        <p:spPr>
          <a:xfrm>
            <a:off x="336316" y="297179"/>
            <a:ext cx="1280100" cy="320100"/>
          </a:xfrm>
          <a:prstGeom prst="roundRect">
            <a:avLst>
              <a:gd fmla="val 14286" name="adj"/>
            </a:avLst>
          </a:prstGeom>
          <a:solidFill>
            <a:srgbClr val="E8402A"/>
          </a:solidFill>
          <a:ln cap="flat" cmpd="sng" w="12700">
            <a:solidFill>
              <a:srgbClr val="E840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g3f22fe52246_0_100"/>
          <p:cNvSpPr txBox="1"/>
          <p:nvPr/>
        </p:nvSpPr>
        <p:spPr>
          <a:xfrm>
            <a:off x="336316" y="387350"/>
            <a:ext cx="1280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Helvetica Neue"/>
              <a:buNone/>
            </a:pPr>
            <a:r>
              <a:rPr b="1" lang="en-US" sz="9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LLM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g3f22fe52246_0_100"/>
          <p:cNvSpPr txBox="1"/>
          <p:nvPr/>
        </p:nvSpPr>
        <p:spPr>
          <a:xfrm>
            <a:off x="1920239" y="285750"/>
            <a:ext cx="6766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LLM</a:t>
            </a:r>
            <a:r>
              <a:rPr b="1"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이란?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g3f22fe52246_0_100"/>
          <p:cNvSpPr/>
          <p:nvPr/>
        </p:nvSpPr>
        <p:spPr>
          <a:xfrm>
            <a:off x="457200" y="1051560"/>
            <a:ext cx="8229600" cy="3909000"/>
          </a:xfrm>
          <a:prstGeom prst="roundRect">
            <a:avLst>
              <a:gd fmla="val 1871" name="adj"/>
            </a:avLst>
          </a:prstGeom>
          <a:solidFill>
            <a:srgbClr val="F4F6F9"/>
          </a:solidFill>
          <a:ln cap="flat" cmpd="sng" w="12700">
            <a:solidFill>
              <a:srgbClr val="D8DDE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dir="2700000" dist="25400">
              <a:srgbClr val="000000">
                <a:alpha val="7840"/>
              </a:srgbClr>
            </a:outerShdw>
          </a:effectLst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g3f22fe52246_0_100"/>
          <p:cNvSpPr txBox="1"/>
          <p:nvPr/>
        </p:nvSpPr>
        <p:spPr>
          <a:xfrm>
            <a:off x="731519" y="1234439"/>
            <a:ext cx="7680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LLM (Large Language Model)</a:t>
            </a:r>
            <a:endParaRPr b="1" sz="18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g3f22fe52246_0_100"/>
          <p:cNvSpPr/>
          <p:nvPr/>
        </p:nvSpPr>
        <p:spPr>
          <a:xfrm>
            <a:off x="1162600" y="2181588"/>
            <a:ext cx="1529700" cy="5214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GPT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g3f22fe52246_0_100"/>
          <p:cNvSpPr/>
          <p:nvPr/>
        </p:nvSpPr>
        <p:spPr>
          <a:xfrm>
            <a:off x="1162600" y="3568888"/>
            <a:ext cx="1529700" cy="5214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BERT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g3f22fe52246_0_100"/>
          <p:cNvSpPr/>
          <p:nvPr/>
        </p:nvSpPr>
        <p:spPr>
          <a:xfrm>
            <a:off x="3321950" y="2221950"/>
            <a:ext cx="4723200" cy="440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동해물과 백두산이 마르고 </a:t>
            </a:r>
            <a:r>
              <a:rPr lang="en-US">
                <a:solidFill>
                  <a:srgbClr val="9E9E9E"/>
                </a:solidFill>
                <a:latin typeface="Calibri"/>
                <a:ea typeface="Calibri"/>
                <a:cs typeface="Calibri"/>
                <a:sym typeface="Calibri"/>
              </a:rPr>
              <a:t>닳도록 하느님이 보우하사 우리…</a:t>
            </a:r>
            <a:endParaRPr>
              <a:solidFill>
                <a:srgbClr val="9E9E9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g3f22fe52246_0_100"/>
          <p:cNvSpPr/>
          <p:nvPr/>
        </p:nvSpPr>
        <p:spPr>
          <a:xfrm>
            <a:off x="3751025" y="3609250"/>
            <a:ext cx="2023200" cy="440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전작만 못한 작품이네요</a:t>
            </a:r>
            <a:endParaRPr>
              <a:solidFill>
                <a:srgbClr val="9E9E9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g3f22fe52246_0_100"/>
          <p:cNvSpPr txBox="1"/>
          <p:nvPr/>
        </p:nvSpPr>
        <p:spPr>
          <a:xfrm>
            <a:off x="6891875" y="3894200"/>
            <a:ext cx="724200" cy="4002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부정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g3f22fe52246_0_100"/>
          <p:cNvSpPr txBox="1"/>
          <p:nvPr/>
        </p:nvSpPr>
        <p:spPr>
          <a:xfrm>
            <a:off x="6891875" y="3335300"/>
            <a:ext cx="724200" cy="4002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긍</a:t>
            </a:r>
            <a:r>
              <a:rPr lang="en-US">
                <a:latin typeface="Calibri"/>
                <a:ea typeface="Calibri"/>
                <a:cs typeface="Calibri"/>
                <a:sym typeface="Calibri"/>
              </a:rPr>
              <a:t>정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6" name="Google Shape;156;g3f22fe52246_0_100"/>
          <p:cNvCxnSpPr>
            <a:stCxn id="153" idx="3"/>
            <a:endCxn id="155" idx="1"/>
          </p:cNvCxnSpPr>
          <p:nvPr/>
        </p:nvCxnSpPr>
        <p:spPr>
          <a:xfrm flipH="1" rot="10800000">
            <a:off x="5774225" y="3535300"/>
            <a:ext cx="1117800" cy="294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7" name="Google Shape;157;g3f22fe52246_0_100"/>
          <p:cNvCxnSpPr>
            <a:stCxn id="153" idx="3"/>
            <a:endCxn id="154" idx="1"/>
          </p:cNvCxnSpPr>
          <p:nvPr/>
        </p:nvCxnSpPr>
        <p:spPr>
          <a:xfrm>
            <a:off x="5774225" y="3829600"/>
            <a:ext cx="1117800" cy="264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8" name="Google Shape;158;g3f22fe52246_0_100"/>
          <p:cNvCxnSpPr>
            <a:stCxn id="150" idx="3"/>
            <a:endCxn id="152" idx="1"/>
          </p:cNvCxnSpPr>
          <p:nvPr/>
        </p:nvCxnSpPr>
        <p:spPr>
          <a:xfrm>
            <a:off x="2692300" y="2442288"/>
            <a:ext cx="629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9" name="Google Shape;159;g3f22fe52246_0_100"/>
          <p:cNvCxnSpPr>
            <a:stCxn id="151" idx="3"/>
            <a:endCxn id="153" idx="1"/>
          </p:cNvCxnSpPr>
          <p:nvPr/>
        </p:nvCxnSpPr>
        <p:spPr>
          <a:xfrm>
            <a:off x="2692300" y="3829588"/>
            <a:ext cx="1058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0" name="Google Shape;160;g3f22fe52246_0_100"/>
          <p:cNvSpPr txBox="1"/>
          <p:nvPr/>
        </p:nvSpPr>
        <p:spPr>
          <a:xfrm>
            <a:off x="5085350" y="2703000"/>
            <a:ext cx="1196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Calibri"/>
                <a:ea typeface="Calibri"/>
                <a:cs typeface="Calibri"/>
                <a:sym typeface="Calibri"/>
              </a:rPr>
              <a:t>텍스트 생성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g3f22fe52246_0_100"/>
          <p:cNvSpPr txBox="1"/>
          <p:nvPr/>
        </p:nvSpPr>
        <p:spPr>
          <a:xfrm>
            <a:off x="5085350" y="4294400"/>
            <a:ext cx="1196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Calibri"/>
                <a:ea typeface="Calibri"/>
                <a:cs typeface="Calibri"/>
                <a:sym typeface="Calibri"/>
              </a:rPr>
              <a:t>텍스트 </a:t>
            </a:r>
            <a:r>
              <a:rPr b="1" lang="en-US">
                <a:latin typeface="Calibri"/>
                <a:ea typeface="Calibri"/>
                <a:cs typeface="Calibri"/>
                <a:sym typeface="Calibri"/>
              </a:rPr>
              <a:t>분류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g3f22fe52246_0_100"/>
          <p:cNvSpPr txBox="1"/>
          <p:nvPr/>
        </p:nvSpPr>
        <p:spPr>
          <a:xfrm>
            <a:off x="1329250" y="2703000"/>
            <a:ext cx="11964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Calibri"/>
                <a:ea typeface="Calibri"/>
                <a:cs typeface="Calibri"/>
                <a:sym typeface="Calibri"/>
              </a:rPr>
              <a:t>Transformer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Calibri"/>
                <a:ea typeface="Calibri"/>
                <a:cs typeface="Calibri"/>
                <a:sym typeface="Calibri"/>
              </a:rPr>
              <a:t>Decoder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g3f22fe52246_0_100"/>
          <p:cNvSpPr txBox="1"/>
          <p:nvPr/>
        </p:nvSpPr>
        <p:spPr>
          <a:xfrm>
            <a:off x="1329250" y="4090300"/>
            <a:ext cx="11964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Calibri"/>
                <a:ea typeface="Calibri"/>
                <a:cs typeface="Calibri"/>
                <a:sym typeface="Calibri"/>
              </a:rPr>
              <a:t>Transformer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Calibri"/>
                <a:ea typeface="Calibri"/>
                <a:cs typeface="Calibri"/>
                <a:sym typeface="Calibri"/>
              </a:rPr>
              <a:t>Encoder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f2a70976d9_0_7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A5C"/>
          </a:solidFill>
          <a:ln cap="flat" cmpd="sng" w="12700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g3f2a70976d9_0_72"/>
          <p:cNvSpPr/>
          <p:nvPr/>
        </p:nvSpPr>
        <p:spPr>
          <a:xfrm>
            <a:off x="336316" y="297179"/>
            <a:ext cx="1280100" cy="320100"/>
          </a:xfrm>
          <a:prstGeom prst="roundRect">
            <a:avLst>
              <a:gd fmla="val 14286" name="adj"/>
            </a:avLst>
          </a:prstGeom>
          <a:solidFill>
            <a:srgbClr val="E8402A"/>
          </a:solidFill>
          <a:ln cap="flat" cmpd="sng" w="12700">
            <a:solidFill>
              <a:srgbClr val="E840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g3f2a70976d9_0_72"/>
          <p:cNvSpPr txBox="1"/>
          <p:nvPr/>
        </p:nvSpPr>
        <p:spPr>
          <a:xfrm>
            <a:off x="336316" y="387350"/>
            <a:ext cx="1280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Helvetica Neue"/>
              <a:buNone/>
            </a:pPr>
            <a:r>
              <a:rPr b="1" lang="en-US" sz="9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LLM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g3f2a70976d9_0_72"/>
          <p:cNvSpPr txBox="1"/>
          <p:nvPr/>
        </p:nvSpPr>
        <p:spPr>
          <a:xfrm>
            <a:off x="1920239" y="285750"/>
            <a:ext cx="6766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LLM이란?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g3f2a70976d9_0_72"/>
          <p:cNvSpPr/>
          <p:nvPr/>
        </p:nvSpPr>
        <p:spPr>
          <a:xfrm>
            <a:off x="457200" y="1051560"/>
            <a:ext cx="8229600" cy="3909000"/>
          </a:xfrm>
          <a:prstGeom prst="roundRect">
            <a:avLst>
              <a:gd fmla="val 1871" name="adj"/>
            </a:avLst>
          </a:prstGeom>
          <a:solidFill>
            <a:srgbClr val="F4F6F9"/>
          </a:solidFill>
          <a:ln cap="flat" cmpd="sng" w="12700">
            <a:solidFill>
              <a:srgbClr val="D8DDE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dir="2700000" dist="25400">
              <a:srgbClr val="000000">
                <a:alpha val="7840"/>
              </a:srgbClr>
            </a:outerShdw>
          </a:effectLst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g3f2a70976d9_0_72"/>
          <p:cNvSpPr txBox="1"/>
          <p:nvPr/>
        </p:nvSpPr>
        <p:spPr>
          <a:xfrm>
            <a:off x="731519" y="1234439"/>
            <a:ext cx="7680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LLM (Large Language Model)</a:t>
            </a:r>
            <a:endParaRPr sz="16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4" name="Google Shape;174;g3f2a70976d9_0_72"/>
          <p:cNvPicPr preferRelativeResize="0"/>
          <p:nvPr/>
        </p:nvPicPr>
        <p:blipFill rotWithShape="1">
          <a:blip r:embed="rId3">
            <a:alphaModFix/>
          </a:blip>
          <a:srcRect b="0" l="19485" r="6709" t="0"/>
          <a:stretch/>
        </p:blipFill>
        <p:spPr>
          <a:xfrm>
            <a:off x="938800" y="1963875"/>
            <a:ext cx="1039099" cy="141325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id="175" name="Google Shape;175;g3f2a70976d9_0_72"/>
          <p:cNvPicPr preferRelativeResize="0"/>
          <p:nvPr/>
        </p:nvPicPr>
        <p:blipFill rotWithShape="1">
          <a:blip r:embed="rId3">
            <a:alphaModFix/>
          </a:blip>
          <a:srcRect b="0" l="19485" r="6709" t="0"/>
          <a:stretch/>
        </p:blipFill>
        <p:spPr>
          <a:xfrm>
            <a:off x="1106950" y="2108400"/>
            <a:ext cx="1039099" cy="141325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id="176" name="Google Shape;176;g3f2a70976d9_0_72"/>
          <p:cNvPicPr preferRelativeResize="0"/>
          <p:nvPr/>
        </p:nvPicPr>
        <p:blipFill rotWithShape="1">
          <a:blip r:embed="rId3">
            <a:alphaModFix/>
          </a:blip>
          <a:srcRect b="0" l="19485" r="6709" t="0"/>
          <a:stretch/>
        </p:blipFill>
        <p:spPr>
          <a:xfrm>
            <a:off x="1259350" y="2298525"/>
            <a:ext cx="1039099" cy="141325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id="177" name="Google Shape;177;g3f2a70976d9_0_72"/>
          <p:cNvPicPr preferRelativeResize="0"/>
          <p:nvPr/>
        </p:nvPicPr>
        <p:blipFill rotWithShape="1">
          <a:blip r:embed="rId3">
            <a:alphaModFix/>
          </a:blip>
          <a:srcRect b="0" l="19485" r="6709" t="0"/>
          <a:stretch/>
        </p:blipFill>
        <p:spPr>
          <a:xfrm>
            <a:off x="1468900" y="2491925"/>
            <a:ext cx="1039099" cy="141325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178" name="Google Shape;178;g3f2a70976d9_0_72"/>
          <p:cNvSpPr/>
          <p:nvPr/>
        </p:nvSpPr>
        <p:spPr>
          <a:xfrm>
            <a:off x="2993400" y="2491925"/>
            <a:ext cx="1125600" cy="3387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g3f2a70976d9_0_72"/>
          <p:cNvSpPr/>
          <p:nvPr/>
        </p:nvSpPr>
        <p:spPr>
          <a:xfrm>
            <a:off x="3145800" y="2644325"/>
            <a:ext cx="1125600" cy="3387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g3f2a70976d9_0_72"/>
          <p:cNvSpPr/>
          <p:nvPr/>
        </p:nvSpPr>
        <p:spPr>
          <a:xfrm>
            <a:off x="3298200" y="2796725"/>
            <a:ext cx="1125600" cy="3387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g3f2a70976d9_0_72"/>
          <p:cNvSpPr/>
          <p:nvPr/>
        </p:nvSpPr>
        <p:spPr>
          <a:xfrm>
            <a:off x="3450600" y="2949125"/>
            <a:ext cx="1125600" cy="3387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g3f2a70976d9_0_72"/>
          <p:cNvSpPr txBox="1"/>
          <p:nvPr/>
        </p:nvSpPr>
        <p:spPr>
          <a:xfrm>
            <a:off x="795050" y="4216800"/>
            <a:ext cx="7617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레이어가 많아질수록, 데이터가 많아질수록 모델이 언어를 잘 이해한다는 것을 발견하게됨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3" name="Google Shape;183;g3f2a70976d9_0_72"/>
          <p:cNvCxnSpPr/>
          <p:nvPr/>
        </p:nvCxnSpPr>
        <p:spPr>
          <a:xfrm>
            <a:off x="4715275" y="2886450"/>
            <a:ext cx="4803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84" name="Google Shape;184;g3f2a70976d9_0_72"/>
          <p:cNvSpPr/>
          <p:nvPr/>
        </p:nvSpPr>
        <p:spPr>
          <a:xfrm>
            <a:off x="5728350" y="2145300"/>
            <a:ext cx="2421900" cy="14823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Q. 대한민국의 수도는 어디인가요?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A. 대한민국의 수도는 서울입니다.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f22fe52246_0_64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A5C"/>
          </a:solidFill>
          <a:ln cap="flat" cmpd="sng" w="12700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g3f22fe52246_0_64"/>
          <p:cNvSpPr/>
          <p:nvPr/>
        </p:nvSpPr>
        <p:spPr>
          <a:xfrm>
            <a:off x="336316" y="297179"/>
            <a:ext cx="1280100" cy="320100"/>
          </a:xfrm>
          <a:prstGeom prst="roundRect">
            <a:avLst>
              <a:gd fmla="val 14286" name="adj"/>
            </a:avLst>
          </a:prstGeom>
          <a:solidFill>
            <a:srgbClr val="E8402A"/>
          </a:solidFill>
          <a:ln cap="flat" cmpd="sng" w="12700">
            <a:solidFill>
              <a:srgbClr val="E840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g3f22fe52246_0_64"/>
          <p:cNvSpPr txBox="1"/>
          <p:nvPr/>
        </p:nvSpPr>
        <p:spPr>
          <a:xfrm>
            <a:off x="336316" y="387350"/>
            <a:ext cx="1280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Helvetica Neue"/>
              <a:buNone/>
            </a:pPr>
            <a:r>
              <a:rPr b="1" lang="en-US" sz="9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LLM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g3f22fe52246_0_64"/>
          <p:cNvSpPr txBox="1"/>
          <p:nvPr/>
        </p:nvSpPr>
        <p:spPr>
          <a:xfrm>
            <a:off x="1920239" y="285750"/>
            <a:ext cx="6766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LLM</a:t>
            </a:r>
            <a:r>
              <a:rPr b="1"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은 어떻게 만들어지는가?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g3f22fe52246_0_64"/>
          <p:cNvSpPr/>
          <p:nvPr/>
        </p:nvSpPr>
        <p:spPr>
          <a:xfrm>
            <a:off x="457200" y="1051560"/>
            <a:ext cx="8229600" cy="3909000"/>
          </a:xfrm>
          <a:prstGeom prst="roundRect">
            <a:avLst>
              <a:gd fmla="val 1871" name="adj"/>
            </a:avLst>
          </a:prstGeom>
          <a:solidFill>
            <a:srgbClr val="F4F6F9"/>
          </a:solidFill>
          <a:ln cap="flat" cmpd="sng" w="12700">
            <a:solidFill>
              <a:srgbClr val="D8DDE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dir="2700000" dist="25400">
              <a:srgbClr val="000000">
                <a:alpha val="7840"/>
              </a:srgbClr>
            </a:outerShdw>
          </a:effectLst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g3f22fe52246_0_64"/>
          <p:cNvSpPr txBox="1"/>
          <p:nvPr/>
        </p:nvSpPr>
        <p:spPr>
          <a:xfrm>
            <a:off x="731519" y="1234439"/>
            <a:ext cx="7680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LLM </a:t>
            </a:r>
            <a:r>
              <a:rPr b="1" lang="en-US" sz="18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학습 과정</a:t>
            </a:r>
            <a:endParaRPr sz="16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g3f22fe52246_0_64"/>
          <p:cNvSpPr/>
          <p:nvPr/>
        </p:nvSpPr>
        <p:spPr>
          <a:xfrm>
            <a:off x="1461750" y="2079925"/>
            <a:ext cx="2238000" cy="14496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사전학습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(Pre-training)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g3f22fe52246_0_64"/>
          <p:cNvSpPr/>
          <p:nvPr/>
        </p:nvSpPr>
        <p:spPr>
          <a:xfrm>
            <a:off x="5334750" y="2079925"/>
            <a:ext cx="2238000" cy="14496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미세조정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(Fine-tuning)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g3f22fe52246_0_64"/>
          <p:cNvSpPr txBox="1"/>
          <p:nvPr/>
        </p:nvSpPr>
        <p:spPr>
          <a:xfrm>
            <a:off x="1325250" y="3747025"/>
            <a:ext cx="25110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대량의 텍스트를 학습하며 모델의 전반적인 언어에 대한 이해도를 높이는 과정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g3f22fe52246_0_64"/>
          <p:cNvSpPr txBox="1"/>
          <p:nvPr/>
        </p:nvSpPr>
        <p:spPr>
          <a:xfrm>
            <a:off x="5198250" y="3854875"/>
            <a:ext cx="2511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특정 작업에 대한 성능을 향상시키기 위해 수행하는 과정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f22fe52246_0_87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A5C"/>
          </a:solidFill>
          <a:ln cap="flat" cmpd="sng" w="12700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g3f22fe52246_0_87"/>
          <p:cNvSpPr/>
          <p:nvPr/>
        </p:nvSpPr>
        <p:spPr>
          <a:xfrm>
            <a:off x="336316" y="297179"/>
            <a:ext cx="1280100" cy="320100"/>
          </a:xfrm>
          <a:prstGeom prst="roundRect">
            <a:avLst>
              <a:gd fmla="val 14286" name="adj"/>
            </a:avLst>
          </a:prstGeom>
          <a:solidFill>
            <a:srgbClr val="E8402A"/>
          </a:solidFill>
          <a:ln cap="flat" cmpd="sng" w="12700">
            <a:solidFill>
              <a:srgbClr val="E840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g3f22fe52246_0_87"/>
          <p:cNvSpPr txBox="1"/>
          <p:nvPr/>
        </p:nvSpPr>
        <p:spPr>
          <a:xfrm>
            <a:off x="336316" y="387350"/>
            <a:ext cx="1280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Helvetica Neue"/>
              <a:buNone/>
            </a:pPr>
            <a:r>
              <a:rPr b="1" lang="en-US" sz="9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LLM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g3f22fe52246_0_87"/>
          <p:cNvSpPr txBox="1"/>
          <p:nvPr/>
        </p:nvSpPr>
        <p:spPr>
          <a:xfrm>
            <a:off x="1920239" y="285750"/>
            <a:ext cx="6766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LLM은 어떻게 만들어지는가?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g3f22fe52246_0_87"/>
          <p:cNvSpPr/>
          <p:nvPr/>
        </p:nvSpPr>
        <p:spPr>
          <a:xfrm>
            <a:off x="457200" y="1051560"/>
            <a:ext cx="8229600" cy="3909000"/>
          </a:xfrm>
          <a:prstGeom prst="roundRect">
            <a:avLst>
              <a:gd fmla="val 1871" name="adj"/>
            </a:avLst>
          </a:prstGeom>
          <a:solidFill>
            <a:srgbClr val="F4F6F9"/>
          </a:solidFill>
          <a:ln cap="flat" cmpd="sng" w="12700">
            <a:solidFill>
              <a:srgbClr val="D8DDE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dir="2700000" dist="25400">
              <a:srgbClr val="000000">
                <a:alpha val="7840"/>
              </a:srgbClr>
            </a:outerShdw>
          </a:effectLst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g3f22fe52246_0_87"/>
          <p:cNvSpPr txBox="1"/>
          <p:nvPr/>
        </p:nvSpPr>
        <p:spPr>
          <a:xfrm>
            <a:off x="731519" y="1234439"/>
            <a:ext cx="7680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LLM </a:t>
            </a:r>
            <a:r>
              <a:rPr b="1" lang="en-US" sz="18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사전 학습</a:t>
            </a:r>
            <a:endParaRPr sz="16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g3f22fe52246_0_87"/>
          <p:cNvSpPr txBox="1"/>
          <p:nvPr/>
        </p:nvSpPr>
        <p:spPr>
          <a:xfrm>
            <a:off x="889525" y="1801150"/>
            <a:ext cx="75228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●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일반적으로 AI 모델 학습에는 다량의 라벨링된 데이터가 필요함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●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전세계에 존재하는 수많은 텍스트들을 어떻게 전부 라벨링하고 어떻게 학습 시킬 것인가?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g3f22fe52246_0_87"/>
          <p:cNvSpPr/>
          <p:nvPr/>
        </p:nvSpPr>
        <p:spPr>
          <a:xfrm>
            <a:off x="1039075" y="2730025"/>
            <a:ext cx="7053300" cy="1952100"/>
          </a:xfrm>
          <a:prstGeom prst="roundRect">
            <a:avLst>
              <a:gd fmla="val 10001" name="adj"/>
            </a:avLst>
          </a:prstGeom>
          <a:solidFill>
            <a:srgbClr val="D8DDE6"/>
          </a:solidFill>
          <a:ln cap="flat" cmpd="sng" w="9525">
            <a:solidFill>
              <a:srgbClr val="EBEC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g3f22fe52246_0_87"/>
          <p:cNvSpPr txBox="1"/>
          <p:nvPr/>
        </p:nvSpPr>
        <p:spPr>
          <a:xfrm>
            <a:off x="1039075" y="2857200"/>
            <a:ext cx="31881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202122"/>
                </a:solidFill>
                <a:highlight>
                  <a:srgbClr val="FFFFFF"/>
                </a:highlight>
              </a:rPr>
              <a:t>측천무후</a:t>
            </a:r>
            <a:r>
              <a:rPr lang="en-US" sz="1200">
                <a:solidFill>
                  <a:srgbClr val="202122"/>
                </a:solidFill>
                <a:highlight>
                  <a:srgbClr val="FFFFFF"/>
                </a:highlight>
              </a:rPr>
              <a:t>(則天武后, </a:t>
            </a:r>
            <a:r>
              <a:rPr lang="en-US" sz="1200">
                <a:solidFill>
                  <a:srgbClr val="3366CC"/>
                </a:solidFill>
                <a:highlight>
                  <a:srgbClr val="FFFFFF"/>
                </a:highlight>
                <a:uFill>
                  <a:noFill/>
                </a:u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624년</a:t>
            </a:r>
            <a:r>
              <a:rPr lang="en-US" sz="1200">
                <a:solidFill>
                  <a:srgbClr val="202122"/>
                </a:solidFill>
                <a:highlight>
                  <a:srgbClr val="FFFFFF"/>
                </a:highlight>
              </a:rPr>
              <a:t> </a:t>
            </a:r>
            <a:r>
              <a:rPr lang="en-US" sz="1200">
                <a:solidFill>
                  <a:srgbClr val="3366CC"/>
                </a:solidFill>
                <a:highlight>
                  <a:srgbClr val="FFFFFF"/>
                </a:highlight>
                <a:uFill>
                  <a:noFill/>
                </a:u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2월 17일</a:t>
            </a:r>
            <a:r>
              <a:rPr lang="en-US" sz="1200">
                <a:solidFill>
                  <a:srgbClr val="202122"/>
                </a:solidFill>
                <a:highlight>
                  <a:srgbClr val="FFFFFF"/>
                </a:highlight>
              </a:rPr>
              <a:t>(</a:t>
            </a:r>
            <a:r>
              <a:rPr lang="en-US" sz="1200">
                <a:solidFill>
                  <a:srgbClr val="3366CC"/>
                </a:solidFill>
                <a:highlight>
                  <a:srgbClr val="FFFFFF"/>
                </a:highlight>
                <a:uFill>
                  <a:noFill/>
                </a:uFill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음력 1월 23일</a:t>
            </a:r>
            <a:r>
              <a:rPr lang="en-US" sz="1200">
                <a:solidFill>
                  <a:srgbClr val="202122"/>
                </a:solidFill>
                <a:highlight>
                  <a:srgbClr val="FFFFFF"/>
                </a:highlight>
              </a:rPr>
              <a:t>) ~ </a:t>
            </a:r>
            <a:r>
              <a:rPr lang="en-US" sz="1200">
                <a:solidFill>
                  <a:srgbClr val="3366CC"/>
                </a:solidFill>
                <a:highlight>
                  <a:srgbClr val="FFFFFF"/>
                </a:highlight>
                <a:uFill>
                  <a:noFill/>
                </a:uFill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705년</a:t>
            </a:r>
            <a:r>
              <a:rPr lang="en-US" sz="1200">
                <a:solidFill>
                  <a:srgbClr val="202122"/>
                </a:solidFill>
                <a:highlight>
                  <a:srgbClr val="FFFFFF"/>
                </a:highlight>
              </a:rPr>
              <a:t> </a:t>
            </a:r>
            <a:r>
              <a:rPr lang="en-US" sz="1200">
                <a:solidFill>
                  <a:srgbClr val="3366CC"/>
                </a:solidFill>
                <a:highlight>
                  <a:srgbClr val="FFFFFF"/>
                </a:highlight>
                <a:uFill>
                  <a:noFill/>
                </a:uFill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12월 16일</a:t>
            </a:r>
            <a:r>
              <a:rPr lang="en-US" sz="1200">
                <a:solidFill>
                  <a:srgbClr val="202122"/>
                </a:solidFill>
                <a:highlight>
                  <a:srgbClr val="FFFFFF"/>
                </a:highlight>
              </a:rPr>
              <a:t>(</a:t>
            </a:r>
            <a:r>
              <a:rPr lang="en-US" sz="1200">
                <a:solidFill>
                  <a:srgbClr val="3366CC"/>
                </a:solidFill>
                <a:highlight>
                  <a:srgbClr val="FFFFFF"/>
                </a:highlight>
                <a:uFill>
                  <a:noFill/>
                </a:uFill>
                <a:hlinkClick r:id="rId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음력 11월 26일</a:t>
            </a:r>
            <a:r>
              <a:rPr lang="en-US" sz="1200">
                <a:solidFill>
                  <a:srgbClr val="202122"/>
                </a:solidFill>
                <a:highlight>
                  <a:srgbClr val="FFFFFF"/>
                </a:highlight>
              </a:rPr>
              <a:t>))는 중국 </a:t>
            </a:r>
            <a:r>
              <a:rPr lang="en-US" sz="1200">
                <a:solidFill>
                  <a:srgbClr val="3366CC"/>
                </a:solidFill>
                <a:highlight>
                  <a:srgbClr val="FFFFFF"/>
                </a:highlight>
                <a:uFill>
                  <a:noFill/>
                </a:uFill>
                <a:hlinkClick r:id="rId9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당나라</a:t>
            </a:r>
            <a:r>
              <a:rPr lang="en-US" sz="1200">
                <a:solidFill>
                  <a:srgbClr val="202122"/>
                </a:solidFill>
                <a:highlight>
                  <a:srgbClr val="FFFFFF"/>
                </a:highlight>
              </a:rPr>
              <a:t> 제3대 황제 </a:t>
            </a:r>
            <a:r>
              <a:rPr lang="en-US" sz="1200">
                <a:solidFill>
                  <a:srgbClr val="3366CC"/>
                </a:solidFill>
                <a:highlight>
                  <a:srgbClr val="FFFFFF"/>
                </a:highlight>
                <a:uFill>
                  <a:noFill/>
                </a:uFill>
                <a:hlinkClick r:id="rId10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고종</a:t>
            </a:r>
            <a:r>
              <a:rPr lang="en-US" sz="1200">
                <a:solidFill>
                  <a:srgbClr val="202122"/>
                </a:solidFill>
                <a:highlight>
                  <a:srgbClr val="FFFFFF"/>
                </a:highlight>
              </a:rPr>
              <a:t>의 황후이자 </a:t>
            </a:r>
            <a:r>
              <a:rPr lang="en-US" sz="1200">
                <a:solidFill>
                  <a:srgbClr val="3366CC"/>
                </a:solidFill>
                <a:highlight>
                  <a:srgbClr val="FFFFFF"/>
                </a:highlight>
                <a:uFill>
                  <a:noFill/>
                </a:uFill>
                <a:hlinkClick r:id="rId11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무주</a:t>
            </a:r>
            <a:r>
              <a:rPr lang="en-US" sz="1200">
                <a:solidFill>
                  <a:srgbClr val="202122"/>
                </a:solidFill>
                <a:highlight>
                  <a:srgbClr val="FFFFFF"/>
                </a:highlight>
              </a:rPr>
              <a:t>(武周)의 여제이다. </a:t>
            </a:r>
            <a:r>
              <a:rPr b="1" lang="en-US" sz="1200">
                <a:solidFill>
                  <a:srgbClr val="202122"/>
                </a:solidFill>
                <a:highlight>
                  <a:srgbClr val="FFFFFF"/>
                </a:highlight>
              </a:rPr>
              <a:t>무측천</a:t>
            </a:r>
            <a:r>
              <a:rPr lang="en-US" sz="1200">
                <a:solidFill>
                  <a:srgbClr val="202122"/>
                </a:solidFill>
                <a:highlight>
                  <a:srgbClr val="FFFFFF"/>
                </a:highlight>
              </a:rPr>
              <a:t>(</a:t>
            </a:r>
            <a:r>
              <a:rPr lang="en-US" sz="1200">
                <a:solidFill>
                  <a:srgbClr val="3366CC"/>
                </a:solidFill>
                <a:highlight>
                  <a:srgbClr val="FFFFFF"/>
                </a:highlight>
                <a:uFill>
                  <a:noFill/>
                </a:uFill>
                <a:hlinkClick r:id="rId1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중국어</a:t>
            </a:r>
            <a:r>
              <a:rPr lang="en-US" sz="1200">
                <a:solidFill>
                  <a:srgbClr val="202122"/>
                </a:solidFill>
                <a:highlight>
                  <a:srgbClr val="FFFFFF"/>
                </a:highlight>
              </a:rPr>
              <a:t>: 武則天, </a:t>
            </a:r>
            <a:r>
              <a:rPr lang="en-US" sz="1200">
                <a:solidFill>
                  <a:srgbClr val="3366CC"/>
                </a:solidFill>
                <a:highlight>
                  <a:srgbClr val="FFFFFF"/>
                </a:highlight>
                <a:uFill>
                  <a:noFill/>
                </a:uFill>
                <a:hlinkClick r:id="rId1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병음</a:t>
            </a:r>
            <a:r>
              <a:rPr lang="en-US" sz="1200">
                <a:solidFill>
                  <a:srgbClr val="202122"/>
                </a:solidFill>
                <a:highlight>
                  <a:srgbClr val="FFFFFF"/>
                </a:highlight>
              </a:rPr>
              <a:t>: Wǔ Zétiān 우쩌톈</a:t>
            </a:r>
            <a:r>
              <a:rPr baseline="30000" lang="en-US" sz="1200">
                <a:solidFill>
                  <a:srgbClr val="202122"/>
                </a:solidFill>
                <a:highlight>
                  <a:srgbClr val="FFFFFF"/>
                </a:highlight>
              </a:rPr>
              <a:t>[</a:t>
            </a:r>
            <a:r>
              <a:rPr baseline="30000" lang="en-US" sz="1200">
                <a:solidFill>
                  <a:srgbClr val="3366CC"/>
                </a:solidFill>
                <a:highlight>
                  <a:srgbClr val="FFFFFF"/>
                </a:highlight>
                <a:uFill>
                  <a:noFill/>
                </a:uFill>
                <a:hlinkClick r:id="rId1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*</a:t>
            </a:r>
            <a:r>
              <a:rPr baseline="30000" lang="en-US" sz="1200">
                <a:solidFill>
                  <a:srgbClr val="202122"/>
                </a:solidFill>
                <a:highlight>
                  <a:srgbClr val="FFFFFF"/>
                </a:highlight>
              </a:rPr>
              <a:t>]</a:t>
            </a:r>
            <a:r>
              <a:rPr lang="en-US" sz="1200">
                <a:solidFill>
                  <a:srgbClr val="202122"/>
                </a:solidFill>
                <a:highlight>
                  <a:srgbClr val="FFFFFF"/>
                </a:highlight>
              </a:rPr>
              <a:t>)이라 부르기도 한다. 공포 정치를 했다는 비난과, 민생을 보살펴 나라를 훌륭히 다스린 여제라는 상반된 평가를 받고 있다.</a:t>
            </a:r>
            <a:r>
              <a:rPr lang="en-US" sz="1200">
                <a:solidFill>
                  <a:schemeClr val="dk1"/>
                </a:solidFill>
              </a:rPr>
              <a:t> 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g3f22fe52246_0_87"/>
          <p:cNvSpPr txBox="1"/>
          <p:nvPr/>
        </p:nvSpPr>
        <p:spPr>
          <a:xfrm>
            <a:off x="4526350" y="2780100"/>
            <a:ext cx="3566100" cy="173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rgbClr val="1F1F1F"/>
                </a:solidFill>
                <a:highlight>
                  <a:srgbClr val="FFFFFF"/>
                </a:highlight>
              </a:rPr>
              <a:t>와 오늘 편의점 신메뉴 먹어봤는데 이거 진짜 레전드임 왜 이제 나온 거임?</a:t>
            </a:r>
            <a:endParaRPr sz="12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rgbClr val="1F1F1F"/>
                </a:solidFill>
                <a:highlight>
                  <a:srgbClr val="FFFFFF"/>
                </a:highlight>
              </a:rPr>
              <a:t>요즘 날씨가 미쳤나 6월인데 이게 무슨 찜통이야 에어컨 없으면 집에서 못 버팀</a:t>
            </a:r>
            <a:endParaRPr sz="12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>
                <a:solidFill>
                  <a:srgbClr val="1F1F1F"/>
                </a:solidFill>
                <a:highlight>
                  <a:srgbClr val="FFFFFF"/>
                </a:highlight>
              </a:rPr>
              <a:t>주말에 볼 넷플릭스 추천 좀요 어제 정주행한 거 다 봐버려서 볼 게 없음 ㅠ</a:t>
            </a:r>
            <a:endParaRPr sz="1200">
              <a:solidFill>
                <a:srgbClr val="1F1F1F"/>
              </a:solidFill>
              <a:highlight>
                <a:srgbClr val="FFFFFF"/>
              </a:highlight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f22fe52246_0_134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A5C"/>
          </a:solidFill>
          <a:ln cap="flat" cmpd="sng" w="12700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g3f22fe52246_0_134"/>
          <p:cNvSpPr/>
          <p:nvPr/>
        </p:nvSpPr>
        <p:spPr>
          <a:xfrm>
            <a:off x="336316" y="297179"/>
            <a:ext cx="1280100" cy="320100"/>
          </a:xfrm>
          <a:prstGeom prst="roundRect">
            <a:avLst>
              <a:gd fmla="val 14286" name="adj"/>
            </a:avLst>
          </a:prstGeom>
          <a:solidFill>
            <a:srgbClr val="E8402A"/>
          </a:solidFill>
          <a:ln cap="flat" cmpd="sng" w="12700">
            <a:solidFill>
              <a:srgbClr val="E840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g3f22fe52246_0_134"/>
          <p:cNvSpPr txBox="1"/>
          <p:nvPr/>
        </p:nvSpPr>
        <p:spPr>
          <a:xfrm>
            <a:off x="336316" y="387350"/>
            <a:ext cx="1280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Helvetica Neue"/>
              <a:buNone/>
            </a:pPr>
            <a:r>
              <a:rPr b="1" lang="en-US" sz="9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LLM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g3f22fe52246_0_134"/>
          <p:cNvSpPr txBox="1"/>
          <p:nvPr/>
        </p:nvSpPr>
        <p:spPr>
          <a:xfrm>
            <a:off x="1920239" y="285750"/>
            <a:ext cx="6766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LLM은 어떻게 만들어지는가?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g3f22fe52246_0_134"/>
          <p:cNvSpPr/>
          <p:nvPr/>
        </p:nvSpPr>
        <p:spPr>
          <a:xfrm>
            <a:off x="457200" y="1051560"/>
            <a:ext cx="8229600" cy="3909000"/>
          </a:xfrm>
          <a:prstGeom prst="roundRect">
            <a:avLst>
              <a:gd fmla="val 1871" name="adj"/>
            </a:avLst>
          </a:prstGeom>
          <a:solidFill>
            <a:srgbClr val="F4F6F9"/>
          </a:solidFill>
          <a:ln cap="flat" cmpd="sng" w="12700">
            <a:solidFill>
              <a:srgbClr val="D8DDE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dir="2700000" dist="25400">
              <a:srgbClr val="000000">
                <a:alpha val="7840"/>
              </a:srgbClr>
            </a:outerShdw>
          </a:effectLst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g3f22fe52246_0_134"/>
          <p:cNvSpPr txBox="1"/>
          <p:nvPr/>
        </p:nvSpPr>
        <p:spPr>
          <a:xfrm>
            <a:off x="731519" y="1234439"/>
            <a:ext cx="7680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LLM 사전 학습</a:t>
            </a:r>
            <a:endParaRPr sz="16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g3f22fe52246_0_134"/>
          <p:cNvSpPr/>
          <p:nvPr/>
        </p:nvSpPr>
        <p:spPr>
          <a:xfrm>
            <a:off x="787175" y="1826300"/>
            <a:ext cx="3377100" cy="306900"/>
          </a:xfrm>
          <a:prstGeom prst="roundRect">
            <a:avLst>
              <a:gd fmla="val 16667" name="adj"/>
            </a:avLst>
          </a:prstGeom>
          <a:solidFill>
            <a:srgbClr val="1A3A5C"/>
          </a:solidFill>
          <a:ln cap="flat" cmpd="sng" w="38100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GPT</a:t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g3f22fe52246_0_134"/>
          <p:cNvSpPr/>
          <p:nvPr/>
        </p:nvSpPr>
        <p:spPr>
          <a:xfrm>
            <a:off x="5035325" y="1826300"/>
            <a:ext cx="3377100" cy="306900"/>
          </a:xfrm>
          <a:prstGeom prst="roundRect">
            <a:avLst>
              <a:gd fmla="val 16667" name="adj"/>
            </a:avLst>
          </a:prstGeom>
          <a:solidFill>
            <a:srgbClr val="1A3A5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BERT</a:t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g3f22fe52246_0_134"/>
          <p:cNvSpPr/>
          <p:nvPr/>
        </p:nvSpPr>
        <p:spPr>
          <a:xfrm>
            <a:off x="787175" y="2231025"/>
            <a:ext cx="3377100" cy="2440200"/>
          </a:xfrm>
          <a:prstGeom prst="roundRect">
            <a:avLst>
              <a:gd fmla="val 10001" name="adj"/>
            </a:avLst>
          </a:prstGeom>
          <a:solidFill>
            <a:srgbClr val="D8DDE6"/>
          </a:solidFill>
          <a:ln cap="flat" cmpd="sng" w="9525">
            <a:solidFill>
              <a:srgbClr val="EBEC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g3f22fe52246_0_134"/>
          <p:cNvSpPr/>
          <p:nvPr/>
        </p:nvSpPr>
        <p:spPr>
          <a:xfrm>
            <a:off x="5035325" y="2231025"/>
            <a:ext cx="3377100" cy="2440200"/>
          </a:xfrm>
          <a:prstGeom prst="roundRect">
            <a:avLst>
              <a:gd fmla="val 9465" name="adj"/>
            </a:avLst>
          </a:prstGeom>
          <a:solidFill>
            <a:srgbClr val="D8DDE6"/>
          </a:solidFill>
          <a:ln cap="flat" cmpd="sng" w="9525">
            <a:solidFill>
              <a:srgbClr val="EBEC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g3f22fe52246_0_134"/>
          <p:cNvSpPr txBox="1"/>
          <p:nvPr/>
        </p:nvSpPr>
        <p:spPr>
          <a:xfrm>
            <a:off x="787175" y="3830275"/>
            <a:ext cx="1280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오늘의 날씨는</a:t>
            </a:r>
            <a:endParaRPr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g3f22fe52246_0_134"/>
          <p:cNvSpPr txBox="1"/>
          <p:nvPr/>
        </p:nvSpPr>
        <p:spPr>
          <a:xfrm>
            <a:off x="2298575" y="3430075"/>
            <a:ext cx="913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맑습니다</a:t>
            </a:r>
            <a:endParaRPr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g3f22fe52246_0_134"/>
          <p:cNvSpPr txBox="1"/>
          <p:nvPr/>
        </p:nvSpPr>
        <p:spPr>
          <a:xfrm>
            <a:off x="2298575" y="3830275"/>
            <a:ext cx="913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흐립니다</a:t>
            </a:r>
            <a:endParaRPr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g3f22fe52246_0_134"/>
          <p:cNvSpPr txBox="1"/>
          <p:nvPr/>
        </p:nvSpPr>
        <p:spPr>
          <a:xfrm>
            <a:off x="2298575" y="4263225"/>
            <a:ext cx="1047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맑을까요?</a:t>
            </a:r>
            <a:endParaRPr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1" name="Google Shape;231;g3f22fe52246_0_134"/>
          <p:cNvCxnSpPr>
            <a:stCxn id="227" idx="3"/>
            <a:endCxn id="228" idx="1"/>
          </p:cNvCxnSpPr>
          <p:nvPr/>
        </p:nvCxnSpPr>
        <p:spPr>
          <a:xfrm flipH="1" rot="10800000">
            <a:off x="2067275" y="3630175"/>
            <a:ext cx="231300" cy="400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2" name="Google Shape;232;g3f22fe52246_0_134"/>
          <p:cNvCxnSpPr>
            <a:stCxn id="227" idx="3"/>
            <a:endCxn id="229" idx="1"/>
          </p:cNvCxnSpPr>
          <p:nvPr/>
        </p:nvCxnSpPr>
        <p:spPr>
          <a:xfrm>
            <a:off x="2067275" y="4030375"/>
            <a:ext cx="2313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3" name="Google Shape;233;g3f22fe52246_0_134"/>
          <p:cNvCxnSpPr>
            <a:stCxn id="227" idx="3"/>
            <a:endCxn id="230" idx="1"/>
          </p:cNvCxnSpPr>
          <p:nvPr/>
        </p:nvCxnSpPr>
        <p:spPr>
          <a:xfrm>
            <a:off x="2067275" y="4030375"/>
            <a:ext cx="231300" cy="432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34" name="Google Shape;234;g3f22fe52246_0_134"/>
          <p:cNvSpPr txBox="1"/>
          <p:nvPr/>
        </p:nvSpPr>
        <p:spPr>
          <a:xfrm>
            <a:off x="3487175" y="3251025"/>
            <a:ext cx="913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하지만</a:t>
            </a:r>
            <a:endParaRPr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g3f22fe52246_0_134"/>
          <p:cNvSpPr txBox="1"/>
          <p:nvPr/>
        </p:nvSpPr>
        <p:spPr>
          <a:xfrm>
            <a:off x="3487175" y="3651225"/>
            <a:ext cx="913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내일은</a:t>
            </a:r>
            <a:endParaRPr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6" name="Google Shape;236;g3f22fe52246_0_134"/>
          <p:cNvCxnSpPr>
            <a:stCxn id="228" idx="3"/>
            <a:endCxn id="234" idx="1"/>
          </p:cNvCxnSpPr>
          <p:nvPr/>
        </p:nvCxnSpPr>
        <p:spPr>
          <a:xfrm flipH="1" rot="10800000">
            <a:off x="3211775" y="3451075"/>
            <a:ext cx="275400" cy="179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7" name="Google Shape;237;g3f22fe52246_0_134"/>
          <p:cNvCxnSpPr>
            <a:stCxn id="228" idx="3"/>
            <a:endCxn id="235" idx="1"/>
          </p:cNvCxnSpPr>
          <p:nvPr/>
        </p:nvCxnSpPr>
        <p:spPr>
          <a:xfrm>
            <a:off x="3211775" y="3630175"/>
            <a:ext cx="275400" cy="221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38" name="Google Shape;238;g3f22fe52246_0_134"/>
          <p:cNvSpPr txBox="1"/>
          <p:nvPr/>
        </p:nvSpPr>
        <p:spPr>
          <a:xfrm>
            <a:off x="787175" y="2334200"/>
            <a:ext cx="3377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오늘의 날씨는 </a:t>
            </a:r>
            <a:r>
              <a:rPr lang="en-US"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맑을 것으로 예상됩니다.</a:t>
            </a:r>
            <a:endParaRPr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9" name="Google Shape;239;g3f22fe52246_0_134"/>
          <p:cNvCxnSpPr>
            <a:stCxn id="238" idx="2"/>
          </p:cNvCxnSpPr>
          <p:nvPr/>
        </p:nvCxnSpPr>
        <p:spPr>
          <a:xfrm>
            <a:off x="2475725" y="2734400"/>
            <a:ext cx="0" cy="611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40" name="Google Shape;240;g3f22fe52246_0_134"/>
          <p:cNvSpPr txBox="1"/>
          <p:nvPr/>
        </p:nvSpPr>
        <p:spPr>
          <a:xfrm>
            <a:off x="5035325" y="2334200"/>
            <a:ext cx="3377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오늘의 날씨는 맑을 것으로 예상됩니다.</a:t>
            </a:r>
            <a:endParaRPr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g3f22fe52246_0_134"/>
          <p:cNvSpPr txBox="1"/>
          <p:nvPr/>
        </p:nvSpPr>
        <p:spPr>
          <a:xfrm>
            <a:off x="4998575" y="3335050"/>
            <a:ext cx="3450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오늘의 </a:t>
            </a:r>
            <a:r>
              <a:rPr lang="en-US">
                <a:solidFill>
                  <a:schemeClr val="accent2"/>
                </a:solidFill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[MASK]</a:t>
            </a:r>
            <a:r>
              <a:rPr lang="en-US"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는 맑을 것으로 </a:t>
            </a:r>
            <a:r>
              <a:rPr lang="en-US">
                <a:solidFill>
                  <a:schemeClr val="accent2"/>
                </a:solidFill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[MASK]</a:t>
            </a:r>
            <a:r>
              <a:rPr lang="en-US"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됩니다.</a:t>
            </a:r>
            <a:endParaRPr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2" name="Google Shape;242;g3f22fe52246_0_134"/>
          <p:cNvCxnSpPr>
            <a:stCxn id="240" idx="2"/>
            <a:endCxn id="241" idx="0"/>
          </p:cNvCxnSpPr>
          <p:nvPr/>
        </p:nvCxnSpPr>
        <p:spPr>
          <a:xfrm>
            <a:off x="6723875" y="2734400"/>
            <a:ext cx="0" cy="600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3f22fe52246_0_22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A5C"/>
          </a:solidFill>
          <a:ln cap="flat" cmpd="sng" w="12700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g3f22fe52246_0_220"/>
          <p:cNvSpPr/>
          <p:nvPr/>
        </p:nvSpPr>
        <p:spPr>
          <a:xfrm>
            <a:off x="336316" y="297179"/>
            <a:ext cx="1280100" cy="320100"/>
          </a:xfrm>
          <a:prstGeom prst="roundRect">
            <a:avLst>
              <a:gd fmla="val 14286" name="adj"/>
            </a:avLst>
          </a:prstGeom>
          <a:solidFill>
            <a:srgbClr val="E8402A"/>
          </a:solidFill>
          <a:ln cap="flat" cmpd="sng" w="12700">
            <a:solidFill>
              <a:srgbClr val="E840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g3f22fe52246_0_220"/>
          <p:cNvSpPr txBox="1"/>
          <p:nvPr/>
        </p:nvSpPr>
        <p:spPr>
          <a:xfrm>
            <a:off x="336316" y="387350"/>
            <a:ext cx="1280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Helvetica Neue"/>
              <a:buNone/>
            </a:pPr>
            <a:r>
              <a:rPr b="1" lang="en-US" sz="9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LLM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g3f22fe52246_0_220"/>
          <p:cNvSpPr txBox="1"/>
          <p:nvPr/>
        </p:nvSpPr>
        <p:spPr>
          <a:xfrm>
            <a:off x="1920239" y="285750"/>
            <a:ext cx="6766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LLM은 어떻게 만들어지는가?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g3f22fe52246_0_220"/>
          <p:cNvSpPr/>
          <p:nvPr/>
        </p:nvSpPr>
        <p:spPr>
          <a:xfrm>
            <a:off x="457200" y="1051560"/>
            <a:ext cx="8229600" cy="3909000"/>
          </a:xfrm>
          <a:prstGeom prst="roundRect">
            <a:avLst>
              <a:gd fmla="val 1871" name="adj"/>
            </a:avLst>
          </a:prstGeom>
          <a:solidFill>
            <a:srgbClr val="F4F6F9"/>
          </a:solidFill>
          <a:ln cap="flat" cmpd="sng" w="12700">
            <a:solidFill>
              <a:srgbClr val="D8DDE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dir="2700000" dist="25400">
              <a:srgbClr val="000000">
                <a:alpha val="7840"/>
              </a:srgbClr>
            </a:outerShdw>
          </a:effectLst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g3f22fe52246_0_220"/>
          <p:cNvSpPr txBox="1"/>
          <p:nvPr/>
        </p:nvSpPr>
        <p:spPr>
          <a:xfrm>
            <a:off x="731519" y="1234439"/>
            <a:ext cx="7680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LLM </a:t>
            </a:r>
            <a:r>
              <a:rPr b="1" lang="en-US" sz="18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미세 조정</a:t>
            </a:r>
            <a:endParaRPr sz="16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g3f22fe52246_0_220"/>
          <p:cNvSpPr txBox="1"/>
          <p:nvPr/>
        </p:nvSpPr>
        <p:spPr>
          <a:xfrm>
            <a:off x="787175" y="1668438"/>
            <a:ext cx="7522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●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사전학습된 모델을 원하는 task에 특화되도록 유도하는 작업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g3f22fe52246_0_220"/>
          <p:cNvSpPr/>
          <p:nvPr/>
        </p:nvSpPr>
        <p:spPr>
          <a:xfrm>
            <a:off x="787175" y="2133325"/>
            <a:ext cx="3377100" cy="306900"/>
          </a:xfrm>
          <a:prstGeom prst="roundRect">
            <a:avLst>
              <a:gd fmla="val 16667" name="adj"/>
            </a:avLst>
          </a:prstGeom>
          <a:solidFill>
            <a:srgbClr val="1A3A5C"/>
          </a:solidFill>
          <a:ln cap="flat" cmpd="sng" w="38100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GPT</a:t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g3f22fe52246_0_220"/>
          <p:cNvSpPr/>
          <p:nvPr/>
        </p:nvSpPr>
        <p:spPr>
          <a:xfrm>
            <a:off x="5035325" y="2133325"/>
            <a:ext cx="3377100" cy="306900"/>
          </a:xfrm>
          <a:prstGeom prst="roundRect">
            <a:avLst>
              <a:gd fmla="val 16667" name="adj"/>
            </a:avLst>
          </a:prstGeom>
          <a:solidFill>
            <a:srgbClr val="1A3A5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BERT</a:t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g3f22fe52246_0_220"/>
          <p:cNvSpPr/>
          <p:nvPr/>
        </p:nvSpPr>
        <p:spPr>
          <a:xfrm>
            <a:off x="787175" y="2538050"/>
            <a:ext cx="3377100" cy="2342400"/>
          </a:xfrm>
          <a:prstGeom prst="roundRect">
            <a:avLst>
              <a:gd fmla="val 10001" name="adj"/>
            </a:avLst>
          </a:prstGeom>
          <a:solidFill>
            <a:srgbClr val="D8DDE6"/>
          </a:solidFill>
          <a:ln cap="flat" cmpd="sng" w="9525">
            <a:solidFill>
              <a:srgbClr val="EBEC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g3f22fe52246_0_220"/>
          <p:cNvSpPr/>
          <p:nvPr/>
        </p:nvSpPr>
        <p:spPr>
          <a:xfrm>
            <a:off x="5035325" y="2538050"/>
            <a:ext cx="3377100" cy="2342400"/>
          </a:xfrm>
          <a:prstGeom prst="roundRect">
            <a:avLst>
              <a:gd fmla="val 9465" name="adj"/>
            </a:avLst>
          </a:prstGeom>
          <a:solidFill>
            <a:srgbClr val="D8DDE6"/>
          </a:solidFill>
          <a:ln cap="flat" cmpd="sng" w="9525">
            <a:solidFill>
              <a:srgbClr val="EBEC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g3f22fe52246_0_220"/>
          <p:cNvSpPr txBox="1"/>
          <p:nvPr/>
        </p:nvSpPr>
        <p:spPr>
          <a:xfrm>
            <a:off x="787175" y="2538050"/>
            <a:ext cx="3377100" cy="255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입력</a:t>
            </a:r>
            <a:r>
              <a:rPr lang="en-US"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 : </a:t>
            </a:r>
            <a:endParaRPr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FFT 변환을 수행하는 파이썬 코드를 작성해줘.</a:t>
            </a:r>
            <a:endParaRPr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출력</a:t>
            </a:r>
            <a:r>
              <a:rPr lang="en-US"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 : </a:t>
            </a:r>
            <a:endParaRPr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네, 다음은 입력된 신호에 FFT 변환을 적용하는 파이썬 코드입니다.</a:t>
            </a:r>
            <a:endParaRPr>
              <a:solidFill>
                <a:schemeClr val="dk1"/>
              </a:solidFill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import numpy as np</a:t>
            </a:r>
            <a:endParaRPr>
              <a:solidFill>
                <a:schemeClr val="dk1"/>
              </a:solidFill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…</a:t>
            </a:r>
            <a:endParaRPr>
              <a:solidFill>
                <a:schemeClr val="dk1"/>
              </a:solidFill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g3f22fe52246_0_220"/>
          <p:cNvSpPr txBox="1"/>
          <p:nvPr/>
        </p:nvSpPr>
        <p:spPr>
          <a:xfrm>
            <a:off x="5215025" y="3914400"/>
            <a:ext cx="2200200" cy="7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>
                <a:solidFill>
                  <a:srgbClr val="1F1F1F"/>
                </a:solidFill>
                <a:highlight>
                  <a:srgbClr val="FFFFFF"/>
                </a:highlight>
              </a:rPr>
              <a:t>와 오늘 편의점 신메뉴 먹어봤는데 이거 진짜 레전드임 왜 이제 나온 거임?</a:t>
            </a:r>
            <a:endParaRPr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g3f22fe52246_0_220"/>
          <p:cNvSpPr txBox="1"/>
          <p:nvPr/>
        </p:nvSpPr>
        <p:spPr>
          <a:xfrm>
            <a:off x="7691975" y="4103700"/>
            <a:ext cx="618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500">
                <a:solidFill>
                  <a:srgbClr val="1F1F1F"/>
                </a:solidFill>
                <a:highlight>
                  <a:srgbClr val="FFFFFF"/>
                </a:highlight>
              </a:rPr>
              <a:t>긍정</a:t>
            </a:r>
            <a:endParaRPr sz="1700"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61" name="Google Shape;261;g3f22fe52246_0_220"/>
          <p:cNvCxnSpPr>
            <a:stCxn id="259" idx="3"/>
            <a:endCxn id="260" idx="1"/>
          </p:cNvCxnSpPr>
          <p:nvPr/>
        </p:nvCxnSpPr>
        <p:spPr>
          <a:xfrm>
            <a:off x="7415225" y="4311450"/>
            <a:ext cx="276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62" name="Google Shape;262;g3f22fe52246_0_220"/>
          <p:cNvSpPr txBox="1"/>
          <p:nvPr/>
        </p:nvSpPr>
        <p:spPr>
          <a:xfrm>
            <a:off x="5215025" y="2780275"/>
            <a:ext cx="2971800" cy="58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>
                <a:solidFill>
                  <a:srgbClr val="1F1F1F"/>
                </a:solidFill>
                <a:highlight>
                  <a:srgbClr val="FFFFFF"/>
                </a:highlight>
              </a:rPr>
              <a:t>와 오늘 </a:t>
            </a:r>
            <a:r>
              <a:rPr lang="en-US" sz="1200">
                <a:solidFill>
                  <a:schemeClr val="accent2"/>
                </a:solidFill>
                <a:highlight>
                  <a:srgbClr val="FFFFFF"/>
                </a:highlight>
              </a:rPr>
              <a:t>[MASK] </a:t>
            </a:r>
            <a:r>
              <a:rPr lang="en-US" sz="1200">
                <a:solidFill>
                  <a:srgbClr val="1F1F1F"/>
                </a:solidFill>
                <a:highlight>
                  <a:srgbClr val="FFFFFF"/>
                </a:highlight>
              </a:rPr>
              <a:t>신메뉴 먹어봤는데 이거 진짜 </a:t>
            </a:r>
            <a:r>
              <a:rPr lang="en-US" sz="1200">
                <a:solidFill>
                  <a:schemeClr val="accent2"/>
                </a:solidFill>
                <a:highlight>
                  <a:srgbClr val="FFFFFF"/>
                </a:highlight>
              </a:rPr>
              <a:t>[MASK]</a:t>
            </a:r>
            <a:r>
              <a:rPr lang="en-US" sz="1200">
                <a:solidFill>
                  <a:srgbClr val="1F1F1F"/>
                </a:solidFill>
                <a:highlight>
                  <a:srgbClr val="FFFFFF"/>
                </a:highlight>
              </a:rPr>
              <a:t>임 왜 이제 나온 거임?</a:t>
            </a:r>
            <a:endParaRPr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3f22fe52246_0_169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A5C"/>
          </a:solidFill>
          <a:ln cap="flat" cmpd="sng" w="12700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g3f22fe52246_0_169"/>
          <p:cNvSpPr/>
          <p:nvPr/>
        </p:nvSpPr>
        <p:spPr>
          <a:xfrm>
            <a:off x="336316" y="297179"/>
            <a:ext cx="1280100" cy="320100"/>
          </a:xfrm>
          <a:prstGeom prst="roundRect">
            <a:avLst>
              <a:gd fmla="val 14286" name="adj"/>
            </a:avLst>
          </a:prstGeom>
          <a:solidFill>
            <a:srgbClr val="E8402A"/>
          </a:solidFill>
          <a:ln cap="flat" cmpd="sng" w="12700">
            <a:solidFill>
              <a:srgbClr val="E840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g3f22fe52246_0_169"/>
          <p:cNvSpPr txBox="1"/>
          <p:nvPr/>
        </p:nvSpPr>
        <p:spPr>
          <a:xfrm>
            <a:off x="336316" y="387350"/>
            <a:ext cx="1280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Helvetica Neue"/>
              <a:buNone/>
            </a:pPr>
            <a:r>
              <a:rPr b="1" lang="en-US" sz="9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LLM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g3f22fe52246_0_169"/>
          <p:cNvSpPr txBox="1"/>
          <p:nvPr/>
        </p:nvSpPr>
        <p:spPr>
          <a:xfrm>
            <a:off x="1920239" y="285750"/>
            <a:ext cx="6766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LLM은 어떻게 만들어지는가?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g3f22fe52246_0_169"/>
          <p:cNvSpPr/>
          <p:nvPr/>
        </p:nvSpPr>
        <p:spPr>
          <a:xfrm>
            <a:off x="457200" y="1051560"/>
            <a:ext cx="8229600" cy="3909000"/>
          </a:xfrm>
          <a:prstGeom prst="roundRect">
            <a:avLst>
              <a:gd fmla="val 1871" name="adj"/>
            </a:avLst>
          </a:prstGeom>
          <a:solidFill>
            <a:srgbClr val="F4F6F9"/>
          </a:solidFill>
          <a:ln cap="flat" cmpd="sng" w="12700">
            <a:solidFill>
              <a:srgbClr val="D8DDE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dir="2700000" dist="25400">
              <a:srgbClr val="000000">
                <a:alpha val="7840"/>
              </a:srgbClr>
            </a:outerShdw>
          </a:effectLst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g3f22fe52246_0_169"/>
          <p:cNvSpPr txBox="1"/>
          <p:nvPr/>
        </p:nvSpPr>
        <p:spPr>
          <a:xfrm>
            <a:off x="731519" y="1234439"/>
            <a:ext cx="7680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LLM </a:t>
            </a:r>
            <a:r>
              <a:rPr b="1" lang="en-US" sz="18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미세 조정</a:t>
            </a:r>
            <a:endParaRPr sz="16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g3f22fe52246_0_169"/>
          <p:cNvSpPr txBox="1"/>
          <p:nvPr/>
        </p:nvSpPr>
        <p:spPr>
          <a:xfrm>
            <a:off x="828900" y="2707925"/>
            <a:ext cx="7486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BERT 모델 이용해서 텍스트 분류 학습해보기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3f2a70976d9_0_11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A5C"/>
          </a:solidFill>
          <a:ln cap="flat" cmpd="sng" w="12700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g3f2a70976d9_0_112"/>
          <p:cNvSpPr/>
          <p:nvPr/>
        </p:nvSpPr>
        <p:spPr>
          <a:xfrm>
            <a:off x="336316" y="297179"/>
            <a:ext cx="1280100" cy="320100"/>
          </a:xfrm>
          <a:prstGeom prst="roundRect">
            <a:avLst>
              <a:gd fmla="val 14286" name="adj"/>
            </a:avLst>
          </a:prstGeom>
          <a:solidFill>
            <a:srgbClr val="E8402A"/>
          </a:solidFill>
          <a:ln cap="flat" cmpd="sng" w="12700">
            <a:solidFill>
              <a:srgbClr val="E840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g3f2a70976d9_0_112"/>
          <p:cNvSpPr txBox="1"/>
          <p:nvPr/>
        </p:nvSpPr>
        <p:spPr>
          <a:xfrm>
            <a:off x="336316" y="387350"/>
            <a:ext cx="1280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Helvetica Neue"/>
              <a:buNone/>
            </a:pPr>
            <a:r>
              <a:rPr b="1" lang="en-US" sz="9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LLM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g3f2a70976d9_0_112"/>
          <p:cNvSpPr txBox="1"/>
          <p:nvPr/>
        </p:nvSpPr>
        <p:spPr>
          <a:xfrm>
            <a:off x="1920239" y="285750"/>
            <a:ext cx="6766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LLM은 어떻게 만들어지는가?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" name="Google Shape;282;g3f2a70976d9_0_112"/>
          <p:cNvSpPr/>
          <p:nvPr/>
        </p:nvSpPr>
        <p:spPr>
          <a:xfrm>
            <a:off x="457200" y="1051560"/>
            <a:ext cx="8229600" cy="3909000"/>
          </a:xfrm>
          <a:prstGeom prst="roundRect">
            <a:avLst>
              <a:gd fmla="val 1871" name="adj"/>
            </a:avLst>
          </a:prstGeom>
          <a:solidFill>
            <a:srgbClr val="F4F6F9"/>
          </a:solidFill>
          <a:ln cap="flat" cmpd="sng" w="12700">
            <a:solidFill>
              <a:srgbClr val="D8DDE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dir="2700000" dist="25400">
              <a:srgbClr val="000000">
                <a:alpha val="7840"/>
              </a:srgbClr>
            </a:outerShdw>
          </a:effectLst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g3f2a70976d9_0_112"/>
          <p:cNvSpPr txBox="1"/>
          <p:nvPr/>
        </p:nvSpPr>
        <p:spPr>
          <a:xfrm>
            <a:off x="731519" y="1234439"/>
            <a:ext cx="7680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Fine-tuning</a:t>
            </a:r>
            <a:endParaRPr sz="16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g3f2a70976d9_0_112"/>
          <p:cNvSpPr/>
          <p:nvPr/>
        </p:nvSpPr>
        <p:spPr>
          <a:xfrm>
            <a:off x="724663" y="1923800"/>
            <a:ext cx="1280100" cy="369300"/>
          </a:xfrm>
          <a:prstGeom prst="rect">
            <a:avLst/>
          </a:prstGeom>
          <a:solidFill>
            <a:srgbClr val="EBEC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데이터 수집/전처리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g3f2a70976d9_0_112"/>
          <p:cNvSpPr/>
          <p:nvPr/>
        </p:nvSpPr>
        <p:spPr>
          <a:xfrm>
            <a:off x="2862838" y="1923800"/>
            <a:ext cx="1280100" cy="369300"/>
          </a:xfrm>
          <a:prstGeom prst="rect">
            <a:avLst/>
          </a:prstGeom>
          <a:solidFill>
            <a:srgbClr val="EBEC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모델 준비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g3f2a70976d9_0_112"/>
          <p:cNvSpPr/>
          <p:nvPr/>
        </p:nvSpPr>
        <p:spPr>
          <a:xfrm>
            <a:off x="5001013" y="1923800"/>
            <a:ext cx="1280100" cy="369300"/>
          </a:xfrm>
          <a:prstGeom prst="rect">
            <a:avLst/>
          </a:prstGeom>
          <a:solidFill>
            <a:srgbClr val="EBEC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모델 </a:t>
            </a: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학습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g3f2a70976d9_0_112"/>
          <p:cNvSpPr/>
          <p:nvPr/>
        </p:nvSpPr>
        <p:spPr>
          <a:xfrm>
            <a:off x="7139188" y="1923800"/>
            <a:ext cx="1280100" cy="369300"/>
          </a:xfrm>
          <a:prstGeom prst="rect">
            <a:avLst/>
          </a:prstGeom>
          <a:solidFill>
            <a:srgbClr val="EBEC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모델 </a:t>
            </a: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평가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88" name="Google Shape;288;g3f2a70976d9_0_112"/>
          <p:cNvCxnSpPr>
            <a:stCxn id="284" idx="3"/>
            <a:endCxn id="285" idx="1"/>
          </p:cNvCxnSpPr>
          <p:nvPr/>
        </p:nvCxnSpPr>
        <p:spPr>
          <a:xfrm>
            <a:off x="2004763" y="2108450"/>
            <a:ext cx="858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89" name="Google Shape;289;g3f2a70976d9_0_112"/>
          <p:cNvCxnSpPr>
            <a:endCxn id="286" idx="1"/>
          </p:cNvCxnSpPr>
          <p:nvPr/>
        </p:nvCxnSpPr>
        <p:spPr>
          <a:xfrm>
            <a:off x="4179913" y="2096450"/>
            <a:ext cx="821100" cy="12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90" name="Google Shape;290;g3f2a70976d9_0_112"/>
          <p:cNvCxnSpPr>
            <a:stCxn id="286" idx="3"/>
            <a:endCxn id="287" idx="1"/>
          </p:cNvCxnSpPr>
          <p:nvPr/>
        </p:nvCxnSpPr>
        <p:spPr>
          <a:xfrm>
            <a:off x="6281113" y="2108450"/>
            <a:ext cx="858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91" name="Google Shape;291;g3f2a70976d9_0_112"/>
          <p:cNvSpPr/>
          <p:nvPr/>
        </p:nvSpPr>
        <p:spPr>
          <a:xfrm>
            <a:off x="724675" y="2538950"/>
            <a:ext cx="1280100" cy="2126700"/>
          </a:xfrm>
          <a:prstGeom prst="rect">
            <a:avLst/>
          </a:prstGeom>
          <a:solidFill>
            <a:srgbClr val="F4F6F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</a:t>
            </a:r>
            <a:r>
              <a:rPr lang="en-US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학습에 사용할 데이터를 수집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텍스트 데이터를 AI가 컴퓨터가 이해할 수 있는 형태로 가공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불필요한 데이터나 민감한 데이터를 필터링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g3f2a70976d9_0_112"/>
          <p:cNvSpPr/>
          <p:nvPr/>
        </p:nvSpPr>
        <p:spPr>
          <a:xfrm>
            <a:off x="2862850" y="2538950"/>
            <a:ext cx="1280100" cy="2126700"/>
          </a:xfrm>
          <a:prstGeom prst="rect">
            <a:avLst/>
          </a:prstGeom>
          <a:solidFill>
            <a:srgbClr val="F4F6F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</a:t>
            </a:r>
            <a:r>
              <a:rPr lang="en-US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해결하고자 하는 문제에 가장 어울리는 모델을 탐색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g3f2a70976d9_0_112"/>
          <p:cNvSpPr/>
          <p:nvPr/>
        </p:nvSpPr>
        <p:spPr>
          <a:xfrm>
            <a:off x="5001025" y="2538950"/>
            <a:ext cx="1280100" cy="2126700"/>
          </a:xfrm>
          <a:prstGeom prst="rect">
            <a:avLst/>
          </a:prstGeom>
          <a:solidFill>
            <a:srgbClr val="F4F6F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</a:t>
            </a:r>
            <a:r>
              <a:rPr lang="en-US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준비한 데이터와 모델을 이용해 학습 수행</a:t>
            </a:r>
            <a:r>
              <a:rPr lang="en-US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g3f2a70976d9_0_112"/>
          <p:cNvSpPr/>
          <p:nvPr/>
        </p:nvSpPr>
        <p:spPr>
          <a:xfrm>
            <a:off x="7139200" y="2538950"/>
            <a:ext cx="1280100" cy="2126700"/>
          </a:xfrm>
          <a:prstGeom prst="rect">
            <a:avLst/>
          </a:prstGeom>
          <a:solidFill>
            <a:srgbClr val="F4F6F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</a:t>
            </a:r>
            <a:r>
              <a:rPr lang="en-US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모델의 성능을 다방면으로 평가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성능이 나오지 않았을 경우 원인을 분석 후 재학습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3f22fe52246_0_365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A5C"/>
          </a:solidFill>
          <a:ln cap="flat" cmpd="sng" w="12700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g3f22fe52246_0_365"/>
          <p:cNvSpPr/>
          <p:nvPr/>
        </p:nvSpPr>
        <p:spPr>
          <a:xfrm>
            <a:off x="336316" y="297179"/>
            <a:ext cx="1280100" cy="320100"/>
          </a:xfrm>
          <a:prstGeom prst="roundRect">
            <a:avLst>
              <a:gd fmla="val 14286" name="adj"/>
            </a:avLst>
          </a:prstGeom>
          <a:solidFill>
            <a:srgbClr val="E8402A"/>
          </a:solidFill>
          <a:ln cap="flat" cmpd="sng" w="12700">
            <a:solidFill>
              <a:srgbClr val="E840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g3f22fe52246_0_365"/>
          <p:cNvSpPr txBox="1"/>
          <p:nvPr/>
        </p:nvSpPr>
        <p:spPr>
          <a:xfrm>
            <a:off x="336316" y="387350"/>
            <a:ext cx="1280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Helvetica Neue"/>
              <a:buNone/>
            </a:pPr>
            <a:r>
              <a:rPr b="1" lang="en-US" sz="9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LLM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g3f22fe52246_0_365"/>
          <p:cNvSpPr txBox="1"/>
          <p:nvPr/>
        </p:nvSpPr>
        <p:spPr>
          <a:xfrm>
            <a:off x="1920239" y="285750"/>
            <a:ext cx="6766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LLM은 어떻게 만들어지는가?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" name="Google Shape;303;g3f22fe52246_0_365"/>
          <p:cNvSpPr/>
          <p:nvPr/>
        </p:nvSpPr>
        <p:spPr>
          <a:xfrm>
            <a:off x="457200" y="1051560"/>
            <a:ext cx="8229600" cy="3909000"/>
          </a:xfrm>
          <a:prstGeom prst="roundRect">
            <a:avLst>
              <a:gd fmla="val 1871" name="adj"/>
            </a:avLst>
          </a:prstGeom>
          <a:solidFill>
            <a:srgbClr val="F4F6F9"/>
          </a:solidFill>
          <a:ln cap="flat" cmpd="sng" w="12700">
            <a:solidFill>
              <a:srgbClr val="D8DDE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dir="2700000" dist="25400">
              <a:srgbClr val="000000">
                <a:alpha val="7840"/>
              </a:srgbClr>
            </a:outerShdw>
          </a:effectLst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g3f22fe52246_0_365"/>
          <p:cNvSpPr txBox="1"/>
          <p:nvPr/>
        </p:nvSpPr>
        <p:spPr>
          <a:xfrm>
            <a:off x="731519" y="1234439"/>
            <a:ext cx="7680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Fine-tuning을 위한 데이터 전처리</a:t>
            </a:r>
            <a:endParaRPr sz="16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g3f22fe52246_0_365"/>
          <p:cNvSpPr txBox="1"/>
          <p:nvPr/>
        </p:nvSpPr>
        <p:spPr>
          <a:xfrm>
            <a:off x="876150" y="1755425"/>
            <a:ext cx="7391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●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텍스트를 AI 모델이 이해할 수 있는 형태로 변환하는 작업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g3f22fe52246_0_365"/>
          <p:cNvSpPr/>
          <p:nvPr/>
        </p:nvSpPr>
        <p:spPr>
          <a:xfrm>
            <a:off x="4796688" y="2652800"/>
            <a:ext cx="1280100" cy="369300"/>
          </a:xfrm>
          <a:prstGeom prst="rect">
            <a:avLst/>
          </a:prstGeom>
          <a:solidFill>
            <a:srgbClr val="EBEC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토큰화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g3f22fe52246_0_365"/>
          <p:cNvSpPr/>
          <p:nvPr/>
        </p:nvSpPr>
        <p:spPr>
          <a:xfrm>
            <a:off x="1452325" y="3467650"/>
            <a:ext cx="1280100" cy="369300"/>
          </a:xfrm>
          <a:prstGeom prst="rect">
            <a:avLst/>
          </a:prstGeom>
          <a:solidFill>
            <a:srgbClr val="EBEC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특수 토큰 추가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g3f22fe52246_0_365"/>
          <p:cNvSpPr/>
          <p:nvPr/>
        </p:nvSpPr>
        <p:spPr>
          <a:xfrm>
            <a:off x="3931950" y="3467650"/>
            <a:ext cx="1280100" cy="369300"/>
          </a:xfrm>
          <a:prstGeom prst="rect">
            <a:avLst/>
          </a:prstGeom>
          <a:solidFill>
            <a:srgbClr val="EBEC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길이 제한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g3f22fe52246_0_365"/>
          <p:cNvSpPr/>
          <p:nvPr/>
        </p:nvSpPr>
        <p:spPr>
          <a:xfrm>
            <a:off x="6411575" y="3467650"/>
            <a:ext cx="1280100" cy="369300"/>
          </a:xfrm>
          <a:prstGeom prst="rect">
            <a:avLst/>
          </a:prstGeom>
          <a:solidFill>
            <a:srgbClr val="EBEC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입력 형식 맞추기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g3f22fe52246_0_365"/>
          <p:cNvSpPr/>
          <p:nvPr/>
        </p:nvSpPr>
        <p:spPr>
          <a:xfrm>
            <a:off x="2564113" y="2652800"/>
            <a:ext cx="1280100" cy="369300"/>
          </a:xfrm>
          <a:prstGeom prst="rect">
            <a:avLst/>
          </a:prstGeom>
          <a:solidFill>
            <a:srgbClr val="EBEC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텍스트 전처리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11" name="Google Shape;311;g3f22fe52246_0_365"/>
          <p:cNvCxnSpPr>
            <a:stCxn id="310" idx="3"/>
            <a:endCxn id="306" idx="1"/>
          </p:cNvCxnSpPr>
          <p:nvPr/>
        </p:nvCxnSpPr>
        <p:spPr>
          <a:xfrm>
            <a:off x="3844213" y="2837450"/>
            <a:ext cx="952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12" name="Google Shape;312;g3f22fe52246_0_365"/>
          <p:cNvCxnSpPr>
            <a:stCxn id="306" idx="3"/>
          </p:cNvCxnSpPr>
          <p:nvPr/>
        </p:nvCxnSpPr>
        <p:spPr>
          <a:xfrm>
            <a:off x="6076788" y="2837450"/>
            <a:ext cx="503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13" name="Google Shape;313;g3f22fe52246_0_365"/>
          <p:cNvCxnSpPr>
            <a:stCxn id="307" idx="3"/>
            <a:endCxn id="308" idx="1"/>
          </p:cNvCxnSpPr>
          <p:nvPr/>
        </p:nvCxnSpPr>
        <p:spPr>
          <a:xfrm>
            <a:off x="2732425" y="3652300"/>
            <a:ext cx="1199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14" name="Google Shape;314;g3f22fe52246_0_365"/>
          <p:cNvCxnSpPr>
            <a:stCxn id="308" idx="3"/>
            <a:endCxn id="309" idx="1"/>
          </p:cNvCxnSpPr>
          <p:nvPr/>
        </p:nvCxnSpPr>
        <p:spPr>
          <a:xfrm>
            <a:off x="5212050" y="3652300"/>
            <a:ext cx="1199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3f22fe52246_0_387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A5C"/>
          </a:solidFill>
          <a:ln cap="flat" cmpd="sng" w="12700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g3f22fe52246_0_387"/>
          <p:cNvSpPr/>
          <p:nvPr/>
        </p:nvSpPr>
        <p:spPr>
          <a:xfrm>
            <a:off x="336316" y="297179"/>
            <a:ext cx="1280100" cy="320100"/>
          </a:xfrm>
          <a:prstGeom prst="roundRect">
            <a:avLst>
              <a:gd fmla="val 14286" name="adj"/>
            </a:avLst>
          </a:prstGeom>
          <a:solidFill>
            <a:srgbClr val="E8402A"/>
          </a:solidFill>
          <a:ln cap="flat" cmpd="sng" w="12700">
            <a:solidFill>
              <a:srgbClr val="E840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g3f22fe52246_0_387"/>
          <p:cNvSpPr txBox="1"/>
          <p:nvPr/>
        </p:nvSpPr>
        <p:spPr>
          <a:xfrm>
            <a:off x="336316" y="387350"/>
            <a:ext cx="1280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Helvetica Neue"/>
              <a:buNone/>
            </a:pPr>
            <a:r>
              <a:rPr b="1" lang="en-US" sz="9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LLM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g3f22fe52246_0_387"/>
          <p:cNvSpPr txBox="1"/>
          <p:nvPr/>
        </p:nvSpPr>
        <p:spPr>
          <a:xfrm>
            <a:off x="1920239" y="285750"/>
            <a:ext cx="6766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LLM은 어떻게 만들어지는가?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g3f22fe52246_0_387"/>
          <p:cNvSpPr/>
          <p:nvPr/>
        </p:nvSpPr>
        <p:spPr>
          <a:xfrm>
            <a:off x="457200" y="1051560"/>
            <a:ext cx="8229600" cy="3909000"/>
          </a:xfrm>
          <a:prstGeom prst="roundRect">
            <a:avLst>
              <a:gd fmla="val 1871" name="adj"/>
            </a:avLst>
          </a:prstGeom>
          <a:solidFill>
            <a:srgbClr val="F4F6F9"/>
          </a:solidFill>
          <a:ln cap="flat" cmpd="sng" w="12700">
            <a:solidFill>
              <a:srgbClr val="D8DDE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dir="2700000" dist="25400">
              <a:srgbClr val="000000">
                <a:alpha val="7840"/>
              </a:srgbClr>
            </a:outerShdw>
          </a:effectLst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g3f22fe52246_0_387"/>
          <p:cNvSpPr txBox="1"/>
          <p:nvPr/>
        </p:nvSpPr>
        <p:spPr>
          <a:xfrm>
            <a:off x="731519" y="1234439"/>
            <a:ext cx="7680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Fine-tuning을 위한 데이터 전처리</a:t>
            </a:r>
            <a:endParaRPr sz="16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g3f22fe52246_0_387"/>
          <p:cNvSpPr txBox="1"/>
          <p:nvPr/>
        </p:nvSpPr>
        <p:spPr>
          <a:xfrm>
            <a:off x="876150" y="1755425"/>
            <a:ext cx="7391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Calibri"/>
                <a:ea typeface="Calibri"/>
                <a:cs typeface="Calibri"/>
                <a:sym typeface="Calibri"/>
              </a:rPr>
              <a:t>1. </a:t>
            </a:r>
            <a:r>
              <a:rPr b="1" lang="en-US">
                <a:latin typeface="Calibri"/>
                <a:ea typeface="Calibri"/>
                <a:cs typeface="Calibri"/>
                <a:sym typeface="Calibri"/>
              </a:rPr>
              <a:t>텍스트 전처리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g3f22fe52246_0_387"/>
          <p:cNvSpPr txBox="1"/>
          <p:nvPr/>
        </p:nvSpPr>
        <p:spPr>
          <a:xfrm>
            <a:off x="876150" y="2307300"/>
            <a:ext cx="7391700" cy="23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●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다중 공백 제거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●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불필요한 특수 문자 제거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●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개인 정보, 혐오 발언 등 필터링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g3f22fe52246_0_387"/>
          <p:cNvSpPr/>
          <p:nvPr/>
        </p:nvSpPr>
        <p:spPr>
          <a:xfrm>
            <a:off x="4387125" y="1839250"/>
            <a:ext cx="4164300" cy="796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"안녕하세요 만나서 반갑습니다.!!! @#$ 제 이름은 홍길동이고 전화번호는 010-1234-5678입니다. 그나저나 요즘 XX(혐오 발언)들 진짜 꼴 보기 싫지 않나요?ㅋㅋㅋ " 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g3f22fe52246_0_387"/>
          <p:cNvSpPr txBox="1"/>
          <p:nvPr/>
        </p:nvSpPr>
        <p:spPr>
          <a:xfrm>
            <a:off x="1433175" y="2723025"/>
            <a:ext cx="4586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latin typeface="Calibri"/>
                <a:ea typeface="Calibri"/>
                <a:cs typeface="Calibri"/>
                <a:sym typeface="Calibri"/>
              </a:rPr>
              <a:t>컴퓨터는 공백 하나하나를 모두 단어로 인식 &gt; 불필요한 정보가 될 수 있음.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g3f22fe52246_0_387"/>
          <p:cNvSpPr txBox="1"/>
          <p:nvPr/>
        </p:nvSpPr>
        <p:spPr>
          <a:xfrm>
            <a:off x="1433175" y="3686425"/>
            <a:ext cx="4586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latin typeface="Calibri"/>
                <a:ea typeface="Calibri"/>
                <a:cs typeface="Calibri"/>
                <a:sym typeface="Calibri"/>
              </a:rPr>
              <a:t>컴퓨터는 “안녕하세요”와 “안.녕$%하세요” 를 다른 단어로 인식함.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g3f22fe52246_0_387"/>
          <p:cNvSpPr txBox="1"/>
          <p:nvPr/>
        </p:nvSpPr>
        <p:spPr>
          <a:xfrm>
            <a:off x="1433175" y="4578175"/>
            <a:ext cx="4586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latin typeface="Calibri"/>
                <a:ea typeface="Calibri"/>
                <a:cs typeface="Calibri"/>
                <a:sym typeface="Calibri"/>
              </a:rPr>
              <a:t>학습된 언어 모델이 누군가의 개인 정보를 누설하거나 혐오 발언을 하면 문제가 됨.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3f22fe52246_0_407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A5C"/>
          </a:solidFill>
          <a:ln cap="flat" cmpd="sng" w="12700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g3f22fe52246_0_407"/>
          <p:cNvSpPr/>
          <p:nvPr/>
        </p:nvSpPr>
        <p:spPr>
          <a:xfrm>
            <a:off x="336316" y="297179"/>
            <a:ext cx="1280100" cy="320100"/>
          </a:xfrm>
          <a:prstGeom prst="roundRect">
            <a:avLst>
              <a:gd fmla="val 14286" name="adj"/>
            </a:avLst>
          </a:prstGeom>
          <a:solidFill>
            <a:srgbClr val="E8402A"/>
          </a:solidFill>
          <a:ln cap="flat" cmpd="sng" w="12700">
            <a:solidFill>
              <a:srgbClr val="E840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g3f22fe52246_0_407"/>
          <p:cNvSpPr txBox="1"/>
          <p:nvPr/>
        </p:nvSpPr>
        <p:spPr>
          <a:xfrm>
            <a:off x="336316" y="387350"/>
            <a:ext cx="1280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Helvetica Neue"/>
              <a:buNone/>
            </a:pPr>
            <a:r>
              <a:rPr b="1" lang="en-US" sz="9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LLM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8" name="Google Shape;338;g3f22fe52246_0_407"/>
          <p:cNvSpPr txBox="1"/>
          <p:nvPr/>
        </p:nvSpPr>
        <p:spPr>
          <a:xfrm>
            <a:off x="1920239" y="285750"/>
            <a:ext cx="6766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LLM은 어떻게 만들어지는가?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g3f22fe52246_0_407"/>
          <p:cNvSpPr/>
          <p:nvPr/>
        </p:nvSpPr>
        <p:spPr>
          <a:xfrm>
            <a:off x="457200" y="1051560"/>
            <a:ext cx="8229600" cy="3909000"/>
          </a:xfrm>
          <a:prstGeom prst="roundRect">
            <a:avLst>
              <a:gd fmla="val 1871" name="adj"/>
            </a:avLst>
          </a:prstGeom>
          <a:solidFill>
            <a:srgbClr val="F4F6F9"/>
          </a:solidFill>
          <a:ln cap="flat" cmpd="sng" w="12700">
            <a:solidFill>
              <a:srgbClr val="D8DDE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dir="2700000" dist="25400">
              <a:srgbClr val="000000">
                <a:alpha val="7840"/>
              </a:srgbClr>
            </a:outerShdw>
          </a:effectLst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g3f22fe52246_0_407"/>
          <p:cNvSpPr txBox="1"/>
          <p:nvPr/>
        </p:nvSpPr>
        <p:spPr>
          <a:xfrm>
            <a:off x="731519" y="1234439"/>
            <a:ext cx="7680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Fine-tuning을 위한 데이터 전처리</a:t>
            </a:r>
            <a:endParaRPr sz="16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g3f22fe52246_0_407"/>
          <p:cNvSpPr txBox="1"/>
          <p:nvPr/>
        </p:nvSpPr>
        <p:spPr>
          <a:xfrm>
            <a:off x="876150" y="1755425"/>
            <a:ext cx="7391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Calibri"/>
                <a:ea typeface="Calibri"/>
                <a:cs typeface="Calibri"/>
                <a:sym typeface="Calibri"/>
              </a:rPr>
              <a:t>2. 토큰화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g3f22fe52246_0_407"/>
          <p:cNvSpPr txBox="1"/>
          <p:nvPr/>
        </p:nvSpPr>
        <p:spPr>
          <a:xfrm>
            <a:off x="876150" y="2223125"/>
            <a:ext cx="7391700" cy="136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Calibri"/>
                <a:ea typeface="Calibri"/>
                <a:cs typeface="Calibri"/>
                <a:sym typeface="Calibri"/>
              </a:rPr>
              <a:t>토크나이저란?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●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텍스트를 일정 단위로 분리하여 숫자로 변환하는 역할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●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컴퓨터는 숫자만 이해할 수 있다!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●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어떤 단위로 자를까?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g3f22fe52246_0_407"/>
          <p:cNvSpPr/>
          <p:nvPr/>
        </p:nvSpPr>
        <p:spPr>
          <a:xfrm>
            <a:off x="944625" y="4124875"/>
            <a:ext cx="354300" cy="432900"/>
          </a:xfrm>
          <a:prstGeom prst="roundRect">
            <a:avLst>
              <a:gd fmla="val 16667" name="adj"/>
            </a:avLst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g3f22fe52246_0_407"/>
          <p:cNvSpPr/>
          <p:nvPr/>
        </p:nvSpPr>
        <p:spPr>
          <a:xfrm>
            <a:off x="1582275" y="4124875"/>
            <a:ext cx="598200" cy="432900"/>
          </a:xfrm>
          <a:prstGeom prst="roundRect">
            <a:avLst>
              <a:gd fmla="val 16667" name="adj"/>
            </a:avLst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Love</a:t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g3f22fe52246_0_407"/>
          <p:cNvSpPr/>
          <p:nvPr/>
        </p:nvSpPr>
        <p:spPr>
          <a:xfrm>
            <a:off x="2463825" y="4124875"/>
            <a:ext cx="779400" cy="432900"/>
          </a:xfrm>
          <a:prstGeom prst="roundRect">
            <a:avLst>
              <a:gd fmla="val 16667" name="adj"/>
            </a:avLst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Coffee</a:t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g3f22fe52246_0_407"/>
          <p:cNvSpPr/>
          <p:nvPr/>
        </p:nvSpPr>
        <p:spPr>
          <a:xfrm>
            <a:off x="3822838" y="4124875"/>
            <a:ext cx="341100" cy="432900"/>
          </a:xfrm>
          <a:prstGeom prst="roundRect">
            <a:avLst>
              <a:gd fmla="val 37453" name="adj"/>
            </a:avLst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</a:t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g3f22fe52246_0_407"/>
          <p:cNvSpPr/>
          <p:nvPr/>
        </p:nvSpPr>
        <p:spPr>
          <a:xfrm>
            <a:off x="4208563" y="4124875"/>
            <a:ext cx="341100" cy="432900"/>
          </a:xfrm>
          <a:prstGeom prst="roundRect">
            <a:avLst>
              <a:gd fmla="val 37453" name="adj"/>
            </a:avLst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</a:t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g3f22fe52246_0_407"/>
          <p:cNvSpPr/>
          <p:nvPr/>
        </p:nvSpPr>
        <p:spPr>
          <a:xfrm>
            <a:off x="4594288" y="4124875"/>
            <a:ext cx="341100" cy="432900"/>
          </a:xfrm>
          <a:prstGeom prst="roundRect">
            <a:avLst>
              <a:gd fmla="val 37453" name="adj"/>
            </a:avLst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v</a:t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g3f22fe52246_0_407"/>
          <p:cNvSpPr/>
          <p:nvPr/>
        </p:nvSpPr>
        <p:spPr>
          <a:xfrm>
            <a:off x="4980013" y="4124875"/>
            <a:ext cx="341100" cy="432900"/>
          </a:xfrm>
          <a:prstGeom prst="roundRect">
            <a:avLst>
              <a:gd fmla="val 37453" name="adj"/>
            </a:avLst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g3f22fe52246_0_407"/>
          <p:cNvSpPr/>
          <p:nvPr/>
        </p:nvSpPr>
        <p:spPr>
          <a:xfrm>
            <a:off x="5941875" y="4124875"/>
            <a:ext cx="543600" cy="432900"/>
          </a:xfrm>
          <a:prstGeom prst="roundRect">
            <a:avLst>
              <a:gd fmla="val 37453" name="adj"/>
            </a:avLst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un</a:t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g3f22fe52246_0_407"/>
          <p:cNvSpPr/>
          <p:nvPr/>
        </p:nvSpPr>
        <p:spPr>
          <a:xfrm>
            <a:off x="6613887" y="4124875"/>
            <a:ext cx="969300" cy="432900"/>
          </a:xfrm>
          <a:prstGeom prst="roundRect">
            <a:avLst>
              <a:gd fmla="val 37453" name="adj"/>
            </a:avLst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##afford</a:t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g3f22fe52246_0_407"/>
          <p:cNvSpPr/>
          <p:nvPr/>
        </p:nvSpPr>
        <p:spPr>
          <a:xfrm>
            <a:off x="7711600" y="4124875"/>
            <a:ext cx="779400" cy="432900"/>
          </a:xfrm>
          <a:prstGeom prst="roundRect">
            <a:avLst>
              <a:gd fmla="val 37453" name="adj"/>
            </a:avLst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##able</a:t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g3f22fe52246_0_407"/>
          <p:cNvSpPr/>
          <p:nvPr/>
        </p:nvSpPr>
        <p:spPr>
          <a:xfrm>
            <a:off x="1464175" y="3731275"/>
            <a:ext cx="1280100" cy="236100"/>
          </a:xfrm>
          <a:prstGeom prst="roundRect">
            <a:avLst>
              <a:gd fmla="val 16667" name="adj"/>
            </a:avLst>
          </a:prstGeom>
          <a:solidFill>
            <a:srgbClr val="E8402A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단어 단위</a:t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g3f22fe52246_0_407"/>
          <p:cNvSpPr/>
          <p:nvPr/>
        </p:nvSpPr>
        <p:spPr>
          <a:xfrm>
            <a:off x="3931950" y="3731275"/>
            <a:ext cx="1280100" cy="236100"/>
          </a:xfrm>
          <a:prstGeom prst="roundRect">
            <a:avLst>
              <a:gd fmla="val 16667" name="adj"/>
            </a:avLst>
          </a:prstGeom>
          <a:solidFill>
            <a:srgbClr val="E8402A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글자 </a:t>
            </a:r>
            <a:r>
              <a:rPr lang="en-US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단위</a:t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g3f22fe52246_0_407"/>
          <p:cNvSpPr/>
          <p:nvPr/>
        </p:nvSpPr>
        <p:spPr>
          <a:xfrm>
            <a:off x="6543025" y="3731275"/>
            <a:ext cx="1280100" cy="236100"/>
          </a:xfrm>
          <a:prstGeom prst="roundRect">
            <a:avLst>
              <a:gd fmla="val 16667" name="adj"/>
            </a:avLst>
          </a:prstGeom>
          <a:solidFill>
            <a:srgbClr val="E8402A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서브워드 단위</a:t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56" name="Google Shape;356;g3f22fe52246_0_407"/>
          <p:cNvCxnSpPr/>
          <p:nvPr/>
        </p:nvCxnSpPr>
        <p:spPr>
          <a:xfrm>
            <a:off x="3495125" y="3660425"/>
            <a:ext cx="0" cy="1173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7" name="Google Shape;357;g3f22fe52246_0_407"/>
          <p:cNvCxnSpPr/>
          <p:nvPr/>
        </p:nvCxnSpPr>
        <p:spPr>
          <a:xfrm>
            <a:off x="5636275" y="3660425"/>
            <a:ext cx="0" cy="1173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g3f22fe52246_0_435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A5C"/>
          </a:solidFill>
          <a:ln cap="flat" cmpd="sng" w="12700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g3f22fe52246_0_435"/>
          <p:cNvSpPr/>
          <p:nvPr/>
        </p:nvSpPr>
        <p:spPr>
          <a:xfrm>
            <a:off x="336316" y="297179"/>
            <a:ext cx="1280100" cy="320100"/>
          </a:xfrm>
          <a:prstGeom prst="roundRect">
            <a:avLst>
              <a:gd fmla="val 14286" name="adj"/>
            </a:avLst>
          </a:prstGeom>
          <a:solidFill>
            <a:srgbClr val="E8402A"/>
          </a:solidFill>
          <a:ln cap="flat" cmpd="sng" w="12700">
            <a:solidFill>
              <a:srgbClr val="E840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g3f22fe52246_0_435"/>
          <p:cNvSpPr txBox="1"/>
          <p:nvPr/>
        </p:nvSpPr>
        <p:spPr>
          <a:xfrm>
            <a:off x="336316" y="387350"/>
            <a:ext cx="1280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Helvetica Neue"/>
              <a:buNone/>
            </a:pPr>
            <a:r>
              <a:rPr b="1" lang="en-US" sz="9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LLM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5" name="Google Shape;365;g3f22fe52246_0_435"/>
          <p:cNvSpPr txBox="1"/>
          <p:nvPr/>
        </p:nvSpPr>
        <p:spPr>
          <a:xfrm>
            <a:off x="1920239" y="285750"/>
            <a:ext cx="6766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LLM은 어떻게 만들어지는가?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6" name="Google Shape;366;g3f22fe52246_0_435"/>
          <p:cNvSpPr/>
          <p:nvPr/>
        </p:nvSpPr>
        <p:spPr>
          <a:xfrm>
            <a:off x="457200" y="1051560"/>
            <a:ext cx="8229600" cy="3909000"/>
          </a:xfrm>
          <a:prstGeom prst="roundRect">
            <a:avLst>
              <a:gd fmla="val 1871" name="adj"/>
            </a:avLst>
          </a:prstGeom>
          <a:solidFill>
            <a:srgbClr val="F4F6F9"/>
          </a:solidFill>
          <a:ln cap="flat" cmpd="sng" w="12700">
            <a:solidFill>
              <a:srgbClr val="D8DDE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dir="2700000" dist="25400">
              <a:srgbClr val="000000">
                <a:alpha val="7840"/>
              </a:srgbClr>
            </a:outerShdw>
          </a:effectLst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g3f22fe52246_0_435"/>
          <p:cNvSpPr txBox="1"/>
          <p:nvPr/>
        </p:nvSpPr>
        <p:spPr>
          <a:xfrm>
            <a:off x="731519" y="1234439"/>
            <a:ext cx="7680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Fine-tuning을 위한 데이터 전처리</a:t>
            </a:r>
            <a:endParaRPr sz="16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g3f22fe52246_0_435"/>
          <p:cNvSpPr txBox="1"/>
          <p:nvPr/>
        </p:nvSpPr>
        <p:spPr>
          <a:xfrm>
            <a:off x="876150" y="1755425"/>
            <a:ext cx="7391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Calibri"/>
                <a:ea typeface="Calibri"/>
                <a:cs typeface="Calibri"/>
                <a:sym typeface="Calibri"/>
              </a:rPr>
              <a:t>2. 토큰화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g3f22fe52246_0_435"/>
          <p:cNvSpPr txBox="1"/>
          <p:nvPr/>
        </p:nvSpPr>
        <p:spPr>
          <a:xfrm>
            <a:off x="876150" y="2307300"/>
            <a:ext cx="3280200" cy="16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Calibri"/>
                <a:ea typeface="Calibri"/>
                <a:cs typeface="Calibri"/>
                <a:sym typeface="Calibri"/>
              </a:rPr>
              <a:t>토크나이저</a:t>
            </a:r>
            <a:r>
              <a:rPr b="1" lang="en-US">
                <a:latin typeface="Calibri"/>
                <a:ea typeface="Calibri"/>
                <a:cs typeface="Calibri"/>
                <a:sym typeface="Calibri"/>
              </a:rPr>
              <a:t>가 만들어지는 방법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AutoNum type="arabicPeriod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대규모 텍스트 수집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AutoNum type="arabicPeriod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자주 붙어 나오는 글자 조합 탐색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AutoNum type="arabicPeriod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어휘 사전(Vocabulary) 완성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AutoNum type="arabicPeriod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각 토큰에 번호 부여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g3f22fe52246_0_435"/>
          <p:cNvSpPr/>
          <p:nvPr/>
        </p:nvSpPr>
        <p:spPr>
          <a:xfrm>
            <a:off x="6165750" y="2395700"/>
            <a:ext cx="2102100" cy="17553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 : [PAD]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 : [UNK]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 : [CLS]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 : [SEP]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 : [MASK]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 : “a”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 : “the”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 : “boy”</a:t>
            </a:r>
            <a:b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 : “###ing”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…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g3f22fe52246_0_46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A5C"/>
          </a:solidFill>
          <a:ln cap="flat" cmpd="sng" w="12700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g3f22fe52246_0_461"/>
          <p:cNvSpPr/>
          <p:nvPr/>
        </p:nvSpPr>
        <p:spPr>
          <a:xfrm>
            <a:off x="336316" y="297179"/>
            <a:ext cx="1280100" cy="320100"/>
          </a:xfrm>
          <a:prstGeom prst="roundRect">
            <a:avLst>
              <a:gd fmla="val 14286" name="adj"/>
            </a:avLst>
          </a:prstGeom>
          <a:solidFill>
            <a:srgbClr val="E8402A"/>
          </a:solidFill>
          <a:ln cap="flat" cmpd="sng" w="12700">
            <a:solidFill>
              <a:srgbClr val="E840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g3f22fe52246_0_461"/>
          <p:cNvSpPr txBox="1"/>
          <p:nvPr/>
        </p:nvSpPr>
        <p:spPr>
          <a:xfrm>
            <a:off x="336316" y="387350"/>
            <a:ext cx="1280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Helvetica Neue"/>
              <a:buNone/>
            </a:pPr>
            <a:r>
              <a:rPr b="1" lang="en-US" sz="9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LLM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8" name="Google Shape;378;g3f22fe52246_0_461"/>
          <p:cNvSpPr txBox="1"/>
          <p:nvPr/>
        </p:nvSpPr>
        <p:spPr>
          <a:xfrm>
            <a:off x="1920239" y="285750"/>
            <a:ext cx="6766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LLM은 어떻게 만들어지는가?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9" name="Google Shape;379;g3f22fe52246_0_461"/>
          <p:cNvSpPr/>
          <p:nvPr/>
        </p:nvSpPr>
        <p:spPr>
          <a:xfrm>
            <a:off x="457200" y="1051560"/>
            <a:ext cx="8229600" cy="3909000"/>
          </a:xfrm>
          <a:prstGeom prst="roundRect">
            <a:avLst>
              <a:gd fmla="val 1871" name="adj"/>
            </a:avLst>
          </a:prstGeom>
          <a:solidFill>
            <a:srgbClr val="F4F6F9"/>
          </a:solidFill>
          <a:ln cap="flat" cmpd="sng" w="12700">
            <a:solidFill>
              <a:srgbClr val="D8DDE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dir="2700000" dist="25400">
              <a:srgbClr val="000000">
                <a:alpha val="7840"/>
              </a:srgbClr>
            </a:outerShdw>
          </a:effectLst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g3f22fe52246_0_461"/>
          <p:cNvSpPr txBox="1"/>
          <p:nvPr/>
        </p:nvSpPr>
        <p:spPr>
          <a:xfrm>
            <a:off x="731519" y="1234439"/>
            <a:ext cx="7680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Fine-tuning을 위한 데이터 전처리</a:t>
            </a:r>
            <a:endParaRPr sz="16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g3f22fe52246_0_461"/>
          <p:cNvSpPr txBox="1"/>
          <p:nvPr/>
        </p:nvSpPr>
        <p:spPr>
          <a:xfrm>
            <a:off x="876150" y="1755425"/>
            <a:ext cx="7391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Calibri"/>
                <a:ea typeface="Calibri"/>
                <a:cs typeface="Calibri"/>
                <a:sym typeface="Calibri"/>
              </a:rPr>
              <a:t>3. 특수 토큰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g3f22fe52246_0_461"/>
          <p:cNvSpPr txBox="1"/>
          <p:nvPr/>
        </p:nvSpPr>
        <p:spPr>
          <a:xfrm>
            <a:off x="876150" y="2307300"/>
            <a:ext cx="7391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Calibri"/>
                <a:ea typeface="Calibri"/>
                <a:cs typeface="Calibri"/>
                <a:sym typeface="Calibri"/>
              </a:rPr>
              <a:t>BERT에 사용되는 특수 토큰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g3f22fe52246_0_461"/>
          <p:cNvSpPr txBox="1"/>
          <p:nvPr/>
        </p:nvSpPr>
        <p:spPr>
          <a:xfrm>
            <a:off x="1023350" y="2707500"/>
            <a:ext cx="7244400" cy="136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●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[CLS] : 문장의 시작을 알리는 특수 토큰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●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[PAD] : 문장의 길이를 맞추기 위한 빈 칸 토큰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●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[SEP] : 문장의 끝, 또는 문장 사이를 구분하기 위한 특수 토큰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●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[UNK] : 어휘 사전에서 찾을 수 없는 글자를 나타내는 특수 토큰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g3f22fe52246_0_473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A5C"/>
          </a:solidFill>
          <a:ln cap="flat" cmpd="sng" w="12700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g3f22fe52246_0_473"/>
          <p:cNvSpPr/>
          <p:nvPr/>
        </p:nvSpPr>
        <p:spPr>
          <a:xfrm>
            <a:off x="336316" y="297179"/>
            <a:ext cx="1280100" cy="320100"/>
          </a:xfrm>
          <a:prstGeom prst="roundRect">
            <a:avLst>
              <a:gd fmla="val 14286" name="adj"/>
            </a:avLst>
          </a:prstGeom>
          <a:solidFill>
            <a:srgbClr val="E8402A"/>
          </a:solidFill>
          <a:ln cap="flat" cmpd="sng" w="12700">
            <a:solidFill>
              <a:srgbClr val="E840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g3f22fe52246_0_473"/>
          <p:cNvSpPr txBox="1"/>
          <p:nvPr/>
        </p:nvSpPr>
        <p:spPr>
          <a:xfrm>
            <a:off x="336316" y="387350"/>
            <a:ext cx="1280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Helvetica Neue"/>
              <a:buNone/>
            </a:pPr>
            <a:r>
              <a:rPr b="1" lang="en-US" sz="9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LLM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1" name="Google Shape;391;g3f22fe52246_0_473"/>
          <p:cNvSpPr txBox="1"/>
          <p:nvPr/>
        </p:nvSpPr>
        <p:spPr>
          <a:xfrm>
            <a:off x="1920239" y="285750"/>
            <a:ext cx="6766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LLM은 어떻게 만들어지는가?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2" name="Google Shape;392;g3f22fe52246_0_473"/>
          <p:cNvSpPr/>
          <p:nvPr/>
        </p:nvSpPr>
        <p:spPr>
          <a:xfrm>
            <a:off x="457200" y="1051560"/>
            <a:ext cx="8229600" cy="3909000"/>
          </a:xfrm>
          <a:prstGeom prst="roundRect">
            <a:avLst>
              <a:gd fmla="val 1871" name="adj"/>
            </a:avLst>
          </a:prstGeom>
          <a:solidFill>
            <a:srgbClr val="F4F6F9"/>
          </a:solidFill>
          <a:ln cap="flat" cmpd="sng" w="12700">
            <a:solidFill>
              <a:srgbClr val="D8DDE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dir="2700000" dist="25400">
              <a:srgbClr val="000000">
                <a:alpha val="7840"/>
              </a:srgbClr>
            </a:outerShdw>
          </a:effectLst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g3f22fe52246_0_473"/>
          <p:cNvSpPr txBox="1"/>
          <p:nvPr/>
        </p:nvSpPr>
        <p:spPr>
          <a:xfrm>
            <a:off x="731519" y="1234439"/>
            <a:ext cx="7680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Fine-tuning을 위한 데이터 전처리</a:t>
            </a:r>
            <a:endParaRPr sz="16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g3f22fe52246_0_473"/>
          <p:cNvSpPr txBox="1"/>
          <p:nvPr/>
        </p:nvSpPr>
        <p:spPr>
          <a:xfrm>
            <a:off x="876150" y="1755425"/>
            <a:ext cx="7391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Calibri"/>
                <a:ea typeface="Calibri"/>
                <a:cs typeface="Calibri"/>
                <a:sym typeface="Calibri"/>
              </a:rPr>
              <a:t>4. 길이 맞추기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g3f22fe52246_0_473"/>
          <p:cNvSpPr txBox="1"/>
          <p:nvPr/>
        </p:nvSpPr>
        <p:spPr>
          <a:xfrm>
            <a:off x="876150" y="2307300"/>
            <a:ext cx="7391700" cy="136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●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AI 모델은 일정한 길이의 입력만 받을 수 있음!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●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대규모의 데이터를 빠르게 학습하기 위해 데이터를 ‘배치(batch)’ 단위로 구성하여 학습해야 함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●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같은 배치 내의 텍스트의 길이가 전부 다르면 모델이 계산을 수행할 수 없다.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●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따라서 짧은 문장은 ‘[PAD]’ 토큰을 추가하여, 긴 문장은 뒷 부분을 자르는 식으로 길이를 맞춤.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g3f22fe52246_0_485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A5C"/>
          </a:solidFill>
          <a:ln cap="flat" cmpd="sng" w="12700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g3f22fe52246_0_485"/>
          <p:cNvSpPr/>
          <p:nvPr/>
        </p:nvSpPr>
        <p:spPr>
          <a:xfrm>
            <a:off x="336316" y="297179"/>
            <a:ext cx="1280100" cy="320100"/>
          </a:xfrm>
          <a:prstGeom prst="roundRect">
            <a:avLst>
              <a:gd fmla="val 14286" name="adj"/>
            </a:avLst>
          </a:prstGeom>
          <a:solidFill>
            <a:srgbClr val="E8402A"/>
          </a:solidFill>
          <a:ln cap="flat" cmpd="sng" w="12700">
            <a:solidFill>
              <a:srgbClr val="E840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g3f22fe52246_0_485"/>
          <p:cNvSpPr txBox="1"/>
          <p:nvPr/>
        </p:nvSpPr>
        <p:spPr>
          <a:xfrm>
            <a:off x="336316" y="387350"/>
            <a:ext cx="1280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Helvetica Neue"/>
              <a:buNone/>
            </a:pPr>
            <a:r>
              <a:rPr b="1" lang="en-US" sz="9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LLM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3" name="Google Shape;403;g3f22fe52246_0_485"/>
          <p:cNvSpPr txBox="1"/>
          <p:nvPr/>
        </p:nvSpPr>
        <p:spPr>
          <a:xfrm>
            <a:off x="1920239" y="285750"/>
            <a:ext cx="6766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LLM은 어떻게 만들어지는가?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4" name="Google Shape;404;g3f22fe52246_0_485"/>
          <p:cNvSpPr/>
          <p:nvPr/>
        </p:nvSpPr>
        <p:spPr>
          <a:xfrm>
            <a:off x="457200" y="1051560"/>
            <a:ext cx="8229600" cy="3909000"/>
          </a:xfrm>
          <a:prstGeom prst="roundRect">
            <a:avLst>
              <a:gd fmla="val 1871" name="adj"/>
            </a:avLst>
          </a:prstGeom>
          <a:solidFill>
            <a:srgbClr val="F4F6F9"/>
          </a:solidFill>
          <a:ln cap="flat" cmpd="sng" w="12700">
            <a:solidFill>
              <a:srgbClr val="D8DDE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dir="2700000" dist="25400">
              <a:srgbClr val="000000">
                <a:alpha val="7840"/>
              </a:srgbClr>
            </a:outerShdw>
          </a:effectLst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g3f22fe52246_0_485"/>
          <p:cNvSpPr txBox="1"/>
          <p:nvPr/>
        </p:nvSpPr>
        <p:spPr>
          <a:xfrm>
            <a:off x="731519" y="1234439"/>
            <a:ext cx="7680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Fine-tuning을 위한 데이터 전처리</a:t>
            </a:r>
            <a:endParaRPr sz="16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g3f22fe52246_0_485"/>
          <p:cNvSpPr txBox="1"/>
          <p:nvPr/>
        </p:nvSpPr>
        <p:spPr>
          <a:xfrm>
            <a:off x="876150" y="1755425"/>
            <a:ext cx="7391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Calibri"/>
                <a:ea typeface="Calibri"/>
                <a:cs typeface="Calibri"/>
                <a:sym typeface="Calibri"/>
              </a:rPr>
              <a:t>5. BERT의 형식에 맞춰 데이터를 변환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g3f22fe52246_0_485"/>
          <p:cNvSpPr txBox="1"/>
          <p:nvPr/>
        </p:nvSpPr>
        <p:spPr>
          <a:xfrm>
            <a:off x="876150" y="2307300"/>
            <a:ext cx="7391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●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BERT가 사전학습에 사용했던 형태를 따라 입력 데이터를 변환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g3f22fe52246_0_485"/>
          <p:cNvSpPr txBox="1"/>
          <p:nvPr/>
        </p:nvSpPr>
        <p:spPr>
          <a:xfrm>
            <a:off x="760950" y="3089050"/>
            <a:ext cx="2101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Calibri"/>
                <a:ea typeface="Calibri"/>
                <a:cs typeface="Calibri"/>
                <a:sym typeface="Calibri"/>
              </a:rPr>
              <a:t>“안녕하세요, 반갑습니다.”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g3f22fe52246_0_485"/>
          <p:cNvSpPr txBox="1"/>
          <p:nvPr/>
        </p:nvSpPr>
        <p:spPr>
          <a:xfrm>
            <a:off x="3110250" y="2996650"/>
            <a:ext cx="2540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Calibri"/>
                <a:ea typeface="Calibri"/>
                <a:cs typeface="Calibri"/>
                <a:sym typeface="Calibri"/>
              </a:rPr>
              <a:t>“[CLS] 안녕하세요, 반갑습니다. [SEP] [PAD] </a:t>
            </a: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[PAD] [PAD]”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g3f22fe52246_0_485"/>
          <p:cNvSpPr txBox="1"/>
          <p:nvPr/>
        </p:nvSpPr>
        <p:spPr>
          <a:xfrm>
            <a:off x="5898150" y="3089050"/>
            <a:ext cx="2484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Calibri"/>
                <a:ea typeface="Calibri"/>
                <a:cs typeface="Calibri"/>
                <a:sym typeface="Calibri"/>
              </a:rPr>
              <a:t>[101, 1045, 2293, 573, 102, 0, 0, 0]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11" name="Google Shape;411;g3f22fe52246_0_485"/>
          <p:cNvCxnSpPr>
            <a:stCxn id="408" idx="3"/>
            <a:endCxn id="409" idx="1"/>
          </p:cNvCxnSpPr>
          <p:nvPr/>
        </p:nvCxnSpPr>
        <p:spPr>
          <a:xfrm>
            <a:off x="2862750" y="3273700"/>
            <a:ext cx="247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12" name="Google Shape;412;g3f22fe52246_0_485"/>
          <p:cNvCxnSpPr>
            <a:stCxn id="409" idx="3"/>
            <a:endCxn id="410" idx="1"/>
          </p:cNvCxnSpPr>
          <p:nvPr/>
        </p:nvCxnSpPr>
        <p:spPr>
          <a:xfrm>
            <a:off x="5650650" y="3273700"/>
            <a:ext cx="247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g3f275b9f5c3_0_48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A5C"/>
          </a:solidFill>
          <a:ln cap="flat" cmpd="sng" w="12700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g3f275b9f5c3_0_48"/>
          <p:cNvSpPr/>
          <p:nvPr/>
        </p:nvSpPr>
        <p:spPr>
          <a:xfrm>
            <a:off x="336316" y="297179"/>
            <a:ext cx="1280100" cy="320100"/>
          </a:xfrm>
          <a:prstGeom prst="roundRect">
            <a:avLst>
              <a:gd fmla="val 14286" name="adj"/>
            </a:avLst>
          </a:prstGeom>
          <a:solidFill>
            <a:srgbClr val="E8402A"/>
          </a:solidFill>
          <a:ln cap="flat" cmpd="sng" w="12700">
            <a:solidFill>
              <a:srgbClr val="E840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g3f275b9f5c3_0_48"/>
          <p:cNvSpPr txBox="1"/>
          <p:nvPr/>
        </p:nvSpPr>
        <p:spPr>
          <a:xfrm>
            <a:off x="336316" y="387350"/>
            <a:ext cx="1280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Helvetica Neue"/>
              <a:buNone/>
            </a:pPr>
            <a:r>
              <a:rPr b="1" lang="en-US" sz="9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LLM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0" name="Google Shape;420;g3f275b9f5c3_0_48"/>
          <p:cNvSpPr txBox="1"/>
          <p:nvPr/>
        </p:nvSpPr>
        <p:spPr>
          <a:xfrm>
            <a:off x="1920239" y="285750"/>
            <a:ext cx="6766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LLM은 어떻게 만들어지는가?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1" name="Google Shape;421;g3f275b9f5c3_0_48"/>
          <p:cNvSpPr/>
          <p:nvPr/>
        </p:nvSpPr>
        <p:spPr>
          <a:xfrm>
            <a:off x="457200" y="1051560"/>
            <a:ext cx="8229600" cy="3909000"/>
          </a:xfrm>
          <a:prstGeom prst="roundRect">
            <a:avLst>
              <a:gd fmla="val 1871" name="adj"/>
            </a:avLst>
          </a:prstGeom>
          <a:solidFill>
            <a:srgbClr val="F4F6F9"/>
          </a:solidFill>
          <a:ln cap="flat" cmpd="sng" w="12700">
            <a:solidFill>
              <a:srgbClr val="D8DDE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dir="2700000" dist="25400">
              <a:srgbClr val="000000">
                <a:alpha val="7840"/>
              </a:srgbClr>
            </a:outerShdw>
          </a:effectLst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g3f275b9f5c3_0_48"/>
          <p:cNvSpPr txBox="1"/>
          <p:nvPr/>
        </p:nvSpPr>
        <p:spPr>
          <a:xfrm>
            <a:off x="731519" y="1234439"/>
            <a:ext cx="7680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Fine-tuning을 </a:t>
            </a:r>
            <a:r>
              <a:rPr b="1" lang="en-US" sz="18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위한 모델 준비</a:t>
            </a:r>
            <a:endParaRPr sz="16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g3f275b9f5c3_0_48"/>
          <p:cNvSpPr txBox="1"/>
          <p:nvPr/>
        </p:nvSpPr>
        <p:spPr>
          <a:xfrm>
            <a:off x="876150" y="1755425"/>
            <a:ext cx="7391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Calibri"/>
                <a:ea typeface="Calibri"/>
                <a:cs typeface="Calibri"/>
                <a:sym typeface="Calibri"/>
              </a:rPr>
              <a:t>BERT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g3f275b9f5c3_0_48"/>
          <p:cNvSpPr txBox="1"/>
          <p:nvPr/>
        </p:nvSpPr>
        <p:spPr>
          <a:xfrm>
            <a:off x="876150" y="2213750"/>
            <a:ext cx="5098200" cy="16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●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BERT는 Transformer의 인코더 부분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●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BERT가 출력한 벡터가 이미 텍스트에 대한 ai 특유의 이해도를 갖고 있다고 가정하는 것.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●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뒤에 분류 레이어만 하나 추가해서 우리가 원하는 분류 결과를 얻는 것.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25" name="Google Shape;425;g3f275b9f5c3_0_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74350" y="1563372"/>
            <a:ext cx="2575126" cy="2964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g3f275b9f5c3_0_66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A5C"/>
          </a:solidFill>
          <a:ln cap="flat" cmpd="sng" w="12700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g3f275b9f5c3_0_66"/>
          <p:cNvSpPr/>
          <p:nvPr/>
        </p:nvSpPr>
        <p:spPr>
          <a:xfrm>
            <a:off x="336316" y="297179"/>
            <a:ext cx="1280100" cy="320100"/>
          </a:xfrm>
          <a:prstGeom prst="roundRect">
            <a:avLst>
              <a:gd fmla="val 14286" name="adj"/>
            </a:avLst>
          </a:prstGeom>
          <a:solidFill>
            <a:srgbClr val="E8402A"/>
          </a:solidFill>
          <a:ln cap="flat" cmpd="sng" w="12700">
            <a:solidFill>
              <a:srgbClr val="E840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g3f275b9f5c3_0_66"/>
          <p:cNvSpPr txBox="1"/>
          <p:nvPr/>
        </p:nvSpPr>
        <p:spPr>
          <a:xfrm>
            <a:off x="336316" y="387350"/>
            <a:ext cx="1280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Helvetica Neue"/>
              <a:buNone/>
            </a:pPr>
            <a:r>
              <a:rPr b="1" lang="en-US" sz="9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LLM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3" name="Google Shape;433;g3f275b9f5c3_0_66"/>
          <p:cNvSpPr txBox="1"/>
          <p:nvPr/>
        </p:nvSpPr>
        <p:spPr>
          <a:xfrm>
            <a:off x="1920239" y="285750"/>
            <a:ext cx="6766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LLM은 어떻게 만들어지는가?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4" name="Google Shape;434;g3f275b9f5c3_0_66"/>
          <p:cNvSpPr/>
          <p:nvPr/>
        </p:nvSpPr>
        <p:spPr>
          <a:xfrm>
            <a:off x="457200" y="1051560"/>
            <a:ext cx="8229600" cy="3909000"/>
          </a:xfrm>
          <a:prstGeom prst="roundRect">
            <a:avLst>
              <a:gd fmla="val 1871" name="adj"/>
            </a:avLst>
          </a:prstGeom>
          <a:solidFill>
            <a:srgbClr val="F4F6F9"/>
          </a:solidFill>
          <a:ln cap="flat" cmpd="sng" w="12700">
            <a:solidFill>
              <a:srgbClr val="D8DDE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dir="2700000" dist="25400">
              <a:srgbClr val="000000">
                <a:alpha val="7840"/>
              </a:srgbClr>
            </a:outerShdw>
          </a:effectLst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g3f275b9f5c3_0_66"/>
          <p:cNvSpPr txBox="1"/>
          <p:nvPr/>
        </p:nvSpPr>
        <p:spPr>
          <a:xfrm>
            <a:off x="731519" y="1234439"/>
            <a:ext cx="7680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Fine-tuning </a:t>
            </a:r>
            <a:r>
              <a:rPr b="1" lang="en-US" sz="18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결과 테스트</a:t>
            </a:r>
            <a:endParaRPr sz="16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g3f275b9f5c3_0_66"/>
          <p:cNvSpPr txBox="1"/>
          <p:nvPr/>
        </p:nvSpPr>
        <p:spPr>
          <a:xfrm>
            <a:off x="876150" y="1755425"/>
            <a:ext cx="7391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Calibri"/>
                <a:ea typeface="Calibri"/>
                <a:cs typeface="Calibri"/>
                <a:sym typeface="Calibri"/>
              </a:rPr>
              <a:t>평가지표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g3f275b9f5c3_0_66"/>
          <p:cNvSpPr txBox="1"/>
          <p:nvPr/>
        </p:nvSpPr>
        <p:spPr>
          <a:xfrm>
            <a:off x="876150" y="2213750"/>
            <a:ext cx="4744500" cy="20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●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Accuracy : 모델이 전체 데이터를 얼마나 올바르게 분류했는지 평가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●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F1 Score : 주어진 라벨의 비율을 고려했을 때 얼마나 잘 분류했는지 평가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●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Confusion matrix : 모델이 각 라벨을 얼마나 잘 맞췄는지 시각적으로 확인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38" name="Google Shape;438;g3f275b9f5c3_0_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65750" y="1252300"/>
            <a:ext cx="1813017" cy="1714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39" name="Google Shape;439;g3f275b9f5c3_0_6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65750" y="3201300"/>
            <a:ext cx="1813025" cy="1519247"/>
          </a:xfrm>
          <a:prstGeom prst="rect">
            <a:avLst/>
          </a:prstGeom>
          <a:solidFill>
            <a:srgbClr val="F4F6F9"/>
          </a:solidFill>
          <a:ln cap="flat" cmpd="sng" w="12700">
            <a:solidFill>
              <a:srgbClr val="D8DDE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dir="2700000" dist="25400">
              <a:srgbClr val="000000">
                <a:alpha val="7840"/>
              </a:srgbClr>
            </a:outerShdw>
          </a:effectLst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g3f22fe52246_0_35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A5C"/>
          </a:solidFill>
          <a:ln cap="flat" cmpd="sng" w="12700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g3f22fe52246_0_352"/>
          <p:cNvSpPr/>
          <p:nvPr/>
        </p:nvSpPr>
        <p:spPr>
          <a:xfrm>
            <a:off x="336316" y="297179"/>
            <a:ext cx="1280100" cy="320100"/>
          </a:xfrm>
          <a:prstGeom prst="roundRect">
            <a:avLst>
              <a:gd fmla="val 14286" name="adj"/>
            </a:avLst>
          </a:prstGeom>
          <a:solidFill>
            <a:srgbClr val="E8402A"/>
          </a:solidFill>
          <a:ln cap="flat" cmpd="sng" w="12700">
            <a:solidFill>
              <a:srgbClr val="E840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g3f22fe52246_0_352"/>
          <p:cNvSpPr txBox="1"/>
          <p:nvPr/>
        </p:nvSpPr>
        <p:spPr>
          <a:xfrm>
            <a:off x="336316" y="387350"/>
            <a:ext cx="1280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Helvetica Neue"/>
              <a:buNone/>
            </a:pPr>
            <a:r>
              <a:rPr b="1" lang="en-US" sz="9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LLM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7" name="Google Shape;447;g3f22fe52246_0_352"/>
          <p:cNvSpPr txBox="1"/>
          <p:nvPr/>
        </p:nvSpPr>
        <p:spPr>
          <a:xfrm>
            <a:off x="1920239" y="285750"/>
            <a:ext cx="6766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LLM은 어떻게 만들어지는가?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8" name="Google Shape;448;g3f22fe52246_0_352"/>
          <p:cNvSpPr/>
          <p:nvPr/>
        </p:nvSpPr>
        <p:spPr>
          <a:xfrm>
            <a:off x="457200" y="1051560"/>
            <a:ext cx="8229600" cy="3909000"/>
          </a:xfrm>
          <a:prstGeom prst="roundRect">
            <a:avLst>
              <a:gd fmla="val 1871" name="adj"/>
            </a:avLst>
          </a:prstGeom>
          <a:solidFill>
            <a:srgbClr val="F4F6F9"/>
          </a:solidFill>
          <a:ln cap="flat" cmpd="sng" w="12700">
            <a:solidFill>
              <a:srgbClr val="D8DDE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dir="2700000" dist="25400">
              <a:srgbClr val="000000">
                <a:alpha val="7840"/>
              </a:srgbClr>
            </a:outerShdw>
          </a:effectLst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g3f22fe52246_0_352"/>
          <p:cNvSpPr txBox="1"/>
          <p:nvPr/>
        </p:nvSpPr>
        <p:spPr>
          <a:xfrm>
            <a:off x="731519" y="1234439"/>
            <a:ext cx="7680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Huggingface란?</a:t>
            </a:r>
            <a:endParaRPr sz="16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50" name="Google Shape;450;g3f22fe52246_0_3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95525" y="1783125"/>
            <a:ext cx="4152900" cy="1104900"/>
          </a:xfrm>
          <a:prstGeom prst="rect">
            <a:avLst/>
          </a:prstGeom>
          <a:noFill/>
          <a:ln>
            <a:noFill/>
          </a:ln>
        </p:spPr>
      </p:pic>
      <p:sp>
        <p:nvSpPr>
          <p:cNvPr id="451" name="Google Shape;451;g3f22fe52246_0_352"/>
          <p:cNvSpPr txBox="1"/>
          <p:nvPr/>
        </p:nvSpPr>
        <p:spPr>
          <a:xfrm>
            <a:off x="876150" y="3156625"/>
            <a:ext cx="7391700" cy="136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●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"머신러닝계의 GitHub" — AI 모델·데이터셋·데모를 누구나 공유하는 오픈소스 플랫폼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●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240만 개 이상의 사전학습 모델을 단 몇 줄 코드로 바로 불러와 사용 가능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●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텍스트 생성, 이미지 분류, 번역 등 다양한 AI 태스크를 손쉽게 구현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●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학습·파인튜닝·배포까지 AI 개발 전 과정을 하나의 생태계에서 지원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g3f279b47e8f_0_0"/>
          <p:cNvSpPr/>
          <p:nvPr/>
        </p:nvSpPr>
        <p:spPr>
          <a:xfrm>
            <a:off x="0" y="0"/>
            <a:ext cx="7667100" cy="5143500"/>
          </a:xfrm>
          <a:prstGeom prst="roundRect">
            <a:avLst>
              <a:gd fmla="val 1871" name="adj"/>
            </a:avLst>
          </a:prstGeom>
          <a:solidFill>
            <a:srgbClr val="E8402A"/>
          </a:solidFill>
          <a:ln cap="flat" cmpd="sng" w="12700">
            <a:solidFill>
              <a:srgbClr val="D8DDE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dir="2700000" dist="25400">
              <a:srgbClr val="000000">
                <a:alpha val="7840"/>
              </a:srgbClr>
            </a:outerShdw>
          </a:effectLst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g3f279b47e8f_0_0"/>
          <p:cNvSpPr/>
          <p:nvPr/>
        </p:nvSpPr>
        <p:spPr>
          <a:xfrm>
            <a:off x="0" y="0"/>
            <a:ext cx="6376200" cy="5143500"/>
          </a:xfrm>
          <a:prstGeom prst="roundRect">
            <a:avLst>
              <a:gd fmla="val 1871" name="adj"/>
            </a:avLst>
          </a:prstGeom>
          <a:solidFill>
            <a:srgbClr val="F4F6F9"/>
          </a:solidFill>
          <a:ln cap="flat" cmpd="sng" w="12700">
            <a:solidFill>
              <a:srgbClr val="D8DDE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dir="2700000" dist="25400">
              <a:srgbClr val="000000">
                <a:alpha val="7840"/>
              </a:srgbClr>
            </a:outerShdw>
          </a:effectLst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g3f279b47e8f_0_0"/>
          <p:cNvSpPr txBox="1"/>
          <p:nvPr/>
        </p:nvSpPr>
        <p:spPr>
          <a:xfrm>
            <a:off x="621875" y="2117550"/>
            <a:ext cx="53631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latin typeface="Calibri"/>
                <a:ea typeface="Calibri"/>
                <a:cs typeface="Calibri"/>
                <a:sym typeface="Calibri"/>
              </a:rPr>
              <a:t>2. Text Generate</a:t>
            </a:r>
            <a:endParaRPr b="1" sz="32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g3f279b47e8f_0_6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A5C"/>
          </a:solidFill>
          <a:ln cap="flat" cmpd="sng" w="12700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g3f279b47e8f_0_6"/>
          <p:cNvSpPr/>
          <p:nvPr/>
        </p:nvSpPr>
        <p:spPr>
          <a:xfrm>
            <a:off x="336316" y="297179"/>
            <a:ext cx="1280100" cy="320100"/>
          </a:xfrm>
          <a:prstGeom prst="roundRect">
            <a:avLst>
              <a:gd fmla="val 14286" name="adj"/>
            </a:avLst>
          </a:prstGeom>
          <a:solidFill>
            <a:srgbClr val="E8402A"/>
          </a:solidFill>
          <a:ln cap="flat" cmpd="sng" w="12700">
            <a:solidFill>
              <a:srgbClr val="E840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g3f279b47e8f_0_6"/>
          <p:cNvSpPr txBox="1"/>
          <p:nvPr/>
        </p:nvSpPr>
        <p:spPr>
          <a:xfrm>
            <a:off x="336316" y="387350"/>
            <a:ext cx="1280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Helvetica Neue"/>
              <a:buNone/>
            </a:pPr>
            <a:r>
              <a:rPr b="1" lang="en-US" sz="9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SFT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6" name="Google Shape;466;g3f279b47e8f_0_6"/>
          <p:cNvSpPr txBox="1"/>
          <p:nvPr/>
        </p:nvSpPr>
        <p:spPr>
          <a:xfrm>
            <a:off x="1920239" y="285750"/>
            <a:ext cx="6766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Text Generate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7" name="Google Shape;467;g3f279b47e8f_0_6"/>
          <p:cNvSpPr/>
          <p:nvPr/>
        </p:nvSpPr>
        <p:spPr>
          <a:xfrm>
            <a:off x="457200" y="1051560"/>
            <a:ext cx="8229600" cy="3909000"/>
          </a:xfrm>
          <a:prstGeom prst="roundRect">
            <a:avLst>
              <a:gd fmla="val 1871" name="adj"/>
            </a:avLst>
          </a:prstGeom>
          <a:solidFill>
            <a:srgbClr val="F4F6F9"/>
          </a:solidFill>
          <a:ln cap="flat" cmpd="sng" w="12700">
            <a:solidFill>
              <a:srgbClr val="D8DDE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dir="2700000" dist="25400">
              <a:srgbClr val="000000">
                <a:alpha val="7840"/>
              </a:srgbClr>
            </a:outerShdw>
          </a:effectLst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g3f279b47e8f_0_6"/>
          <p:cNvSpPr txBox="1"/>
          <p:nvPr/>
        </p:nvSpPr>
        <p:spPr>
          <a:xfrm>
            <a:off x="731519" y="1234439"/>
            <a:ext cx="7680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Pre-training</a:t>
            </a:r>
            <a:endParaRPr sz="16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g3f279b47e8f_0_6"/>
          <p:cNvSpPr txBox="1"/>
          <p:nvPr/>
        </p:nvSpPr>
        <p:spPr>
          <a:xfrm>
            <a:off x="876150" y="1857275"/>
            <a:ext cx="75363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●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텍스트 생성 AI는 Transformer의 디코더 구조(GPT)를 사용합니다.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●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GPT의 사전학습은 구체적으로 어떻게 이뤄질까?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g3f279b47e8f_0_17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A5C"/>
          </a:solidFill>
          <a:ln cap="flat" cmpd="sng" w="12700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g3f279b47e8f_0_17"/>
          <p:cNvSpPr/>
          <p:nvPr/>
        </p:nvSpPr>
        <p:spPr>
          <a:xfrm>
            <a:off x="336316" y="297179"/>
            <a:ext cx="1280100" cy="320100"/>
          </a:xfrm>
          <a:prstGeom prst="roundRect">
            <a:avLst>
              <a:gd fmla="val 14286" name="adj"/>
            </a:avLst>
          </a:prstGeom>
          <a:solidFill>
            <a:srgbClr val="E8402A"/>
          </a:solidFill>
          <a:ln cap="flat" cmpd="sng" w="12700">
            <a:solidFill>
              <a:srgbClr val="E840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g3f279b47e8f_0_17"/>
          <p:cNvSpPr txBox="1"/>
          <p:nvPr/>
        </p:nvSpPr>
        <p:spPr>
          <a:xfrm>
            <a:off x="336316" y="387350"/>
            <a:ext cx="1280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Helvetica Neue"/>
              <a:buNone/>
            </a:pPr>
            <a:r>
              <a:rPr b="1" lang="en-US" sz="9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SFT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7" name="Google Shape;477;g3f279b47e8f_0_17"/>
          <p:cNvSpPr txBox="1"/>
          <p:nvPr/>
        </p:nvSpPr>
        <p:spPr>
          <a:xfrm>
            <a:off x="1920239" y="285750"/>
            <a:ext cx="67665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Text Generate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t/>
            </a:r>
            <a:endParaRPr b="1" sz="22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g3f279b47e8f_0_17"/>
          <p:cNvSpPr/>
          <p:nvPr/>
        </p:nvSpPr>
        <p:spPr>
          <a:xfrm>
            <a:off x="457200" y="1051560"/>
            <a:ext cx="8229600" cy="3909000"/>
          </a:xfrm>
          <a:prstGeom prst="roundRect">
            <a:avLst>
              <a:gd fmla="val 1871" name="adj"/>
            </a:avLst>
          </a:prstGeom>
          <a:solidFill>
            <a:srgbClr val="F4F6F9"/>
          </a:solidFill>
          <a:ln cap="flat" cmpd="sng" w="12700">
            <a:solidFill>
              <a:srgbClr val="D8DDE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dir="2700000" dist="25400">
              <a:srgbClr val="000000">
                <a:alpha val="7840"/>
              </a:srgbClr>
            </a:outerShdw>
          </a:effectLst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g3f279b47e8f_0_17"/>
          <p:cNvSpPr txBox="1"/>
          <p:nvPr/>
        </p:nvSpPr>
        <p:spPr>
          <a:xfrm>
            <a:off x="731519" y="1234439"/>
            <a:ext cx="7680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Pre-training</a:t>
            </a:r>
            <a:endParaRPr sz="16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g3f279b47e8f_0_17"/>
          <p:cNvSpPr txBox="1"/>
          <p:nvPr/>
        </p:nvSpPr>
        <p:spPr>
          <a:xfrm>
            <a:off x="876150" y="1653550"/>
            <a:ext cx="7536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●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Next Token Prediction : 앞의 토큰을 보고 그 뒤에 올 Token을 예측하는 식으로 학습된다.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g3f279b47e8f_0_17"/>
          <p:cNvSpPr txBox="1"/>
          <p:nvPr/>
        </p:nvSpPr>
        <p:spPr>
          <a:xfrm>
            <a:off x="4573650" y="2366800"/>
            <a:ext cx="2543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latin typeface="Calibri"/>
                <a:ea typeface="Calibri"/>
                <a:cs typeface="Calibri"/>
                <a:sym typeface="Calibri"/>
              </a:rPr>
              <a:t>오늘 / 날씨 / 는 / 맑 / 을 / 예정 / 입 / 니다 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g3f279b47e8f_0_17"/>
          <p:cNvSpPr/>
          <p:nvPr/>
        </p:nvSpPr>
        <p:spPr>
          <a:xfrm>
            <a:off x="1269638" y="3531250"/>
            <a:ext cx="1366500" cy="577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GPT</a:t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g3f279b47e8f_0_17"/>
          <p:cNvSpPr txBox="1"/>
          <p:nvPr/>
        </p:nvSpPr>
        <p:spPr>
          <a:xfrm>
            <a:off x="1660988" y="4282425"/>
            <a:ext cx="583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latin typeface="Calibri"/>
                <a:ea typeface="Calibri"/>
                <a:cs typeface="Calibri"/>
                <a:sym typeface="Calibri"/>
              </a:rPr>
              <a:t>오늘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g3f279b47e8f_0_17"/>
          <p:cNvSpPr txBox="1"/>
          <p:nvPr/>
        </p:nvSpPr>
        <p:spPr>
          <a:xfrm>
            <a:off x="1542638" y="3018575"/>
            <a:ext cx="820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latin typeface="Calibri"/>
                <a:ea typeface="Calibri"/>
                <a:cs typeface="Calibri"/>
                <a:sym typeface="Calibri"/>
              </a:rPr>
              <a:t>날씨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85" name="Google Shape;485;g3f279b47e8f_0_17"/>
          <p:cNvCxnSpPr>
            <a:stCxn id="483" idx="0"/>
            <a:endCxn id="482" idx="2"/>
          </p:cNvCxnSpPr>
          <p:nvPr/>
        </p:nvCxnSpPr>
        <p:spPr>
          <a:xfrm rot="10800000">
            <a:off x="1952888" y="4108425"/>
            <a:ext cx="0" cy="174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86" name="Google Shape;486;g3f279b47e8f_0_17"/>
          <p:cNvCxnSpPr>
            <a:stCxn id="482" idx="0"/>
            <a:endCxn id="484" idx="2"/>
          </p:cNvCxnSpPr>
          <p:nvPr/>
        </p:nvCxnSpPr>
        <p:spPr>
          <a:xfrm rot="10800000">
            <a:off x="1952888" y="3357250"/>
            <a:ext cx="0" cy="174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87" name="Google Shape;487;g3f279b47e8f_0_17"/>
          <p:cNvSpPr/>
          <p:nvPr/>
        </p:nvSpPr>
        <p:spPr>
          <a:xfrm>
            <a:off x="3043563" y="3531250"/>
            <a:ext cx="1366500" cy="577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GPT</a:t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g3f279b47e8f_0_17"/>
          <p:cNvSpPr txBox="1"/>
          <p:nvPr/>
        </p:nvSpPr>
        <p:spPr>
          <a:xfrm>
            <a:off x="3261363" y="4282425"/>
            <a:ext cx="930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latin typeface="Calibri"/>
                <a:ea typeface="Calibri"/>
                <a:cs typeface="Calibri"/>
                <a:sym typeface="Calibri"/>
              </a:rPr>
              <a:t>오늘 / 날씨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g3f279b47e8f_0_17"/>
          <p:cNvSpPr txBox="1"/>
          <p:nvPr/>
        </p:nvSpPr>
        <p:spPr>
          <a:xfrm>
            <a:off x="3104613" y="3018575"/>
            <a:ext cx="1244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latin typeface="Calibri"/>
                <a:ea typeface="Calibri"/>
                <a:cs typeface="Calibri"/>
                <a:sym typeface="Calibri"/>
              </a:rPr>
              <a:t>는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90" name="Google Shape;490;g3f279b47e8f_0_17"/>
          <p:cNvCxnSpPr>
            <a:stCxn id="488" idx="0"/>
            <a:endCxn id="487" idx="2"/>
          </p:cNvCxnSpPr>
          <p:nvPr/>
        </p:nvCxnSpPr>
        <p:spPr>
          <a:xfrm rot="10800000">
            <a:off x="3726813" y="4108425"/>
            <a:ext cx="0" cy="174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91" name="Google Shape;491;g3f279b47e8f_0_17"/>
          <p:cNvCxnSpPr>
            <a:stCxn id="487" idx="0"/>
            <a:endCxn id="489" idx="2"/>
          </p:cNvCxnSpPr>
          <p:nvPr/>
        </p:nvCxnSpPr>
        <p:spPr>
          <a:xfrm rot="10800000">
            <a:off x="3726813" y="3357250"/>
            <a:ext cx="0" cy="174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92" name="Google Shape;492;g3f279b47e8f_0_17"/>
          <p:cNvSpPr txBox="1"/>
          <p:nvPr/>
        </p:nvSpPr>
        <p:spPr>
          <a:xfrm>
            <a:off x="2171550" y="2366800"/>
            <a:ext cx="1850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오늘 날씨는 맑을 예정입니다</a:t>
            </a:r>
            <a:endParaRPr sz="3200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93" name="Google Shape;493;g3f279b47e8f_0_17"/>
          <p:cNvCxnSpPr>
            <a:stCxn id="492" idx="3"/>
            <a:endCxn id="481" idx="1"/>
          </p:cNvCxnSpPr>
          <p:nvPr/>
        </p:nvCxnSpPr>
        <p:spPr>
          <a:xfrm>
            <a:off x="4021950" y="2536150"/>
            <a:ext cx="551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94" name="Google Shape;494;g3f279b47e8f_0_17"/>
          <p:cNvSpPr/>
          <p:nvPr/>
        </p:nvSpPr>
        <p:spPr>
          <a:xfrm>
            <a:off x="4817488" y="3531250"/>
            <a:ext cx="1366500" cy="577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GPT</a:t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g3f279b47e8f_0_17"/>
          <p:cNvSpPr txBox="1"/>
          <p:nvPr/>
        </p:nvSpPr>
        <p:spPr>
          <a:xfrm>
            <a:off x="4878554" y="4282425"/>
            <a:ext cx="1244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latin typeface="Calibri"/>
                <a:ea typeface="Calibri"/>
                <a:cs typeface="Calibri"/>
                <a:sym typeface="Calibri"/>
              </a:rPr>
              <a:t>오늘 / 날씨 / </a:t>
            </a:r>
            <a:r>
              <a:rPr lang="en-US" sz="1000">
                <a:latin typeface="Calibri"/>
                <a:ea typeface="Calibri"/>
                <a:cs typeface="Calibri"/>
                <a:sym typeface="Calibri"/>
              </a:rPr>
              <a:t>는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g3f279b47e8f_0_17"/>
          <p:cNvSpPr txBox="1"/>
          <p:nvPr/>
        </p:nvSpPr>
        <p:spPr>
          <a:xfrm>
            <a:off x="4878538" y="3018575"/>
            <a:ext cx="1244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latin typeface="Calibri"/>
                <a:ea typeface="Calibri"/>
                <a:cs typeface="Calibri"/>
                <a:sym typeface="Calibri"/>
              </a:rPr>
              <a:t>맑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97" name="Google Shape;497;g3f279b47e8f_0_17"/>
          <p:cNvCxnSpPr>
            <a:stCxn id="495" idx="0"/>
            <a:endCxn id="494" idx="2"/>
          </p:cNvCxnSpPr>
          <p:nvPr/>
        </p:nvCxnSpPr>
        <p:spPr>
          <a:xfrm rot="10800000">
            <a:off x="5500754" y="4108425"/>
            <a:ext cx="0" cy="174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98" name="Google Shape;498;g3f279b47e8f_0_17"/>
          <p:cNvCxnSpPr>
            <a:stCxn id="494" idx="0"/>
            <a:endCxn id="496" idx="2"/>
          </p:cNvCxnSpPr>
          <p:nvPr/>
        </p:nvCxnSpPr>
        <p:spPr>
          <a:xfrm rot="10800000">
            <a:off x="5500738" y="3357250"/>
            <a:ext cx="0" cy="174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99" name="Google Shape;499;g3f279b47e8f_0_17"/>
          <p:cNvSpPr/>
          <p:nvPr/>
        </p:nvSpPr>
        <p:spPr>
          <a:xfrm>
            <a:off x="6652463" y="3531250"/>
            <a:ext cx="1366500" cy="577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GPT</a:t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g3f279b47e8f_0_17"/>
          <p:cNvSpPr txBox="1"/>
          <p:nvPr/>
        </p:nvSpPr>
        <p:spPr>
          <a:xfrm>
            <a:off x="6695675" y="4282425"/>
            <a:ext cx="1280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latin typeface="Calibri"/>
                <a:ea typeface="Calibri"/>
                <a:cs typeface="Calibri"/>
                <a:sym typeface="Calibri"/>
              </a:rPr>
              <a:t>오늘 / 날씨 / </a:t>
            </a:r>
            <a:r>
              <a:rPr lang="en-US" sz="1000">
                <a:latin typeface="Calibri"/>
                <a:ea typeface="Calibri"/>
                <a:cs typeface="Calibri"/>
                <a:sym typeface="Calibri"/>
              </a:rPr>
              <a:t>는 / 맑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g3f279b47e8f_0_17"/>
          <p:cNvSpPr txBox="1"/>
          <p:nvPr/>
        </p:nvSpPr>
        <p:spPr>
          <a:xfrm>
            <a:off x="6713513" y="3018575"/>
            <a:ext cx="1244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latin typeface="Calibri"/>
                <a:ea typeface="Calibri"/>
                <a:cs typeface="Calibri"/>
                <a:sym typeface="Calibri"/>
              </a:rPr>
              <a:t>을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02" name="Google Shape;502;g3f279b47e8f_0_17"/>
          <p:cNvCxnSpPr>
            <a:stCxn id="500" idx="0"/>
            <a:endCxn id="499" idx="2"/>
          </p:cNvCxnSpPr>
          <p:nvPr/>
        </p:nvCxnSpPr>
        <p:spPr>
          <a:xfrm rot="10800000">
            <a:off x="7335725" y="4108425"/>
            <a:ext cx="0" cy="174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03" name="Google Shape;503;g3f279b47e8f_0_17"/>
          <p:cNvCxnSpPr>
            <a:stCxn id="499" idx="0"/>
            <a:endCxn id="501" idx="2"/>
          </p:cNvCxnSpPr>
          <p:nvPr/>
        </p:nvCxnSpPr>
        <p:spPr>
          <a:xfrm rot="10800000">
            <a:off x="7335713" y="3357250"/>
            <a:ext cx="0" cy="174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g3f279b47e8f_0_188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A5C"/>
          </a:solidFill>
          <a:ln cap="flat" cmpd="sng" w="12700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" name="Google Shape;509;g3f279b47e8f_0_188"/>
          <p:cNvSpPr/>
          <p:nvPr/>
        </p:nvSpPr>
        <p:spPr>
          <a:xfrm>
            <a:off x="336316" y="297179"/>
            <a:ext cx="1280100" cy="320100"/>
          </a:xfrm>
          <a:prstGeom prst="roundRect">
            <a:avLst>
              <a:gd fmla="val 14286" name="adj"/>
            </a:avLst>
          </a:prstGeom>
          <a:solidFill>
            <a:srgbClr val="E8402A"/>
          </a:solidFill>
          <a:ln cap="flat" cmpd="sng" w="12700">
            <a:solidFill>
              <a:srgbClr val="E840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" name="Google Shape;510;g3f279b47e8f_0_188"/>
          <p:cNvSpPr txBox="1"/>
          <p:nvPr/>
        </p:nvSpPr>
        <p:spPr>
          <a:xfrm>
            <a:off x="336316" y="387350"/>
            <a:ext cx="1280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Helvetica Neue"/>
              <a:buNone/>
            </a:pPr>
            <a:r>
              <a:rPr b="1" lang="en-US" sz="9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SFT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1" name="Google Shape;511;g3f279b47e8f_0_188"/>
          <p:cNvSpPr txBox="1"/>
          <p:nvPr/>
        </p:nvSpPr>
        <p:spPr>
          <a:xfrm>
            <a:off x="1920239" y="285750"/>
            <a:ext cx="67665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Text Generate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t/>
            </a:r>
            <a:endParaRPr b="1" sz="22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2" name="Google Shape;512;g3f279b47e8f_0_188"/>
          <p:cNvSpPr/>
          <p:nvPr/>
        </p:nvSpPr>
        <p:spPr>
          <a:xfrm>
            <a:off x="457200" y="1051560"/>
            <a:ext cx="8229600" cy="3909000"/>
          </a:xfrm>
          <a:prstGeom prst="roundRect">
            <a:avLst>
              <a:gd fmla="val 1871" name="adj"/>
            </a:avLst>
          </a:prstGeom>
          <a:solidFill>
            <a:srgbClr val="F4F6F9"/>
          </a:solidFill>
          <a:ln cap="flat" cmpd="sng" w="12700">
            <a:solidFill>
              <a:srgbClr val="D8DDE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dir="2700000" dist="25400">
              <a:srgbClr val="000000">
                <a:alpha val="7840"/>
              </a:srgbClr>
            </a:outerShdw>
          </a:effectLst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3" name="Google Shape;513;g3f279b47e8f_0_188"/>
          <p:cNvSpPr txBox="1"/>
          <p:nvPr/>
        </p:nvSpPr>
        <p:spPr>
          <a:xfrm>
            <a:off x="731519" y="1234439"/>
            <a:ext cx="7680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Pre-training</a:t>
            </a:r>
            <a:endParaRPr sz="16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" name="Google Shape;514;g3f279b47e8f_0_188"/>
          <p:cNvSpPr txBox="1"/>
          <p:nvPr/>
        </p:nvSpPr>
        <p:spPr>
          <a:xfrm>
            <a:off x="876150" y="1653550"/>
            <a:ext cx="7536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●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토크나이저의 단어 사전에서 가장 적합한 토큰을 찾는 ‘분류’ 문제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" name="Google Shape;515;g3f279b47e8f_0_188"/>
          <p:cNvSpPr/>
          <p:nvPr/>
        </p:nvSpPr>
        <p:spPr>
          <a:xfrm>
            <a:off x="3842688" y="3181350"/>
            <a:ext cx="1366500" cy="577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GPT</a:t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" name="Google Shape;516;g3f279b47e8f_0_188"/>
          <p:cNvSpPr txBox="1"/>
          <p:nvPr/>
        </p:nvSpPr>
        <p:spPr>
          <a:xfrm>
            <a:off x="2638363" y="3300600"/>
            <a:ext cx="583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latin typeface="Calibri"/>
                <a:ea typeface="Calibri"/>
                <a:cs typeface="Calibri"/>
                <a:sym typeface="Calibri"/>
              </a:rPr>
              <a:t>오늘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g3f279b47e8f_0_188"/>
          <p:cNvSpPr txBox="1"/>
          <p:nvPr/>
        </p:nvSpPr>
        <p:spPr>
          <a:xfrm>
            <a:off x="5829713" y="2492550"/>
            <a:ext cx="820500" cy="195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날씨</a:t>
            </a:r>
            <a:endParaRPr sz="1000">
              <a:solidFill>
                <a:srgbClr val="DC262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latin typeface="Calibri"/>
                <a:ea typeface="Calibri"/>
                <a:cs typeface="Calibri"/>
                <a:sym typeface="Calibri"/>
              </a:rPr>
              <a:t>기분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latin typeface="Calibri"/>
                <a:ea typeface="Calibri"/>
                <a:cs typeface="Calibri"/>
                <a:sym typeface="Calibri"/>
              </a:rPr>
              <a:t>은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latin typeface="Calibri"/>
                <a:ea typeface="Calibri"/>
                <a:cs typeface="Calibri"/>
                <a:sym typeface="Calibri"/>
              </a:rPr>
              <a:t>정말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latin typeface="Calibri"/>
                <a:ea typeface="Calibri"/>
                <a:cs typeface="Calibri"/>
                <a:sym typeface="Calibri"/>
              </a:rPr>
              <a:t>상황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latin typeface="Calibri"/>
                <a:ea typeface="Calibri"/>
                <a:cs typeface="Calibri"/>
                <a:sym typeface="Calibri"/>
              </a:rPr>
              <a:t>눈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latin typeface="Calibri"/>
                <a:ea typeface="Calibri"/>
                <a:cs typeface="Calibri"/>
                <a:sym typeface="Calibri"/>
              </a:rPr>
              <a:t>택배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latin typeface="Calibri"/>
                <a:ea typeface="Calibri"/>
                <a:cs typeface="Calibri"/>
                <a:sym typeface="Calibri"/>
              </a:rPr>
              <a:t>…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18" name="Google Shape;518;g3f279b47e8f_0_188"/>
          <p:cNvCxnSpPr>
            <a:stCxn id="516" idx="3"/>
            <a:endCxn id="515" idx="1"/>
          </p:cNvCxnSpPr>
          <p:nvPr/>
        </p:nvCxnSpPr>
        <p:spPr>
          <a:xfrm>
            <a:off x="3222163" y="3469950"/>
            <a:ext cx="620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19" name="Google Shape;519;g3f279b47e8f_0_188"/>
          <p:cNvCxnSpPr>
            <a:stCxn id="515" idx="3"/>
            <a:endCxn id="517" idx="1"/>
          </p:cNvCxnSpPr>
          <p:nvPr/>
        </p:nvCxnSpPr>
        <p:spPr>
          <a:xfrm>
            <a:off x="5209188" y="3469950"/>
            <a:ext cx="620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20" name="Google Shape;520;g3f279b47e8f_0_188"/>
          <p:cNvCxnSpPr/>
          <p:nvPr/>
        </p:nvCxnSpPr>
        <p:spPr>
          <a:xfrm>
            <a:off x="5907375" y="2563250"/>
            <a:ext cx="0" cy="1841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21" name="Google Shape;521;g3f279b47e8f_0_188"/>
          <p:cNvSpPr txBox="1"/>
          <p:nvPr/>
        </p:nvSpPr>
        <p:spPr>
          <a:xfrm>
            <a:off x="6508713" y="2492550"/>
            <a:ext cx="820500" cy="195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0.05</a:t>
            </a:r>
            <a:endParaRPr sz="1000">
              <a:solidFill>
                <a:srgbClr val="DC262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latin typeface="Calibri"/>
                <a:ea typeface="Calibri"/>
                <a:cs typeface="Calibri"/>
                <a:sym typeface="Calibri"/>
              </a:rPr>
              <a:t>0.04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latin typeface="Calibri"/>
                <a:ea typeface="Calibri"/>
                <a:cs typeface="Calibri"/>
                <a:sym typeface="Calibri"/>
              </a:rPr>
              <a:t>0.04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latin typeface="Calibri"/>
                <a:ea typeface="Calibri"/>
                <a:cs typeface="Calibri"/>
                <a:sym typeface="Calibri"/>
              </a:rPr>
              <a:t>0.03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latin typeface="Calibri"/>
                <a:ea typeface="Calibri"/>
                <a:cs typeface="Calibri"/>
                <a:sym typeface="Calibri"/>
              </a:rPr>
              <a:t>0.03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latin typeface="Calibri"/>
                <a:ea typeface="Calibri"/>
                <a:cs typeface="Calibri"/>
                <a:sym typeface="Calibri"/>
              </a:rPr>
              <a:t>0.02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latin typeface="Calibri"/>
                <a:ea typeface="Calibri"/>
                <a:cs typeface="Calibri"/>
                <a:sym typeface="Calibri"/>
              </a:rPr>
              <a:t>0.01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latin typeface="Calibri"/>
                <a:ea typeface="Calibri"/>
                <a:cs typeface="Calibri"/>
                <a:sym typeface="Calibri"/>
              </a:rPr>
              <a:t>…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g3f279b47e8f_0_96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A5C"/>
          </a:solidFill>
          <a:ln cap="flat" cmpd="sng" w="12700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7" name="Google Shape;527;g3f279b47e8f_0_96"/>
          <p:cNvSpPr/>
          <p:nvPr/>
        </p:nvSpPr>
        <p:spPr>
          <a:xfrm>
            <a:off x="336316" y="297179"/>
            <a:ext cx="1280100" cy="320100"/>
          </a:xfrm>
          <a:prstGeom prst="roundRect">
            <a:avLst>
              <a:gd fmla="val 14286" name="adj"/>
            </a:avLst>
          </a:prstGeom>
          <a:solidFill>
            <a:srgbClr val="E8402A"/>
          </a:solidFill>
          <a:ln cap="flat" cmpd="sng" w="12700">
            <a:solidFill>
              <a:srgbClr val="E840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8" name="Google Shape;528;g3f279b47e8f_0_96"/>
          <p:cNvSpPr txBox="1"/>
          <p:nvPr/>
        </p:nvSpPr>
        <p:spPr>
          <a:xfrm>
            <a:off x="336316" y="387350"/>
            <a:ext cx="1280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Helvetica Neue"/>
              <a:buNone/>
            </a:pPr>
            <a:r>
              <a:rPr b="1" lang="en-US" sz="9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SFT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9" name="Google Shape;529;g3f279b47e8f_0_96"/>
          <p:cNvSpPr txBox="1"/>
          <p:nvPr/>
        </p:nvSpPr>
        <p:spPr>
          <a:xfrm>
            <a:off x="1920239" y="285750"/>
            <a:ext cx="67665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Text Generate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t/>
            </a:r>
            <a:endParaRPr b="1" sz="22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0" name="Google Shape;530;g3f279b47e8f_0_96"/>
          <p:cNvSpPr/>
          <p:nvPr/>
        </p:nvSpPr>
        <p:spPr>
          <a:xfrm>
            <a:off x="457200" y="1051560"/>
            <a:ext cx="8229600" cy="3909000"/>
          </a:xfrm>
          <a:prstGeom prst="roundRect">
            <a:avLst>
              <a:gd fmla="val 1871" name="adj"/>
            </a:avLst>
          </a:prstGeom>
          <a:solidFill>
            <a:srgbClr val="F4F6F9"/>
          </a:solidFill>
          <a:ln cap="flat" cmpd="sng" w="12700">
            <a:solidFill>
              <a:srgbClr val="D8DDE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dir="2700000" dist="25400">
              <a:srgbClr val="000000">
                <a:alpha val="7840"/>
              </a:srgbClr>
            </a:outerShdw>
          </a:effectLst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1" name="Google Shape;531;g3f279b47e8f_0_96"/>
          <p:cNvSpPr txBox="1"/>
          <p:nvPr/>
        </p:nvSpPr>
        <p:spPr>
          <a:xfrm>
            <a:off x="731519" y="1234439"/>
            <a:ext cx="7680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Pre-training</a:t>
            </a:r>
            <a:endParaRPr sz="16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2" name="Google Shape;532;g3f279b47e8f_0_96"/>
          <p:cNvSpPr txBox="1"/>
          <p:nvPr/>
        </p:nvSpPr>
        <p:spPr>
          <a:xfrm>
            <a:off x="876150" y="2060950"/>
            <a:ext cx="75363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●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문장을 완성하는 과정에서 통계적으로 문맥에 알맞는 단어를 선택하도록 학습하게 된다.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●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이 단계에서는 그냥 그럴 듯한 문장을 만들어내기만 할 뿐, 의사소통이 가능한 상태가 아님.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●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따라서 우리가 아는 챗봇을 만들기 위해선 추가 학습이 필요하다.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6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g3f279b47e8f_0_58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A5C"/>
          </a:solidFill>
          <a:ln cap="flat" cmpd="sng" w="12700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8" name="Google Shape;538;g3f279b47e8f_0_58"/>
          <p:cNvSpPr/>
          <p:nvPr/>
        </p:nvSpPr>
        <p:spPr>
          <a:xfrm>
            <a:off x="336316" y="297179"/>
            <a:ext cx="1280100" cy="320100"/>
          </a:xfrm>
          <a:prstGeom prst="roundRect">
            <a:avLst>
              <a:gd fmla="val 14286" name="adj"/>
            </a:avLst>
          </a:prstGeom>
          <a:solidFill>
            <a:srgbClr val="E8402A"/>
          </a:solidFill>
          <a:ln cap="flat" cmpd="sng" w="12700">
            <a:solidFill>
              <a:srgbClr val="E840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9" name="Google Shape;539;g3f279b47e8f_0_58"/>
          <p:cNvSpPr txBox="1"/>
          <p:nvPr/>
        </p:nvSpPr>
        <p:spPr>
          <a:xfrm>
            <a:off x="336316" y="387350"/>
            <a:ext cx="1280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Helvetica Neue"/>
              <a:buNone/>
            </a:pPr>
            <a:r>
              <a:rPr b="1" lang="en-US" sz="9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SFT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0" name="Google Shape;540;g3f279b47e8f_0_58"/>
          <p:cNvSpPr txBox="1"/>
          <p:nvPr/>
        </p:nvSpPr>
        <p:spPr>
          <a:xfrm>
            <a:off x="1920239" y="285750"/>
            <a:ext cx="67665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Text Generate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t/>
            </a:r>
            <a:endParaRPr b="1" sz="22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1" name="Google Shape;541;g3f279b47e8f_0_58"/>
          <p:cNvSpPr/>
          <p:nvPr/>
        </p:nvSpPr>
        <p:spPr>
          <a:xfrm>
            <a:off x="457200" y="1051560"/>
            <a:ext cx="8229600" cy="3909000"/>
          </a:xfrm>
          <a:prstGeom prst="roundRect">
            <a:avLst>
              <a:gd fmla="val 1871" name="adj"/>
            </a:avLst>
          </a:prstGeom>
          <a:solidFill>
            <a:srgbClr val="F4F6F9"/>
          </a:solidFill>
          <a:ln cap="flat" cmpd="sng" w="12700">
            <a:solidFill>
              <a:srgbClr val="D8DDE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dir="2700000" dist="25400">
              <a:srgbClr val="000000">
                <a:alpha val="7840"/>
              </a:srgbClr>
            </a:outerShdw>
          </a:effectLst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2" name="Google Shape;542;g3f279b47e8f_0_58"/>
          <p:cNvSpPr txBox="1"/>
          <p:nvPr/>
        </p:nvSpPr>
        <p:spPr>
          <a:xfrm>
            <a:off x="731519" y="1234439"/>
            <a:ext cx="7680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Supervised Fine Tuning</a:t>
            </a:r>
            <a:endParaRPr sz="16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3" name="Google Shape;543;g3f279b47e8f_0_58"/>
          <p:cNvSpPr txBox="1"/>
          <p:nvPr/>
        </p:nvSpPr>
        <p:spPr>
          <a:xfrm>
            <a:off x="876150" y="1703825"/>
            <a:ext cx="75363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●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우리가 아는 AI Assistant와 같이 행동할 수 있도록 대화 내용을 학습한다.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●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그냥 확률에 의거해 아무 말이나 하던 언어 모델을 특정 의도에 맞춰 대화할 수 있도록 안내하는 역할 (텍스트 요약, 질문 답변 등)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4" name="Google Shape;544;g3f279b47e8f_0_58"/>
          <p:cNvSpPr txBox="1"/>
          <p:nvPr/>
        </p:nvSpPr>
        <p:spPr>
          <a:xfrm>
            <a:off x="5844900" y="4502975"/>
            <a:ext cx="1425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latin typeface="Calibri"/>
                <a:ea typeface="Calibri"/>
                <a:cs typeface="Calibri"/>
                <a:sym typeface="Calibri"/>
              </a:rPr>
              <a:t>input : 오늘 날씨 어때?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5" name="Google Shape;545;g3f279b47e8f_0_58"/>
          <p:cNvSpPr txBox="1"/>
          <p:nvPr/>
        </p:nvSpPr>
        <p:spPr>
          <a:xfrm>
            <a:off x="4702350" y="2812650"/>
            <a:ext cx="3710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latin typeface="Calibri"/>
                <a:ea typeface="Calibri"/>
                <a:cs typeface="Calibri"/>
                <a:sym typeface="Calibri"/>
              </a:rPr>
              <a:t>output : 안녕하세요! 오늘 날씨는 구름 한 점 없이 맑을 예정입니다!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6" name="Google Shape;546;g3f279b47e8f_0_58"/>
          <p:cNvSpPr/>
          <p:nvPr/>
        </p:nvSpPr>
        <p:spPr>
          <a:xfrm>
            <a:off x="5305500" y="3657810"/>
            <a:ext cx="2503800" cy="400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GPT</a:t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47" name="Google Shape;547;g3f279b47e8f_0_58"/>
          <p:cNvCxnSpPr>
            <a:stCxn id="544" idx="0"/>
            <a:endCxn id="546" idx="2"/>
          </p:cNvCxnSpPr>
          <p:nvPr/>
        </p:nvCxnSpPr>
        <p:spPr>
          <a:xfrm rot="10800000">
            <a:off x="6557400" y="4058075"/>
            <a:ext cx="0" cy="444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48" name="Google Shape;548;g3f279b47e8f_0_58"/>
          <p:cNvCxnSpPr>
            <a:stCxn id="546" idx="0"/>
            <a:endCxn id="545" idx="2"/>
          </p:cNvCxnSpPr>
          <p:nvPr/>
        </p:nvCxnSpPr>
        <p:spPr>
          <a:xfrm rot="10800000">
            <a:off x="6557400" y="3151410"/>
            <a:ext cx="0" cy="50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49" name="Google Shape;549;g3f279b47e8f_0_58"/>
          <p:cNvSpPr txBox="1"/>
          <p:nvPr/>
        </p:nvSpPr>
        <p:spPr>
          <a:xfrm>
            <a:off x="1911650" y="4502975"/>
            <a:ext cx="1425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latin typeface="Calibri"/>
                <a:ea typeface="Calibri"/>
                <a:cs typeface="Calibri"/>
                <a:sym typeface="Calibri"/>
              </a:rPr>
              <a:t>input : 오늘 날씨 어때?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0" name="Google Shape;550;g3f279b47e8f_0_58"/>
          <p:cNvSpPr txBox="1"/>
          <p:nvPr/>
        </p:nvSpPr>
        <p:spPr>
          <a:xfrm>
            <a:off x="769100" y="2812650"/>
            <a:ext cx="3710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latin typeface="Calibri"/>
                <a:ea typeface="Calibri"/>
                <a:cs typeface="Calibri"/>
                <a:sym typeface="Calibri"/>
              </a:rPr>
              <a:t>output : </a:t>
            </a:r>
            <a:r>
              <a:rPr lang="en-US" sz="1000">
                <a:latin typeface="Calibri"/>
                <a:ea typeface="Calibri"/>
                <a:cs typeface="Calibri"/>
                <a:sym typeface="Calibri"/>
              </a:rPr>
              <a:t>오늘 날씨는 맑다. 그러나 나의 기분은 어둡기만 하다…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1" name="Google Shape;551;g3f279b47e8f_0_58"/>
          <p:cNvSpPr/>
          <p:nvPr/>
        </p:nvSpPr>
        <p:spPr>
          <a:xfrm>
            <a:off x="1372250" y="3657810"/>
            <a:ext cx="2503800" cy="400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GPT</a:t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52" name="Google Shape;552;g3f279b47e8f_0_58"/>
          <p:cNvCxnSpPr>
            <a:stCxn id="549" idx="0"/>
            <a:endCxn id="551" idx="2"/>
          </p:cNvCxnSpPr>
          <p:nvPr/>
        </p:nvCxnSpPr>
        <p:spPr>
          <a:xfrm rot="10800000">
            <a:off x="2624150" y="4058075"/>
            <a:ext cx="0" cy="444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53" name="Google Shape;553;g3f279b47e8f_0_58"/>
          <p:cNvCxnSpPr>
            <a:stCxn id="551" idx="0"/>
            <a:endCxn id="550" idx="2"/>
          </p:cNvCxnSpPr>
          <p:nvPr/>
        </p:nvCxnSpPr>
        <p:spPr>
          <a:xfrm rot="10800000">
            <a:off x="2624150" y="3151410"/>
            <a:ext cx="0" cy="50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54" name="Google Shape;554;g3f279b47e8f_0_58"/>
          <p:cNvCxnSpPr>
            <a:stCxn id="551" idx="3"/>
            <a:endCxn id="546" idx="1"/>
          </p:cNvCxnSpPr>
          <p:nvPr/>
        </p:nvCxnSpPr>
        <p:spPr>
          <a:xfrm>
            <a:off x="3876050" y="3857910"/>
            <a:ext cx="1429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8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g3f299fd751c_0_45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A5C"/>
          </a:solidFill>
          <a:ln cap="flat" cmpd="sng" w="12700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0" name="Google Shape;560;g3f299fd751c_0_45"/>
          <p:cNvSpPr/>
          <p:nvPr/>
        </p:nvSpPr>
        <p:spPr>
          <a:xfrm>
            <a:off x="336316" y="297179"/>
            <a:ext cx="1280100" cy="320100"/>
          </a:xfrm>
          <a:prstGeom prst="roundRect">
            <a:avLst>
              <a:gd fmla="val 14286" name="adj"/>
            </a:avLst>
          </a:prstGeom>
          <a:solidFill>
            <a:srgbClr val="E8402A"/>
          </a:solidFill>
          <a:ln cap="flat" cmpd="sng" w="12700">
            <a:solidFill>
              <a:srgbClr val="E840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1" name="Google Shape;561;g3f299fd751c_0_45"/>
          <p:cNvSpPr txBox="1"/>
          <p:nvPr/>
        </p:nvSpPr>
        <p:spPr>
          <a:xfrm>
            <a:off x="336316" y="387350"/>
            <a:ext cx="1280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Helvetica Neue"/>
              <a:buNone/>
            </a:pPr>
            <a:r>
              <a:rPr b="1" lang="en-US" sz="9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SFT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2" name="Google Shape;562;g3f299fd751c_0_45"/>
          <p:cNvSpPr txBox="1"/>
          <p:nvPr/>
        </p:nvSpPr>
        <p:spPr>
          <a:xfrm>
            <a:off x="1920239" y="285750"/>
            <a:ext cx="67665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Text Generate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t/>
            </a:r>
            <a:endParaRPr b="1" sz="22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3" name="Google Shape;563;g3f299fd751c_0_45"/>
          <p:cNvSpPr/>
          <p:nvPr/>
        </p:nvSpPr>
        <p:spPr>
          <a:xfrm>
            <a:off x="457200" y="1051560"/>
            <a:ext cx="8229600" cy="3909000"/>
          </a:xfrm>
          <a:prstGeom prst="roundRect">
            <a:avLst>
              <a:gd fmla="val 1871" name="adj"/>
            </a:avLst>
          </a:prstGeom>
          <a:solidFill>
            <a:srgbClr val="F4F6F9"/>
          </a:solidFill>
          <a:ln cap="flat" cmpd="sng" w="12700">
            <a:solidFill>
              <a:srgbClr val="D8DDE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dir="2700000" dist="25400">
              <a:srgbClr val="000000">
                <a:alpha val="7840"/>
              </a:srgbClr>
            </a:outerShdw>
          </a:effectLst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4" name="Google Shape;564;g3f299fd751c_0_45"/>
          <p:cNvSpPr txBox="1"/>
          <p:nvPr/>
        </p:nvSpPr>
        <p:spPr>
          <a:xfrm>
            <a:off x="731519" y="1234439"/>
            <a:ext cx="7680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강화학습</a:t>
            </a:r>
            <a:endParaRPr sz="16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5" name="Google Shape;565;g3f299fd751c_0_45"/>
          <p:cNvSpPr txBox="1"/>
          <p:nvPr/>
        </p:nvSpPr>
        <p:spPr>
          <a:xfrm>
            <a:off x="876150" y="1767975"/>
            <a:ext cx="7536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Calibri"/>
                <a:ea typeface="Calibri"/>
                <a:cs typeface="Calibri"/>
                <a:sym typeface="Calibri"/>
              </a:rPr>
              <a:t>SFT 만으로는 부족한 이유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6" name="Google Shape;566;g3f299fd751c_0_45"/>
          <p:cNvSpPr txBox="1"/>
          <p:nvPr/>
        </p:nvSpPr>
        <p:spPr>
          <a:xfrm>
            <a:off x="876150" y="2332400"/>
            <a:ext cx="7536300" cy="16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●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SFT는 모델에게 어떻게 대답해야 하는지 가르치지만, 현실에선 정답이 하나가 아닌 경우가 많음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같은 대답이라도 사람이 더 선호하는 대답 스타일이 있음.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</a:t>
            </a: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“치킨은 정말 맛있죠.”</a:t>
            </a:r>
            <a:b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“치킨 너무 맛있지 않나요? 저는 특히 맛초킹을 좋아한답니다!”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그래서 강화학습을 통해 인간이 선호하는 답변을 모델에 학습시킨다.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g3f299fd751c_0_27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A5C"/>
          </a:solidFill>
          <a:ln cap="flat" cmpd="sng" w="12700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2" name="Google Shape;572;g3f299fd751c_0_27"/>
          <p:cNvSpPr/>
          <p:nvPr/>
        </p:nvSpPr>
        <p:spPr>
          <a:xfrm>
            <a:off x="336316" y="297179"/>
            <a:ext cx="1280100" cy="320100"/>
          </a:xfrm>
          <a:prstGeom prst="roundRect">
            <a:avLst>
              <a:gd fmla="val 14286" name="adj"/>
            </a:avLst>
          </a:prstGeom>
          <a:solidFill>
            <a:srgbClr val="E8402A"/>
          </a:solidFill>
          <a:ln cap="flat" cmpd="sng" w="12700">
            <a:solidFill>
              <a:srgbClr val="E840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3" name="Google Shape;573;g3f299fd751c_0_27"/>
          <p:cNvSpPr txBox="1"/>
          <p:nvPr/>
        </p:nvSpPr>
        <p:spPr>
          <a:xfrm>
            <a:off x="336316" y="387350"/>
            <a:ext cx="1280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Helvetica Neue"/>
              <a:buNone/>
            </a:pPr>
            <a:r>
              <a:rPr b="1" lang="en-US" sz="9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SFT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4" name="Google Shape;574;g3f299fd751c_0_27"/>
          <p:cNvSpPr txBox="1"/>
          <p:nvPr/>
        </p:nvSpPr>
        <p:spPr>
          <a:xfrm>
            <a:off x="1920239" y="285750"/>
            <a:ext cx="67665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Text Generate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t/>
            </a:r>
            <a:endParaRPr b="1" sz="22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5" name="Google Shape;575;g3f299fd751c_0_27"/>
          <p:cNvSpPr/>
          <p:nvPr/>
        </p:nvSpPr>
        <p:spPr>
          <a:xfrm>
            <a:off x="457200" y="1051560"/>
            <a:ext cx="8229600" cy="3909000"/>
          </a:xfrm>
          <a:prstGeom prst="roundRect">
            <a:avLst>
              <a:gd fmla="val 1871" name="adj"/>
            </a:avLst>
          </a:prstGeom>
          <a:solidFill>
            <a:srgbClr val="F4F6F9"/>
          </a:solidFill>
          <a:ln cap="flat" cmpd="sng" w="12700">
            <a:solidFill>
              <a:srgbClr val="D8DDE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dir="2700000" dist="25400">
              <a:srgbClr val="000000">
                <a:alpha val="7840"/>
              </a:srgbClr>
            </a:outerShdw>
          </a:effectLst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6" name="Google Shape;576;g3f299fd751c_0_27"/>
          <p:cNvSpPr txBox="1"/>
          <p:nvPr/>
        </p:nvSpPr>
        <p:spPr>
          <a:xfrm>
            <a:off x="731519" y="1234439"/>
            <a:ext cx="7680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강화학습</a:t>
            </a:r>
            <a:endParaRPr sz="16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7" name="Google Shape;577;g3f299fd751c_0_27"/>
          <p:cNvSpPr txBox="1"/>
          <p:nvPr/>
        </p:nvSpPr>
        <p:spPr>
          <a:xfrm>
            <a:off x="876150" y="1703825"/>
            <a:ext cx="7536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Calibri"/>
                <a:ea typeface="Calibri"/>
                <a:cs typeface="Calibri"/>
                <a:sym typeface="Calibri"/>
              </a:rPr>
              <a:t>RLHF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8" name="Google Shape;578;g3f299fd751c_0_27"/>
          <p:cNvSpPr txBox="1"/>
          <p:nvPr/>
        </p:nvSpPr>
        <p:spPr>
          <a:xfrm>
            <a:off x="876150" y="2113875"/>
            <a:ext cx="7536300" cy="136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●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OpenAI에서 고안한 방법으로, 사람의 선호도를 학습한 reward 모델을 이용해 챗봇이 만든 답변을 평가한다.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●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챗봇은 reward 모델의 피드백을 바탕으로 더 나은 답변을 만들게 된다.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●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문제는 구현이 어려워 제 성능을 내기가 어렵다.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9" name="Google Shape;579;g3f299fd751c_0_27"/>
          <p:cNvSpPr txBox="1"/>
          <p:nvPr/>
        </p:nvSpPr>
        <p:spPr>
          <a:xfrm>
            <a:off x="876150" y="3583750"/>
            <a:ext cx="7536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Calibri"/>
                <a:ea typeface="Calibri"/>
                <a:cs typeface="Calibri"/>
                <a:sym typeface="Calibri"/>
              </a:rPr>
              <a:t>DPO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0" name="Google Shape;580;g3f299fd751c_0_27"/>
          <p:cNvSpPr txBox="1"/>
          <p:nvPr/>
        </p:nvSpPr>
        <p:spPr>
          <a:xfrm>
            <a:off x="876150" y="3918600"/>
            <a:ext cx="75363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●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RLHF를 단순화하면서도 인간의 선호도를 반영하는 강화학습 방법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●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reward 모델을 사용하지 않고, 인간의 답변 선호 데이터로 LLM을 직접 학습시킨다.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g3f299fd751c_0_74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A5C"/>
          </a:solidFill>
          <a:ln cap="flat" cmpd="sng" w="12700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6" name="Google Shape;586;g3f299fd751c_0_74"/>
          <p:cNvSpPr/>
          <p:nvPr/>
        </p:nvSpPr>
        <p:spPr>
          <a:xfrm>
            <a:off x="336316" y="297179"/>
            <a:ext cx="1280100" cy="320100"/>
          </a:xfrm>
          <a:prstGeom prst="roundRect">
            <a:avLst>
              <a:gd fmla="val 14286" name="adj"/>
            </a:avLst>
          </a:prstGeom>
          <a:solidFill>
            <a:srgbClr val="E8402A"/>
          </a:solidFill>
          <a:ln cap="flat" cmpd="sng" w="12700">
            <a:solidFill>
              <a:srgbClr val="E840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7" name="Google Shape;587;g3f299fd751c_0_74"/>
          <p:cNvSpPr txBox="1"/>
          <p:nvPr/>
        </p:nvSpPr>
        <p:spPr>
          <a:xfrm>
            <a:off x="336316" y="387350"/>
            <a:ext cx="1280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Helvetica Neue"/>
              <a:buNone/>
            </a:pPr>
            <a:r>
              <a:rPr b="1" lang="en-US" sz="9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SFT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8" name="Google Shape;588;g3f299fd751c_0_74"/>
          <p:cNvSpPr txBox="1"/>
          <p:nvPr/>
        </p:nvSpPr>
        <p:spPr>
          <a:xfrm>
            <a:off x="1920239" y="285750"/>
            <a:ext cx="67665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Text Generate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t/>
            </a:r>
            <a:endParaRPr b="1" sz="22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9" name="Google Shape;589;g3f299fd751c_0_74"/>
          <p:cNvSpPr/>
          <p:nvPr/>
        </p:nvSpPr>
        <p:spPr>
          <a:xfrm>
            <a:off x="457200" y="1051560"/>
            <a:ext cx="8229600" cy="3909000"/>
          </a:xfrm>
          <a:prstGeom prst="roundRect">
            <a:avLst>
              <a:gd fmla="val 1871" name="adj"/>
            </a:avLst>
          </a:prstGeom>
          <a:solidFill>
            <a:srgbClr val="F4F6F9"/>
          </a:solidFill>
          <a:ln cap="flat" cmpd="sng" w="12700">
            <a:solidFill>
              <a:srgbClr val="D8DDE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dir="2700000" dist="25400">
              <a:srgbClr val="000000">
                <a:alpha val="7840"/>
              </a:srgbClr>
            </a:outerShdw>
          </a:effectLst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0" name="Google Shape;590;g3f299fd751c_0_74"/>
          <p:cNvSpPr txBox="1"/>
          <p:nvPr/>
        </p:nvSpPr>
        <p:spPr>
          <a:xfrm>
            <a:off x="731519" y="1234439"/>
            <a:ext cx="7680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강화학습</a:t>
            </a:r>
            <a:endParaRPr sz="16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1" name="Google Shape;591;g3f299fd751c_0_74"/>
          <p:cNvSpPr txBox="1"/>
          <p:nvPr/>
        </p:nvSpPr>
        <p:spPr>
          <a:xfrm>
            <a:off x="876150" y="1603750"/>
            <a:ext cx="7536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Calibri"/>
                <a:ea typeface="Calibri"/>
                <a:cs typeface="Calibri"/>
                <a:sym typeface="Calibri"/>
              </a:rPr>
              <a:t>DPO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2" name="Google Shape;592;g3f299fd751c_0_74"/>
          <p:cNvSpPr/>
          <p:nvPr/>
        </p:nvSpPr>
        <p:spPr>
          <a:xfrm>
            <a:off x="932450" y="2099325"/>
            <a:ext cx="3192000" cy="23913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{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"prompt": "파이썬 리스트에서 중복을 제거하는 방법은?",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"chosen": "set()을 사용하면 중복을 제거할 수 있어요.\n예: list(set([1,2,2,3])) → [1,2,3]\n단, 순서는 보장되지 않으니 순서가 중요하다면 dict.fromkeys()를 활용하세요.",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"rejected": "리스트에서 중복을 없애면 됩니다."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3" name="Google Shape;593;g3f299fd751c_0_74"/>
          <p:cNvSpPr/>
          <p:nvPr/>
        </p:nvSpPr>
        <p:spPr>
          <a:xfrm>
            <a:off x="4491500" y="2099325"/>
            <a:ext cx="3192000" cy="10431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 : </a:t>
            </a:r>
            <a:r>
              <a:rPr lang="en-US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"파이썬 리스트에서 중복을 제거하는 방법은?"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: “set()을 사용하면 중복을 제거할 수 있어요.\n예: list(set([1,2,2,3])) → [1,2,3]\n단, 순서는 보장되지 않으니 순서가 중요하다면 dict.fromkeys()를 활용하세요."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4" name="Google Shape;594;g3f299fd751c_0_74"/>
          <p:cNvSpPr/>
          <p:nvPr/>
        </p:nvSpPr>
        <p:spPr>
          <a:xfrm>
            <a:off x="4491500" y="3447525"/>
            <a:ext cx="3192000" cy="10431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 : "파이썬 리스트에서 중복을 제거하는 방법은?"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: “</a:t>
            </a:r>
            <a:r>
              <a:rPr lang="en-US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리스트에서 중복을 없애면 됩니다</a:t>
            </a:r>
            <a:r>
              <a:rPr lang="en-US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."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95" name="Google Shape;595;g3f299fd751c_0_74"/>
          <p:cNvCxnSpPr>
            <a:stCxn id="592" idx="3"/>
          </p:cNvCxnSpPr>
          <p:nvPr/>
        </p:nvCxnSpPr>
        <p:spPr>
          <a:xfrm>
            <a:off x="4124450" y="3294975"/>
            <a:ext cx="143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96" name="Google Shape;596;g3f299fd751c_0_74"/>
          <p:cNvCxnSpPr/>
          <p:nvPr/>
        </p:nvCxnSpPr>
        <p:spPr>
          <a:xfrm rot="10800000">
            <a:off x="4274150" y="2622800"/>
            <a:ext cx="2700" cy="136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97" name="Google Shape;597;g3f299fd751c_0_74"/>
          <p:cNvCxnSpPr>
            <a:endCxn id="593" idx="1"/>
          </p:cNvCxnSpPr>
          <p:nvPr/>
        </p:nvCxnSpPr>
        <p:spPr>
          <a:xfrm flipH="1" rot="10800000">
            <a:off x="4273100" y="2620875"/>
            <a:ext cx="218400" cy="2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98" name="Google Shape;598;g3f299fd751c_0_74"/>
          <p:cNvCxnSpPr/>
          <p:nvPr/>
        </p:nvCxnSpPr>
        <p:spPr>
          <a:xfrm flipH="1" rot="10800000">
            <a:off x="4273225" y="3989000"/>
            <a:ext cx="218400" cy="2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99" name="Google Shape;599;g3f299fd751c_0_74"/>
          <p:cNvSpPr txBox="1"/>
          <p:nvPr/>
        </p:nvSpPr>
        <p:spPr>
          <a:xfrm>
            <a:off x="7806575" y="2343825"/>
            <a:ext cx="795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Calibri"/>
                <a:ea typeface="Calibri"/>
                <a:cs typeface="Calibri"/>
                <a:sym typeface="Calibri"/>
              </a:rPr>
              <a:t>확률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Calibri"/>
                <a:ea typeface="Calibri"/>
                <a:cs typeface="Calibri"/>
                <a:sym typeface="Calibri"/>
              </a:rPr>
              <a:t>UP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0" name="Google Shape;600;g3f299fd751c_0_74"/>
          <p:cNvSpPr txBox="1"/>
          <p:nvPr/>
        </p:nvSpPr>
        <p:spPr>
          <a:xfrm>
            <a:off x="7806575" y="3692025"/>
            <a:ext cx="795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Calibri"/>
                <a:ea typeface="Calibri"/>
                <a:cs typeface="Calibri"/>
                <a:sym typeface="Calibri"/>
              </a:rPr>
              <a:t>확</a:t>
            </a:r>
            <a:r>
              <a:rPr lang="en-US" sz="1200">
                <a:latin typeface="Calibri"/>
                <a:ea typeface="Calibri"/>
                <a:cs typeface="Calibri"/>
                <a:sym typeface="Calibri"/>
              </a:rPr>
              <a:t>률</a:t>
            </a:r>
            <a:r>
              <a:rPr lang="en-US" sz="1200">
                <a:latin typeface="Calibri"/>
                <a:ea typeface="Calibri"/>
                <a:cs typeface="Calibri"/>
                <a:sym typeface="Calibri"/>
              </a:rPr>
              <a:t> DOWN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4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605;g3f2a70976d9_0_154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A5C"/>
          </a:solidFill>
          <a:ln cap="flat" cmpd="sng" w="12700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6" name="Google Shape;606;g3f2a70976d9_0_154"/>
          <p:cNvSpPr/>
          <p:nvPr/>
        </p:nvSpPr>
        <p:spPr>
          <a:xfrm>
            <a:off x="336316" y="297179"/>
            <a:ext cx="1280100" cy="320100"/>
          </a:xfrm>
          <a:prstGeom prst="roundRect">
            <a:avLst>
              <a:gd fmla="val 14286" name="adj"/>
            </a:avLst>
          </a:prstGeom>
          <a:solidFill>
            <a:srgbClr val="E8402A"/>
          </a:solidFill>
          <a:ln cap="flat" cmpd="sng" w="12700">
            <a:solidFill>
              <a:srgbClr val="E840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7" name="Google Shape;607;g3f2a70976d9_0_154"/>
          <p:cNvSpPr txBox="1"/>
          <p:nvPr/>
        </p:nvSpPr>
        <p:spPr>
          <a:xfrm>
            <a:off x="336316" y="387350"/>
            <a:ext cx="1280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Helvetica Neue"/>
              <a:buNone/>
            </a:pPr>
            <a:r>
              <a:rPr b="1" lang="en-US" sz="9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SFT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8" name="Google Shape;608;g3f2a70976d9_0_154"/>
          <p:cNvSpPr txBox="1"/>
          <p:nvPr/>
        </p:nvSpPr>
        <p:spPr>
          <a:xfrm>
            <a:off x="1920239" y="285750"/>
            <a:ext cx="67665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Text Generate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t/>
            </a:r>
            <a:endParaRPr b="1" sz="22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9" name="Google Shape;609;g3f2a70976d9_0_154"/>
          <p:cNvSpPr/>
          <p:nvPr/>
        </p:nvSpPr>
        <p:spPr>
          <a:xfrm>
            <a:off x="457200" y="1051560"/>
            <a:ext cx="8229600" cy="3909000"/>
          </a:xfrm>
          <a:prstGeom prst="roundRect">
            <a:avLst>
              <a:gd fmla="val 1871" name="adj"/>
            </a:avLst>
          </a:prstGeom>
          <a:solidFill>
            <a:srgbClr val="F4F6F9"/>
          </a:solidFill>
          <a:ln cap="flat" cmpd="sng" w="12700">
            <a:solidFill>
              <a:srgbClr val="D8DDE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dir="2700000" dist="25400">
              <a:srgbClr val="000000">
                <a:alpha val="7840"/>
              </a:srgbClr>
            </a:outerShdw>
          </a:effectLst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0" name="Google Shape;610;g3f2a70976d9_0_154"/>
          <p:cNvSpPr txBox="1"/>
          <p:nvPr/>
        </p:nvSpPr>
        <p:spPr>
          <a:xfrm>
            <a:off x="731519" y="1234439"/>
            <a:ext cx="7680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Base Model vs. Instruct Model</a:t>
            </a:r>
            <a:endParaRPr sz="16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11" name="Google Shape;611;g3f2a70976d9_0_1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88874" y="2087625"/>
            <a:ext cx="3792501" cy="1610650"/>
          </a:xfrm>
          <a:prstGeom prst="rect">
            <a:avLst/>
          </a:prstGeom>
          <a:solidFill>
            <a:srgbClr val="F4F6F9"/>
          </a:solidFill>
          <a:ln cap="flat" cmpd="sng" w="12700">
            <a:solidFill>
              <a:srgbClr val="D8DDE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dir="2700000" dist="25400">
              <a:srgbClr val="000000">
                <a:alpha val="7840"/>
              </a:srgbClr>
            </a:outerShdw>
          </a:effectLst>
        </p:spPr>
      </p:pic>
      <p:pic>
        <p:nvPicPr>
          <p:cNvPr id="612" name="Google Shape;612;g3f2a70976d9_0_15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91125" y="2087625"/>
            <a:ext cx="2654595" cy="1610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6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Google Shape;617;g3f279b47e8f_0_144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A5C"/>
          </a:solidFill>
          <a:ln cap="flat" cmpd="sng" w="12700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8" name="Google Shape;618;g3f279b47e8f_0_144"/>
          <p:cNvSpPr/>
          <p:nvPr/>
        </p:nvSpPr>
        <p:spPr>
          <a:xfrm>
            <a:off x="336316" y="297179"/>
            <a:ext cx="1280100" cy="320100"/>
          </a:xfrm>
          <a:prstGeom prst="roundRect">
            <a:avLst>
              <a:gd fmla="val 14286" name="adj"/>
            </a:avLst>
          </a:prstGeom>
          <a:solidFill>
            <a:srgbClr val="E8402A"/>
          </a:solidFill>
          <a:ln cap="flat" cmpd="sng" w="12700">
            <a:solidFill>
              <a:srgbClr val="E840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9" name="Google Shape;619;g3f279b47e8f_0_144"/>
          <p:cNvSpPr txBox="1"/>
          <p:nvPr/>
        </p:nvSpPr>
        <p:spPr>
          <a:xfrm>
            <a:off x="336316" y="387350"/>
            <a:ext cx="1280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Helvetica Neue"/>
              <a:buNone/>
            </a:pPr>
            <a:r>
              <a:rPr b="1" lang="en-US" sz="9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SFT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0" name="Google Shape;620;g3f279b47e8f_0_144"/>
          <p:cNvSpPr txBox="1"/>
          <p:nvPr/>
        </p:nvSpPr>
        <p:spPr>
          <a:xfrm>
            <a:off x="1920239" y="285750"/>
            <a:ext cx="67665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Text Generate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t/>
            </a:r>
            <a:endParaRPr b="1" sz="22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1" name="Google Shape;621;g3f279b47e8f_0_144"/>
          <p:cNvSpPr/>
          <p:nvPr/>
        </p:nvSpPr>
        <p:spPr>
          <a:xfrm>
            <a:off x="457200" y="1051560"/>
            <a:ext cx="8229600" cy="3909000"/>
          </a:xfrm>
          <a:prstGeom prst="roundRect">
            <a:avLst>
              <a:gd fmla="val 1871" name="adj"/>
            </a:avLst>
          </a:prstGeom>
          <a:solidFill>
            <a:srgbClr val="F4F6F9"/>
          </a:solidFill>
          <a:ln cap="flat" cmpd="sng" w="12700">
            <a:solidFill>
              <a:srgbClr val="D8DDE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dir="2700000" dist="25400">
              <a:srgbClr val="000000">
                <a:alpha val="7840"/>
              </a:srgbClr>
            </a:outerShdw>
          </a:effectLst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2" name="Google Shape;622;g3f279b47e8f_0_144"/>
          <p:cNvSpPr txBox="1"/>
          <p:nvPr/>
        </p:nvSpPr>
        <p:spPr>
          <a:xfrm>
            <a:off x="731519" y="1234439"/>
            <a:ext cx="7680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Base Model vs. Instruct Model</a:t>
            </a:r>
            <a:endParaRPr sz="16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3" name="Google Shape;623;g3f279b47e8f_0_144"/>
          <p:cNvSpPr/>
          <p:nvPr/>
        </p:nvSpPr>
        <p:spPr>
          <a:xfrm>
            <a:off x="954925" y="2015975"/>
            <a:ext cx="2285700" cy="1158900"/>
          </a:xfrm>
          <a:prstGeom prst="roundRect">
            <a:avLst>
              <a:gd fmla="val 16667" name="adj"/>
            </a:avLst>
          </a:prstGeom>
          <a:solidFill>
            <a:srgbClr val="E8EAF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4" name="Google Shape;624;g3f279b47e8f_0_144"/>
          <p:cNvSpPr/>
          <p:nvPr/>
        </p:nvSpPr>
        <p:spPr>
          <a:xfrm>
            <a:off x="1407675" y="1748550"/>
            <a:ext cx="1404600" cy="451200"/>
          </a:xfrm>
          <a:prstGeom prst="roundRect">
            <a:avLst>
              <a:gd fmla="val 14286" name="adj"/>
            </a:avLst>
          </a:prstGeom>
          <a:solidFill>
            <a:srgbClr val="E8402A"/>
          </a:solidFill>
          <a:ln cap="flat" cmpd="sng" w="12700">
            <a:solidFill>
              <a:srgbClr val="E840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5" name="Google Shape;625;g3f279b47e8f_0_144"/>
          <p:cNvSpPr txBox="1"/>
          <p:nvPr/>
        </p:nvSpPr>
        <p:spPr>
          <a:xfrm>
            <a:off x="1407675" y="1858659"/>
            <a:ext cx="14046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Helvetica Neue"/>
              <a:buNone/>
            </a:pPr>
            <a:r>
              <a:rPr b="1" lang="en-US" sz="13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Base Model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6" name="Google Shape;626;g3f279b47e8f_0_144"/>
          <p:cNvSpPr/>
          <p:nvPr/>
        </p:nvSpPr>
        <p:spPr>
          <a:xfrm>
            <a:off x="954925" y="3449950"/>
            <a:ext cx="2285700" cy="1158900"/>
          </a:xfrm>
          <a:prstGeom prst="roundRect">
            <a:avLst>
              <a:gd fmla="val 16667" name="adj"/>
            </a:avLst>
          </a:prstGeom>
          <a:solidFill>
            <a:srgbClr val="E8EAF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7" name="Google Shape;627;g3f279b47e8f_0_144"/>
          <p:cNvSpPr/>
          <p:nvPr/>
        </p:nvSpPr>
        <p:spPr>
          <a:xfrm>
            <a:off x="1407675" y="3309950"/>
            <a:ext cx="1404600" cy="451200"/>
          </a:xfrm>
          <a:prstGeom prst="roundRect">
            <a:avLst>
              <a:gd fmla="val 14286" name="adj"/>
            </a:avLst>
          </a:prstGeom>
          <a:solidFill>
            <a:srgbClr val="E8402A"/>
          </a:solidFill>
          <a:ln cap="flat" cmpd="sng" w="12700">
            <a:solidFill>
              <a:srgbClr val="E840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8" name="Google Shape;628;g3f279b47e8f_0_144"/>
          <p:cNvSpPr txBox="1"/>
          <p:nvPr/>
        </p:nvSpPr>
        <p:spPr>
          <a:xfrm>
            <a:off x="1407675" y="3420059"/>
            <a:ext cx="14046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Helvetica Neue"/>
              <a:buNone/>
            </a:pPr>
            <a:r>
              <a:rPr b="1" lang="en-US" sz="13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Instruct</a:t>
            </a:r>
            <a:r>
              <a:rPr b="1" lang="en-US" sz="13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Model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9" name="Google Shape;629;g3f279b47e8f_0_144"/>
          <p:cNvSpPr txBox="1"/>
          <p:nvPr/>
        </p:nvSpPr>
        <p:spPr>
          <a:xfrm>
            <a:off x="1041225" y="2312250"/>
            <a:ext cx="2137500" cy="60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latin typeface="Calibri"/>
                <a:ea typeface="Calibri"/>
                <a:cs typeface="Calibri"/>
                <a:sym typeface="Calibri"/>
              </a:rPr>
              <a:t>사전 학습만 수행된 모델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latin typeface="Calibri"/>
                <a:ea typeface="Calibri"/>
                <a:cs typeface="Calibri"/>
                <a:sym typeface="Calibri"/>
              </a:rPr>
              <a:t>- 대화 능력 없이 텍스트 생성 가능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0" name="Google Shape;630;g3f279b47e8f_0_144"/>
          <p:cNvSpPr txBox="1"/>
          <p:nvPr/>
        </p:nvSpPr>
        <p:spPr>
          <a:xfrm>
            <a:off x="1041225" y="3797275"/>
            <a:ext cx="2137500" cy="60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latin typeface="Calibri"/>
                <a:ea typeface="Calibri"/>
                <a:cs typeface="Calibri"/>
                <a:sym typeface="Calibri"/>
              </a:rPr>
              <a:t>SFT + DPO까지 수행한 모델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latin typeface="Calibri"/>
                <a:ea typeface="Calibri"/>
                <a:cs typeface="Calibri"/>
                <a:sym typeface="Calibri"/>
              </a:rPr>
              <a:t>- </a:t>
            </a:r>
            <a:r>
              <a:rPr lang="en-US" sz="1100">
                <a:latin typeface="Calibri"/>
                <a:ea typeface="Calibri"/>
                <a:cs typeface="Calibri"/>
                <a:sym typeface="Calibri"/>
              </a:rPr>
              <a:t>기본적인 대화 능력을 갖춘 모델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1" name="Google Shape;631;g3f279b47e8f_0_144"/>
          <p:cNvSpPr txBox="1"/>
          <p:nvPr/>
        </p:nvSpPr>
        <p:spPr>
          <a:xfrm>
            <a:off x="3933275" y="1971450"/>
            <a:ext cx="45861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-US" sz="1200">
                <a:latin typeface="Calibri"/>
                <a:ea typeface="Calibri"/>
                <a:cs typeface="Calibri"/>
                <a:sym typeface="Calibri"/>
              </a:rPr>
              <a:t>도메인 특화 어시스턴트를 처음부터 설계할 때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-US" sz="1200">
                <a:latin typeface="Calibri"/>
                <a:ea typeface="Calibri"/>
                <a:cs typeface="Calibri"/>
                <a:sym typeface="Calibri"/>
              </a:rPr>
              <a:t>데이터가 충분히 많을 때 (1000개 이상) 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-US" sz="1200">
                <a:latin typeface="Calibri"/>
                <a:ea typeface="Calibri"/>
                <a:cs typeface="Calibri"/>
                <a:sym typeface="Calibri"/>
              </a:rPr>
              <a:t>텍스트 완성 자체가 목적인 경우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-US" sz="1200">
                <a:latin typeface="Calibri"/>
                <a:ea typeface="Calibri"/>
                <a:cs typeface="Calibri"/>
                <a:sym typeface="Calibri"/>
              </a:rPr>
              <a:t>어시스턴트 스러운 말투가 필요 없을 때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2" name="Google Shape;632;g3f279b47e8f_0_144"/>
          <p:cNvSpPr txBox="1"/>
          <p:nvPr/>
        </p:nvSpPr>
        <p:spPr>
          <a:xfrm>
            <a:off x="3933275" y="3706150"/>
            <a:ext cx="45861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-US" sz="1200">
                <a:latin typeface="Calibri"/>
                <a:ea typeface="Calibri"/>
                <a:cs typeface="Calibri"/>
                <a:sym typeface="Calibri"/>
              </a:rPr>
              <a:t>어시스턴트 챗봇을 만들 때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-US" sz="1200">
                <a:latin typeface="Calibri"/>
                <a:ea typeface="Calibri"/>
                <a:cs typeface="Calibri"/>
                <a:sym typeface="Calibri"/>
              </a:rPr>
              <a:t>데이터가 충분치 않을 때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6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Google Shape;637;g3f299fd751c_0_97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A5C"/>
          </a:solidFill>
          <a:ln cap="flat" cmpd="sng" w="12700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8" name="Google Shape;638;g3f299fd751c_0_97"/>
          <p:cNvSpPr/>
          <p:nvPr/>
        </p:nvSpPr>
        <p:spPr>
          <a:xfrm>
            <a:off x="336316" y="297179"/>
            <a:ext cx="1280100" cy="320100"/>
          </a:xfrm>
          <a:prstGeom prst="roundRect">
            <a:avLst>
              <a:gd fmla="val 14286" name="adj"/>
            </a:avLst>
          </a:prstGeom>
          <a:solidFill>
            <a:srgbClr val="E8402A"/>
          </a:solidFill>
          <a:ln cap="flat" cmpd="sng" w="12700">
            <a:solidFill>
              <a:srgbClr val="E840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9" name="Google Shape;639;g3f299fd751c_0_97"/>
          <p:cNvSpPr txBox="1"/>
          <p:nvPr/>
        </p:nvSpPr>
        <p:spPr>
          <a:xfrm>
            <a:off x="336316" y="387350"/>
            <a:ext cx="1280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Helvetica Neue"/>
              <a:buNone/>
            </a:pPr>
            <a:r>
              <a:rPr b="1" lang="en-US" sz="9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SFT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0" name="Google Shape;640;g3f299fd751c_0_97"/>
          <p:cNvSpPr txBox="1"/>
          <p:nvPr/>
        </p:nvSpPr>
        <p:spPr>
          <a:xfrm>
            <a:off x="1920239" y="285750"/>
            <a:ext cx="6766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Text Generate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1" name="Google Shape;641;g3f299fd751c_0_97"/>
          <p:cNvSpPr/>
          <p:nvPr/>
        </p:nvSpPr>
        <p:spPr>
          <a:xfrm>
            <a:off x="457200" y="1051560"/>
            <a:ext cx="8229600" cy="3909000"/>
          </a:xfrm>
          <a:prstGeom prst="roundRect">
            <a:avLst>
              <a:gd fmla="val 1871" name="adj"/>
            </a:avLst>
          </a:prstGeom>
          <a:solidFill>
            <a:srgbClr val="F4F6F9"/>
          </a:solidFill>
          <a:ln cap="flat" cmpd="sng" w="12700">
            <a:solidFill>
              <a:srgbClr val="D8DDE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dir="2700000" dist="25400">
              <a:srgbClr val="000000">
                <a:alpha val="7840"/>
              </a:srgbClr>
            </a:outerShdw>
          </a:effectLst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2" name="Google Shape;642;g3f299fd751c_0_97"/>
          <p:cNvSpPr txBox="1"/>
          <p:nvPr/>
        </p:nvSpPr>
        <p:spPr>
          <a:xfrm>
            <a:off x="731519" y="2318589"/>
            <a:ext cx="7680900" cy="137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사전학습된 </a:t>
            </a:r>
            <a:r>
              <a:rPr b="1" lang="en-US" sz="32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LLM </a:t>
            </a:r>
            <a:r>
              <a:rPr b="1" lang="en-US" sz="32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이용해서 </a:t>
            </a:r>
            <a:endParaRPr b="1" sz="32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텍스트 생성해보기</a:t>
            </a:r>
            <a:endParaRPr sz="32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6" name="Shape 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Google Shape;647;g3f279b47e8f_0_168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A5C"/>
          </a:solidFill>
          <a:ln cap="flat" cmpd="sng" w="12700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8" name="Google Shape;648;g3f279b47e8f_0_168"/>
          <p:cNvSpPr/>
          <p:nvPr/>
        </p:nvSpPr>
        <p:spPr>
          <a:xfrm>
            <a:off x="336316" y="297179"/>
            <a:ext cx="1280100" cy="320100"/>
          </a:xfrm>
          <a:prstGeom prst="roundRect">
            <a:avLst>
              <a:gd fmla="val 14286" name="adj"/>
            </a:avLst>
          </a:prstGeom>
          <a:solidFill>
            <a:srgbClr val="E8402A"/>
          </a:solidFill>
          <a:ln cap="flat" cmpd="sng" w="12700">
            <a:solidFill>
              <a:srgbClr val="E840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9" name="Google Shape;649;g3f279b47e8f_0_168"/>
          <p:cNvSpPr txBox="1"/>
          <p:nvPr/>
        </p:nvSpPr>
        <p:spPr>
          <a:xfrm>
            <a:off x="336316" y="387350"/>
            <a:ext cx="1280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Helvetica Neue"/>
              <a:buNone/>
            </a:pPr>
            <a:r>
              <a:rPr b="1" lang="en-US" sz="9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SFT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0" name="Google Shape;650;g3f279b47e8f_0_168"/>
          <p:cNvSpPr txBox="1"/>
          <p:nvPr/>
        </p:nvSpPr>
        <p:spPr>
          <a:xfrm>
            <a:off x="1920239" y="285750"/>
            <a:ext cx="67665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Text Generate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t/>
            </a:r>
            <a:endParaRPr b="1" sz="22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1" name="Google Shape;651;g3f279b47e8f_0_168"/>
          <p:cNvSpPr/>
          <p:nvPr/>
        </p:nvSpPr>
        <p:spPr>
          <a:xfrm>
            <a:off x="457200" y="1051560"/>
            <a:ext cx="8229600" cy="3909000"/>
          </a:xfrm>
          <a:prstGeom prst="roundRect">
            <a:avLst>
              <a:gd fmla="val 1871" name="adj"/>
            </a:avLst>
          </a:prstGeom>
          <a:solidFill>
            <a:srgbClr val="F4F6F9"/>
          </a:solidFill>
          <a:ln cap="flat" cmpd="sng" w="12700">
            <a:solidFill>
              <a:srgbClr val="D8DDE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dir="2700000" dist="25400">
              <a:srgbClr val="000000">
                <a:alpha val="7840"/>
              </a:srgbClr>
            </a:outerShdw>
          </a:effectLst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2" name="Google Shape;652;g3f279b47e8f_0_168"/>
          <p:cNvSpPr txBox="1"/>
          <p:nvPr/>
        </p:nvSpPr>
        <p:spPr>
          <a:xfrm>
            <a:off x="731519" y="1234439"/>
            <a:ext cx="7680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텍스트 생성하는 방법</a:t>
            </a:r>
            <a:endParaRPr sz="16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3" name="Google Shape;653;g3f279b47e8f_0_168"/>
          <p:cNvSpPr txBox="1"/>
          <p:nvPr/>
        </p:nvSpPr>
        <p:spPr>
          <a:xfrm>
            <a:off x="876150" y="1703825"/>
            <a:ext cx="75363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●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이렇게 학습된 모델을 이용해 어떻게 텍스트를 생성할까?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●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LLM은 기본적으로 다음에 올 가장 확률이 높은 토큰 하나를 예측하는 방식으로 학습된다.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●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하지만 실제로 같은 문장이라도, 뒤에 올 수 있는 단어는 굉장히 다양하다.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4" name="Google Shape;654;g3f279b47e8f_0_168"/>
          <p:cNvSpPr/>
          <p:nvPr/>
        </p:nvSpPr>
        <p:spPr>
          <a:xfrm>
            <a:off x="3430888" y="3503875"/>
            <a:ext cx="1366500" cy="577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GPT</a:t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5" name="Google Shape;655;g3f279b47e8f_0_168"/>
          <p:cNvSpPr txBox="1"/>
          <p:nvPr/>
        </p:nvSpPr>
        <p:spPr>
          <a:xfrm>
            <a:off x="2226563" y="3623125"/>
            <a:ext cx="583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latin typeface="Calibri"/>
                <a:ea typeface="Calibri"/>
                <a:cs typeface="Calibri"/>
                <a:sym typeface="Calibri"/>
              </a:rPr>
              <a:t>오늘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6" name="Google Shape;656;g3f279b47e8f_0_168"/>
          <p:cNvSpPr txBox="1"/>
          <p:nvPr/>
        </p:nvSpPr>
        <p:spPr>
          <a:xfrm>
            <a:off x="5417913" y="2815075"/>
            <a:ext cx="820500" cy="195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날씨</a:t>
            </a:r>
            <a:endParaRPr sz="1000">
              <a:solidFill>
                <a:srgbClr val="DC262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latin typeface="Calibri"/>
                <a:ea typeface="Calibri"/>
                <a:cs typeface="Calibri"/>
                <a:sym typeface="Calibri"/>
              </a:rPr>
              <a:t>기분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latin typeface="Calibri"/>
                <a:ea typeface="Calibri"/>
                <a:cs typeface="Calibri"/>
                <a:sym typeface="Calibri"/>
              </a:rPr>
              <a:t>은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latin typeface="Calibri"/>
                <a:ea typeface="Calibri"/>
                <a:cs typeface="Calibri"/>
                <a:sym typeface="Calibri"/>
              </a:rPr>
              <a:t>정말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latin typeface="Calibri"/>
                <a:ea typeface="Calibri"/>
                <a:cs typeface="Calibri"/>
                <a:sym typeface="Calibri"/>
              </a:rPr>
              <a:t>상황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latin typeface="Calibri"/>
                <a:ea typeface="Calibri"/>
                <a:cs typeface="Calibri"/>
                <a:sym typeface="Calibri"/>
              </a:rPr>
              <a:t>눈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latin typeface="Calibri"/>
                <a:ea typeface="Calibri"/>
                <a:cs typeface="Calibri"/>
                <a:sym typeface="Calibri"/>
              </a:rPr>
              <a:t>택배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latin typeface="Calibri"/>
                <a:ea typeface="Calibri"/>
                <a:cs typeface="Calibri"/>
                <a:sym typeface="Calibri"/>
              </a:rPr>
              <a:t>…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57" name="Google Shape;657;g3f279b47e8f_0_168"/>
          <p:cNvCxnSpPr>
            <a:stCxn id="655" idx="3"/>
            <a:endCxn id="654" idx="1"/>
          </p:cNvCxnSpPr>
          <p:nvPr/>
        </p:nvCxnSpPr>
        <p:spPr>
          <a:xfrm>
            <a:off x="2810363" y="3792475"/>
            <a:ext cx="620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58" name="Google Shape;658;g3f279b47e8f_0_168"/>
          <p:cNvCxnSpPr>
            <a:stCxn id="654" idx="3"/>
            <a:endCxn id="656" idx="1"/>
          </p:cNvCxnSpPr>
          <p:nvPr/>
        </p:nvCxnSpPr>
        <p:spPr>
          <a:xfrm>
            <a:off x="4797388" y="3792475"/>
            <a:ext cx="620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59" name="Google Shape;659;g3f279b47e8f_0_168"/>
          <p:cNvCxnSpPr/>
          <p:nvPr/>
        </p:nvCxnSpPr>
        <p:spPr>
          <a:xfrm>
            <a:off x="5495575" y="2885775"/>
            <a:ext cx="0" cy="1841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60" name="Google Shape;660;g3f279b47e8f_0_168"/>
          <p:cNvSpPr txBox="1"/>
          <p:nvPr/>
        </p:nvSpPr>
        <p:spPr>
          <a:xfrm>
            <a:off x="6096913" y="2815075"/>
            <a:ext cx="820500" cy="195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0.05</a:t>
            </a:r>
            <a:endParaRPr sz="1000">
              <a:solidFill>
                <a:srgbClr val="DC262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latin typeface="Calibri"/>
                <a:ea typeface="Calibri"/>
                <a:cs typeface="Calibri"/>
                <a:sym typeface="Calibri"/>
              </a:rPr>
              <a:t>0.04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latin typeface="Calibri"/>
                <a:ea typeface="Calibri"/>
                <a:cs typeface="Calibri"/>
                <a:sym typeface="Calibri"/>
              </a:rPr>
              <a:t>0.04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latin typeface="Calibri"/>
                <a:ea typeface="Calibri"/>
                <a:cs typeface="Calibri"/>
                <a:sym typeface="Calibri"/>
              </a:rPr>
              <a:t>0.03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latin typeface="Calibri"/>
                <a:ea typeface="Calibri"/>
                <a:cs typeface="Calibri"/>
                <a:sym typeface="Calibri"/>
              </a:rPr>
              <a:t>0.03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latin typeface="Calibri"/>
                <a:ea typeface="Calibri"/>
                <a:cs typeface="Calibri"/>
                <a:sym typeface="Calibri"/>
              </a:rPr>
              <a:t>0.02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latin typeface="Calibri"/>
                <a:ea typeface="Calibri"/>
                <a:cs typeface="Calibri"/>
                <a:sym typeface="Calibri"/>
              </a:rPr>
              <a:t>0.01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latin typeface="Calibri"/>
                <a:ea typeface="Calibri"/>
                <a:cs typeface="Calibri"/>
                <a:sym typeface="Calibri"/>
              </a:rPr>
              <a:t>…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4" name="Shape 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" name="Google Shape;665;g3f2a70976d9_0_177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A5C"/>
          </a:solidFill>
          <a:ln cap="flat" cmpd="sng" w="12700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6" name="Google Shape;666;g3f2a70976d9_0_177"/>
          <p:cNvSpPr/>
          <p:nvPr/>
        </p:nvSpPr>
        <p:spPr>
          <a:xfrm>
            <a:off x="336316" y="297179"/>
            <a:ext cx="1280100" cy="320100"/>
          </a:xfrm>
          <a:prstGeom prst="roundRect">
            <a:avLst>
              <a:gd fmla="val 14286" name="adj"/>
            </a:avLst>
          </a:prstGeom>
          <a:solidFill>
            <a:srgbClr val="E8402A"/>
          </a:solidFill>
          <a:ln cap="flat" cmpd="sng" w="12700">
            <a:solidFill>
              <a:srgbClr val="E840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7" name="Google Shape;667;g3f2a70976d9_0_177"/>
          <p:cNvSpPr txBox="1"/>
          <p:nvPr/>
        </p:nvSpPr>
        <p:spPr>
          <a:xfrm>
            <a:off x="336316" y="387350"/>
            <a:ext cx="1280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Helvetica Neue"/>
              <a:buNone/>
            </a:pPr>
            <a:r>
              <a:rPr b="1" lang="en-US" sz="9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SFT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8" name="Google Shape;668;g3f2a70976d9_0_177"/>
          <p:cNvSpPr txBox="1"/>
          <p:nvPr/>
        </p:nvSpPr>
        <p:spPr>
          <a:xfrm>
            <a:off x="1920239" y="285750"/>
            <a:ext cx="67665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Text Generate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t/>
            </a:r>
            <a:endParaRPr b="1" sz="22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9" name="Google Shape;669;g3f2a70976d9_0_177"/>
          <p:cNvSpPr/>
          <p:nvPr/>
        </p:nvSpPr>
        <p:spPr>
          <a:xfrm>
            <a:off x="457200" y="1051560"/>
            <a:ext cx="8229600" cy="3909000"/>
          </a:xfrm>
          <a:prstGeom prst="roundRect">
            <a:avLst>
              <a:gd fmla="val 1871" name="adj"/>
            </a:avLst>
          </a:prstGeom>
          <a:solidFill>
            <a:srgbClr val="F4F6F9"/>
          </a:solidFill>
          <a:ln cap="flat" cmpd="sng" w="12700">
            <a:solidFill>
              <a:srgbClr val="D8DDE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dir="2700000" dist="25400">
              <a:srgbClr val="000000">
                <a:alpha val="7840"/>
              </a:srgbClr>
            </a:outerShdw>
          </a:effectLst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0" name="Google Shape;670;g3f2a70976d9_0_177"/>
          <p:cNvSpPr txBox="1"/>
          <p:nvPr/>
        </p:nvSpPr>
        <p:spPr>
          <a:xfrm>
            <a:off x="731519" y="1234439"/>
            <a:ext cx="7680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텍스트 생성하는 방법</a:t>
            </a:r>
            <a:endParaRPr sz="16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1" name="Google Shape;671;g3f2a70976d9_0_177"/>
          <p:cNvSpPr txBox="1"/>
          <p:nvPr/>
        </p:nvSpPr>
        <p:spPr>
          <a:xfrm>
            <a:off x="876150" y="1703825"/>
            <a:ext cx="7536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●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학습과 관계 없이 텍스트 생성을 조절할 수 있는 여러가지 설정값들이 존재한다.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2" name="Google Shape;672;g3f2a70976d9_0_177"/>
          <p:cNvSpPr txBox="1"/>
          <p:nvPr/>
        </p:nvSpPr>
        <p:spPr>
          <a:xfrm>
            <a:off x="876150" y="2371650"/>
            <a:ext cx="7536300" cy="16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●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max_new_tokens : 생성 가능한 최대 답변 길이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●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do_sample : 랜덤 샘플링 or 확률이 가장 높은 단어만 출력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●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temperature : 낮을 수록 등장확률이 높은 소수의 단어만 출력됨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●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repetition_penalty : 클수록 모델이 같은 단어 토큰을 다시 사용할 확률이 줄어듦.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●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…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6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Google Shape;677;g3f22fe52246_0_254"/>
          <p:cNvSpPr/>
          <p:nvPr/>
        </p:nvSpPr>
        <p:spPr>
          <a:xfrm>
            <a:off x="0" y="0"/>
            <a:ext cx="7667100" cy="5143500"/>
          </a:xfrm>
          <a:prstGeom prst="roundRect">
            <a:avLst>
              <a:gd fmla="val 1871" name="adj"/>
            </a:avLst>
          </a:prstGeom>
          <a:solidFill>
            <a:srgbClr val="E8402A"/>
          </a:solidFill>
          <a:ln cap="flat" cmpd="sng" w="12700">
            <a:solidFill>
              <a:srgbClr val="D8DDE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dir="2700000" dist="25400">
              <a:srgbClr val="000000">
                <a:alpha val="7840"/>
              </a:srgbClr>
            </a:outerShdw>
          </a:effectLst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8" name="Google Shape;678;g3f22fe52246_0_254"/>
          <p:cNvSpPr/>
          <p:nvPr/>
        </p:nvSpPr>
        <p:spPr>
          <a:xfrm>
            <a:off x="0" y="0"/>
            <a:ext cx="6376200" cy="5143500"/>
          </a:xfrm>
          <a:prstGeom prst="roundRect">
            <a:avLst>
              <a:gd fmla="val 1871" name="adj"/>
            </a:avLst>
          </a:prstGeom>
          <a:solidFill>
            <a:srgbClr val="F4F6F9"/>
          </a:solidFill>
          <a:ln cap="flat" cmpd="sng" w="12700">
            <a:solidFill>
              <a:srgbClr val="D8DDE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dir="2700000" dist="25400">
              <a:srgbClr val="000000">
                <a:alpha val="7840"/>
              </a:srgbClr>
            </a:outerShdw>
          </a:effectLst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9" name="Google Shape;679;g3f22fe52246_0_254"/>
          <p:cNvSpPr txBox="1"/>
          <p:nvPr/>
        </p:nvSpPr>
        <p:spPr>
          <a:xfrm>
            <a:off x="621875" y="2117550"/>
            <a:ext cx="54552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latin typeface="Calibri"/>
                <a:ea typeface="Calibri"/>
                <a:cs typeface="Calibri"/>
                <a:sym typeface="Calibri"/>
              </a:rPr>
              <a:t>3. LLM Fine-tuning</a:t>
            </a:r>
            <a:endParaRPr b="1" sz="32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3" name="Shape 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" name="Google Shape;684;g3f22fe52246_0_26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A5C"/>
          </a:solidFill>
          <a:ln cap="flat" cmpd="sng" w="12700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5" name="Google Shape;685;g3f22fe52246_0_260"/>
          <p:cNvSpPr/>
          <p:nvPr/>
        </p:nvSpPr>
        <p:spPr>
          <a:xfrm>
            <a:off x="336316" y="297179"/>
            <a:ext cx="1280100" cy="320100"/>
          </a:xfrm>
          <a:prstGeom prst="roundRect">
            <a:avLst>
              <a:gd fmla="val 14286" name="adj"/>
            </a:avLst>
          </a:prstGeom>
          <a:solidFill>
            <a:srgbClr val="E8402A"/>
          </a:solidFill>
          <a:ln cap="flat" cmpd="sng" w="12700">
            <a:solidFill>
              <a:srgbClr val="E840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6" name="Google Shape;686;g3f22fe52246_0_260"/>
          <p:cNvSpPr txBox="1"/>
          <p:nvPr/>
        </p:nvSpPr>
        <p:spPr>
          <a:xfrm>
            <a:off x="336316" y="387350"/>
            <a:ext cx="1280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Helvetica Neue"/>
              <a:buNone/>
            </a:pPr>
            <a:r>
              <a:rPr b="1" lang="en-US" sz="9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Fine tuning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7" name="Google Shape;687;g3f22fe52246_0_260"/>
          <p:cNvSpPr txBox="1"/>
          <p:nvPr/>
        </p:nvSpPr>
        <p:spPr>
          <a:xfrm>
            <a:off x="1920239" y="285750"/>
            <a:ext cx="6766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LLM을 의도대로 움직이게 하는 방법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8" name="Google Shape;688;g3f22fe52246_0_260"/>
          <p:cNvSpPr/>
          <p:nvPr/>
        </p:nvSpPr>
        <p:spPr>
          <a:xfrm>
            <a:off x="457200" y="1051560"/>
            <a:ext cx="8229600" cy="3909000"/>
          </a:xfrm>
          <a:prstGeom prst="roundRect">
            <a:avLst>
              <a:gd fmla="val 1871" name="adj"/>
            </a:avLst>
          </a:prstGeom>
          <a:solidFill>
            <a:srgbClr val="F4F6F9"/>
          </a:solidFill>
          <a:ln cap="flat" cmpd="sng" w="12700">
            <a:solidFill>
              <a:srgbClr val="D8DDE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dir="2700000" dist="25400">
              <a:srgbClr val="000000">
                <a:alpha val="7840"/>
              </a:srgbClr>
            </a:outerShdw>
          </a:effectLst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9" name="Google Shape;689;g3f22fe52246_0_260"/>
          <p:cNvSpPr txBox="1"/>
          <p:nvPr/>
        </p:nvSpPr>
        <p:spPr>
          <a:xfrm>
            <a:off x="731519" y="1234439"/>
            <a:ext cx="7680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LLM 미세 조정 </a:t>
            </a:r>
            <a:r>
              <a:rPr b="1" lang="en-US" sz="18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방법</a:t>
            </a:r>
            <a:endParaRPr sz="16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0" name="Google Shape;690;g3f22fe52246_0_260"/>
          <p:cNvSpPr txBox="1"/>
          <p:nvPr/>
        </p:nvSpPr>
        <p:spPr>
          <a:xfrm>
            <a:off x="1125425" y="2747300"/>
            <a:ext cx="1204500" cy="5541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RAG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1" name="Google Shape;691;g3f22fe52246_0_260"/>
          <p:cNvSpPr txBox="1"/>
          <p:nvPr/>
        </p:nvSpPr>
        <p:spPr>
          <a:xfrm>
            <a:off x="3091825" y="2747300"/>
            <a:ext cx="2172600" cy="5541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Fine-tuning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2" name="Google Shape;692;g3f22fe52246_0_260"/>
          <p:cNvSpPr txBox="1"/>
          <p:nvPr/>
        </p:nvSpPr>
        <p:spPr>
          <a:xfrm>
            <a:off x="5845975" y="2544350"/>
            <a:ext cx="2172600" cy="923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Prompt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Engineering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6" name="Shape 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7" name="Google Shape;697;g3f22fe52246_0_273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A5C"/>
          </a:solidFill>
          <a:ln cap="flat" cmpd="sng" w="12700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8" name="Google Shape;698;g3f22fe52246_0_273"/>
          <p:cNvSpPr/>
          <p:nvPr/>
        </p:nvSpPr>
        <p:spPr>
          <a:xfrm>
            <a:off x="336316" y="297179"/>
            <a:ext cx="1280100" cy="320100"/>
          </a:xfrm>
          <a:prstGeom prst="roundRect">
            <a:avLst>
              <a:gd fmla="val 14286" name="adj"/>
            </a:avLst>
          </a:prstGeom>
          <a:solidFill>
            <a:srgbClr val="E8402A"/>
          </a:solidFill>
          <a:ln cap="flat" cmpd="sng" w="12700">
            <a:solidFill>
              <a:srgbClr val="E840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9" name="Google Shape;699;g3f22fe52246_0_273"/>
          <p:cNvSpPr txBox="1"/>
          <p:nvPr/>
        </p:nvSpPr>
        <p:spPr>
          <a:xfrm>
            <a:off x="336316" y="387350"/>
            <a:ext cx="1280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Helvetica Neue"/>
              <a:buNone/>
            </a:pPr>
            <a:r>
              <a:rPr b="1" lang="en-US" sz="9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Fine tuning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0" name="Google Shape;700;g3f22fe52246_0_273"/>
          <p:cNvSpPr txBox="1"/>
          <p:nvPr/>
        </p:nvSpPr>
        <p:spPr>
          <a:xfrm>
            <a:off x="1920239" y="285750"/>
            <a:ext cx="6766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LLM을 의도대로 움직이게 하는 방법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1" name="Google Shape;701;g3f22fe52246_0_273"/>
          <p:cNvSpPr/>
          <p:nvPr/>
        </p:nvSpPr>
        <p:spPr>
          <a:xfrm>
            <a:off x="457200" y="1051560"/>
            <a:ext cx="8229600" cy="3909000"/>
          </a:xfrm>
          <a:prstGeom prst="roundRect">
            <a:avLst>
              <a:gd fmla="val 1871" name="adj"/>
            </a:avLst>
          </a:prstGeom>
          <a:solidFill>
            <a:srgbClr val="F4F6F9"/>
          </a:solidFill>
          <a:ln cap="flat" cmpd="sng" w="12700">
            <a:solidFill>
              <a:srgbClr val="D8DDE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dir="2700000" dist="25400">
              <a:srgbClr val="000000">
                <a:alpha val="7840"/>
              </a:srgbClr>
            </a:outerShdw>
          </a:effectLst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2" name="Google Shape;702;g3f22fe52246_0_273"/>
          <p:cNvSpPr txBox="1"/>
          <p:nvPr/>
        </p:nvSpPr>
        <p:spPr>
          <a:xfrm>
            <a:off x="731519" y="1234439"/>
            <a:ext cx="7680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LLM 미세 조정 방법 - Prompt Engineering</a:t>
            </a:r>
            <a:endParaRPr sz="16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3" name="Google Shape;703;g3f22fe52246_0_273"/>
          <p:cNvSpPr txBox="1"/>
          <p:nvPr/>
        </p:nvSpPr>
        <p:spPr>
          <a:xfrm>
            <a:off x="779350" y="1794825"/>
            <a:ext cx="4269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latin typeface="Calibri"/>
                <a:ea typeface="Calibri"/>
                <a:cs typeface="Calibri"/>
                <a:sym typeface="Calibri"/>
              </a:rPr>
              <a:t>Prompt란?</a:t>
            </a:r>
            <a:endParaRPr b="1" sz="1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4" name="Google Shape;704;g3f22fe52246_0_273"/>
          <p:cNvSpPr txBox="1"/>
          <p:nvPr/>
        </p:nvSpPr>
        <p:spPr>
          <a:xfrm>
            <a:off x="779350" y="2213750"/>
            <a:ext cx="7633200" cy="136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●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LLM에 입력되는 지시문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●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LLM은 프롬프트의 맥락을 파악하고 답변할 수 있는 능력을 갖고 있음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●"/>
            </a:pPr>
            <a:r>
              <a:rPr lang="en-US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별도 학습, 인프라 없이 즉시 적용 가능</a:t>
            </a:r>
            <a:endParaRPr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Font typeface="Calibri"/>
              <a:buChar char="●"/>
            </a:pPr>
            <a:r>
              <a:rPr lang="en-US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프롬프트 엔지니어링 만으로는 모델의 행동을 완벽히 통제하기 어려움</a:t>
            </a:r>
            <a:endParaRPr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5" name="Google Shape;705;g3f22fe52246_0_273"/>
          <p:cNvSpPr txBox="1"/>
          <p:nvPr/>
        </p:nvSpPr>
        <p:spPr>
          <a:xfrm>
            <a:off x="1338200" y="4126800"/>
            <a:ext cx="2328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“LLM의 역사에 대해 알려줘.”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6" name="Google Shape;706;g3f22fe52246_0_273"/>
          <p:cNvSpPr txBox="1"/>
          <p:nvPr/>
        </p:nvSpPr>
        <p:spPr>
          <a:xfrm>
            <a:off x="4308875" y="4126800"/>
            <a:ext cx="3888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“LLM의 역사를 시기 별로 정리해서 표로 정리해줘.”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07" name="Google Shape;707;g3f22fe52246_0_273"/>
          <p:cNvCxnSpPr>
            <a:stCxn id="705" idx="3"/>
            <a:endCxn id="706" idx="1"/>
          </p:cNvCxnSpPr>
          <p:nvPr/>
        </p:nvCxnSpPr>
        <p:spPr>
          <a:xfrm>
            <a:off x="3666800" y="4326900"/>
            <a:ext cx="642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1" name="Shape 7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2" name="Google Shape;712;g3f22fe52246_0_285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A5C"/>
          </a:solidFill>
          <a:ln cap="flat" cmpd="sng" w="12700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3" name="Google Shape;713;g3f22fe52246_0_285"/>
          <p:cNvSpPr/>
          <p:nvPr/>
        </p:nvSpPr>
        <p:spPr>
          <a:xfrm>
            <a:off x="336316" y="297179"/>
            <a:ext cx="1280100" cy="320100"/>
          </a:xfrm>
          <a:prstGeom prst="roundRect">
            <a:avLst>
              <a:gd fmla="val 14286" name="adj"/>
            </a:avLst>
          </a:prstGeom>
          <a:solidFill>
            <a:srgbClr val="E8402A"/>
          </a:solidFill>
          <a:ln cap="flat" cmpd="sng" w="12700">
            <a:solidFill>
              <a:srgbClr val="E840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4" name="Google Shape;714;g3f22fe52246_0_285"/>
          <p:cNvSpPr txBox="1"/>
          <p:nvPr/>
        </p:nvSpPr>
        <p:spPr>
          <a:xfrm>
            <a:off x="336316" y="387350"/>
            <a:ext cx="1280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Helvetica Neue"/>
              <a:buNone/>
            </a:pPr>
            <a:r>
              <a:rPr b="1" lang="en-US" sz="9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Fine tuning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5" name="Google Shape;715;g3f22fe52246_0_285"/>
          <p:cNvSpPr txBox="1"/>
          <p:nvPr/>
        </p:nvSpPr>
        <p:spPr>
          <a:xfrm>
            <a:off x="1920239" y="285750"/>
            <a:ext cx="6766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LLM을 의도대로 움직이게 하는 방법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6" name="Google Shape;716;g3f22fe52246_0_285"/>
          <p:cNvSpPr/>
          <p:nvPr/>
        </p:nvSpPr>
        <p:spPr>
          <a:xfrm>
            <a:off x="457200" y="1051560"/>
            <a:ext cx="8229600" cy="3909000"/>
          </a:xfrm>
          <a:prstGeom prst="roundRect">
            <a:avLst>
              <a:gd fmla="val 1871" name="adj"/>
            </a:avLst>
          </a:prstGeom>
          <a:solidFill>
            <a:srgbClr val="F4F6F9"/>
          </a:solidFill>
          <a:ln cap="flat" cmpd="sng" w="12700">
            <a:solidFill>
              <a:srgbClr val="D8DDE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dir="2700000" dist="25400">
              <a:srgbClr val="000000">
                <a:alpha val="7840"/>
              </a:srgbClr>
            </a:outerShdw>
          </a:effectLst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7" name="Google Shape;717;g3f22fe52246_0_285"/>
          <p:cNvSpPr txBox="1"/>
          <p:nvPr/>
        </p:nvSpPr>
        <p:spPr>
          <a:xfrm>
            <a:off x="731519" y="1234439"/>
            <a:ext cx="7680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LLM 미세 조정 방법 - RAG</a:t>
            </a:r>
            <a:endParaRPr sz="16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8" name="Google Shape;718;g3f22fe52246_0_285"/>
          <p:cNvSpPr txBox="1"/>
          <p:nvPr/>
        </p:nvSpPr>
        <p:spPr>
          <a:xfrm>
            <a:off x="779350" y="1794825"/>
            <a:ext cx="4269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latin typeface="Calibri"/>
                <a:ea typeface="Calibri"/>
                <a:cs typeface="Calibri"/>
                <a:sym typeface="Calibri"/>
              </a:rPr>
              <a:t>RAG(Retrieval Augmented Generator)</a:t>
            </a:r>
            <a:r>
              <a:rPr b="1" lang="en-US" sz="1600">
                <a:latin typeface="Calibri"/>
                <a:ea typeface="Calibri"/>
                <a:cs typeface="Calibri"/>
                <a:sym typeface="Calibri"/>
              </a:rPr>
              <a:t>란?</a:t>
            </a:r>
            <a:endParaRPr b="1" sz="1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9" name="Google Shape;719;g3f22fe52246_0_285"/>
          <p:cNvSpPr txBox="1"/>
          <p:nvPr/>
        </p:nvSpPr>
        <p:spPr>
          <a:xfrm>
            <a:off x="779350" y="2213750"/>
            <a:ext cx="76332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●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아무리 똑똑한 LLM이라도 전세계의 모든 정보를 학습할 수는 없음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●"/>
            </a:pPr>
            <a:r>
              <a:rPr lang="en-US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추가 학습 없이 LLM이 아직 보지 못한 데이터를 기반으로 답변할 수 있음</a:t>
            </a:r>
            <a:endParaRPr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8402A"/>
              </a:buClr>
              <a:buSzPts val="1400"/>
              <a:buFont typeface="Calibri"/>
              <a:buChar char="●"/>
            </a:pPr>
            <a:r>
              <a:rPr lang="en-US">
                <a:solidFill>
                  <a:srgbClr val="E8402A"/>
                </a:solidFill>
                <a:latin typeface="Calibri"/>
                <a:ea typeface="Calibri"/>
                <a:cs typeface="Calibri"/>
                <a:sym typeface="Calibri"/>
              </a:rPr>
              <a:t>파이프라인 구축, 운영이 필요하고 검색 품질에 따라 답변 정확도가 달라짐</a:t>
            </a:r>
            <a:endParaRPr>
              <a:solidFill>
                <a:srgbClr val="E8402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20" name="Google Shape;720;g3f22fe52246_0_28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32400" y="3698275"/>
            <a:ext cx="914400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21" name="Google Shape;721;g3f22fe52246_0_28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86850" y="3698275"/>
            <a:ext cx="914400" cy="9144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22" name="Google Shape;722;g3f22fe52246_0_285"/>
          <p:cNvCxnSpPr/>
          <p:nvPr/>
        </p:nvCxnSpPr>
        <p:spPr>
          <a:xfrm>
            <a:off x="2692118" y="4218150"/>
            <a:ext cx="1425000" cy="300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23" name="Google Shape;723;g3f22fe52246_0_285"/>
          <p:cNvCxnSpPr/>
          <p:nvPr/>
        </p:nvCxnSpPr>
        <p:spPr>
          <a:xfrm flipH="1">
            <a:off x="2692125" y="3871575"/>
            <a:ext cx="3770700" cy="15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724" name="Google Shape;724;g3f22fe52246_0_28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128038" y="3804563"/>
            <a:ext cx="676050" cy="676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25" name="Google Shape;725;g3f22fe52246_0_28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339861" y="3993450"/>
            <a:ext cx="676050" cy="676050"/>
          </a:xfrm>
          <a:prstGeom prst="rect">
            <a:avLst/>
          </a:prstGeom>
          <a:solidFill>
            <a:srgbClr val="F4F6F9"/>
          </a:solidFill>
          <a:ln>
            <a:noFill/>
          </a:ln>
        </p:spPr>
      </p:pic>
      <p:cxnSp>
        <p:nvCxnSpPr>
          <p:cNvPr id="726" name="Google Shape;726;g3f22fe52246_0_285"/>
          <p:cNvCxnSpPr/>
          <p:nvPr/>
        </p:nvCxnSpPr>
        <p:spPr>
          <a:xfrm flipH="1" rot="10800000">
            <a:off x="5014400" y="4021150"/>
            <a:ext cx="1466700" cy="505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27" name="Google Shape;727;g3f22fe52246_0_285"/>
          <p:cNvSpPr txBox="1"/>
          <p:nvPr/>
        </p:nvSpPr>
        <p:spPr>
          <a:xfrm>
            <a:off x="4104575" y="4669488"/>
            <a:ext cx="934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Calibri"/>
                <a:ea typeface="Calibri"/>
                <a:cs typeface="Calibri"/>
                <a:sym typeface="Calibri"/>
              </a:rPr>
              <a:t>Retriever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8" name="Google Shape;728;g3f22fe52246_0_285"/>
          <p:cNvSpPr txBox="1"/>
          <p:nvPr/>
        </p:nvSpPr>
        <p:spPr>
          <a:xfrm>
            <a:off x="6476650" y="3396288"/>
            <a:ext cx="934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Calibri"/>
                <a:ea typeface="Calibri"/>
                <a:cs typeface="Calibri"/>
                <a:sym typeface="Calibri"/>
              </a:rPr>
              <a:t>LLM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9" name="Google Shape;729;g3f22fe52246_0_285"/>
          <p:cNvSpPr txBox="1"/>
          <p:nvPr/>
        </p:nvSpPr>
        <p:spPr>
          <a:xfrm>
            <a:off x="1822200" y="3396288"/>
            <a:ext cx="934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Calibri"/>
                <a:ea typeface="Calibri"/>
                <a:cs typeface="Calibri"/>
                <a:sym typeface="Calibri"/>
              </a:rPr>
              <a:t>User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3" name="Shape 7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4" name="Google Shape;734;g3f22fe52246_0_294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A5C"/>
          </a:solidFill>
          <a:ln cap="flat" cmpd="sng" w="12700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5" name="Google Shape;735;g3f22fe52246_0_294"/>
          <p:cNvSpPr/>
          <p:nvPr/>
        </p:nvSpPr>
        <p:spPr>
          <a:xfrm>
            <a:off x="336316" y="297179"/>
            <a:ext cx="1280100" cy="320100"/>
          </a:xfrm>
          <a:prstGeom prst="roundRect">
            <a:avLst>
              <a:gd fmla="val 14286" name="adj"/>
            </a:avLst>
          </a:prstGeom>
          <a:solidFill>
            <a:srgbClr val="E8402A"/>
          </a:solidFill>
          <a:ln cap="flat" cmpd="sng" w="12700">
            <a:solidFill>
              <a:srgbClr val="E840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6" name="Google Shape;736;g3f22fe52246_0_294"/>
          <p:cNvSpPr txBox="1"/>
          <p:nvPr/>
        </p:nvSpPr>
        <p:spPr>
          <a:xfrm>
            <a:off x="336316" y="387350"/>
            <a:ext cx="1280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Helvetica Neue"/>
              <a:buNone/>
            </a:pPr>
            <a:r>
              <a:rPr b="1" lang="en-US" sz="9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Fine tuning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7" name="Google Shape;737;g3f22fe52246_0_294"/>
          <p:cNvSpPr txBox="1"/>
          <p:nvPr/>
        </p:nvSpPr>
        <p:spPr>
          <a:xfrm>
            <a:off x="1920239" y="285750"/>
            <a:ext cx="6766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LLM을 의도대로 움직이게 하는 방법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8" name="Google Shape;738;g3f22fe52246_0_294"/>
          <p:cNvSpPr/>
          <p:nvPr/>
        </p:nvSpPr>
        <p:spPr>
          <a:xfrm>
            <a:off x="457200" y="1051560"/>
            <a:ext cx="8229600" cy="3909000"/>
          </a:xfrm>
          <a:prstGeom prst="roundRect">
            <a:avLst>
              <a:gd fmla="val 1871" name="adj"/>
            </a:avLst>
          </a:prstGeom>
          <a:solidFill>
            <a:srgbClr val="F4F6F9"/>
          </a:solidFill>
          <a:ln cap="flat" cmpd="sng" w="12700">
            <a:solidFill>
              <a:srgbClr val="D8DDE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dir="2700000" dist="25400">
              <a:srgbClr val="000000">
                <a:alpha val="7840"/>
              </a:srgbClr>
            </a:outerShdw>
          </a:effectLst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9" name="Google Shape;739;g3f22fe52246_0_294"/>
          <p:cNvSpPr txBox="1"/>
          <p:nvPr/>
        </p:nvSpPr>
        <p:spPr>
          <a:xfrm>
            <a:off x="731519" y="1234439"/>
            <a:ext cx="7680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LLM 미세 조정 방법 - Fine tuning</a:t>
            </a:r>
            <a:endParaRPr sz="16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0" name="Google Shape;740;g3f22fe52246_0_294"/>
          <p:cNvSpPr txBox="1"/>
          <p:nvPr/>
        </p:nvSpPr>
        <p:spPr>
          <a:xfrm>
            <a:off x="779350" y="1794825"/>
            <a:ext cx="4269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latin typeface="Calibri"/>
                <a:ea typeface="Calibri"/>
                <a:cs typeface="Calibri"/>
                <a:sym typeface="Calibri"/>
              </a:rPr>
              <a:t>Fine-tuning 이란?</a:t>
            </a:r>
            <a:endParaRPr b="1" sz="1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1" name="Google Shape;741;g3f22fe52246_0_294"/>
          <p:cNvSpPr txBox="1"/>
          <p:nvPr/>
        </p:nvSpPr>
        <p:spPr>
          <a:xfrm>
            <a:off x="779350" y="2213750"/>
            <a:ext cx="7633200" cy="136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●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특정 도메인의 데이터셋으로 사전 학습된 모델을 추가로 학습시켜 가중치 자체를 업데이트하는 방법 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●"/>
            </a:pPr>
            <a:r>
              <a:rPr lang="en-US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특정 스타일, 형식, 전문 지식을 모델에 직접 내재화할 수 있어 일관된 동작이 필요할 때 효과적</a:t>
            </a:r>
            <a:endParaRPr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Font typeface="Calibri"/>
              <a:buChar char="●"/>
            </a:pPr>
            <a:r>
              <a:rPr lang="en-US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LLM을 학습하기 위한 데이터 확보와 GPU 비용이 필요</a:t>
            </a:r>
            <a:endParaRPr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5" name="Shape 7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6" name="Google Shape;746;g3f22fe52246_0_303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A5C"/>
          </a:solidFill>
          <a:ln cap="flat" cmpd="sng" w="12700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7" name="Google Shape;747;g3f22fe52246_0_303"/>
          <p:cNvSpPr/>
          <p:nvPr/>
        </p:nvSpPr>
        <p:spPr>
          <a:xfrm>
            <a:off x="336316" y="297179"/>
            <a:ext cx="1280100" cy="320100"/>
          </a:xfrm>
          <a:prstGeom prst="roundRect">
            <a:avLst>
              <a:gd fmla="val 14286" name="adj"/>
            </a:avLst>
          </a:prstGeom>
          <a:solidFill>
            <a:srgbClr val="E8402A"/>
          </a:solidFill>
          <a:ln cap="flat" cmpd="sng" w="12700">
            <a:solidFill>
              <a:srgbClr val="E840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8" name="Google Shape;748;g3f22fe52246_0_303"/>
          <p:cNvSpPr txBox="1"/>
          <p:nvPr/>
        </p:nvSpPr>
        <p:spPr>
          <a:xfrm>
            <a:off x="336316" y="387350"/>
            <a:ext cx="1280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Helvetica Neue"/>
              <a:buNone/>
            </a:pPr>
            <a:r>
              <a:rPr b="1" lang="en-US" sz="9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Fine tuning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9" name="Google Shape;749;g3f22fe52246_0_303"/>
          <p:cNvSpPr txBox="1"/>
          <p:nvPr/>
        </p:nvSpPr>
        <p:spPr>
          <a:xfrm>
            <a:off x="1920239" y="285750"/>
            <a:ext cx="6766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LLM을 의도대로 움직이게 하는 방법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0" name="Google Shape;750;g3f22fe52246_0_303"/>
          <p:cNvSpPr/>
          <p:nvPr/>
        </p:nvSpPr>
        <p:spPr>
          <a:xfrm>
            <a:off x="457200" y="1051560"/>
            <a:ext cx="8229600" cy="3909000"/>
          </a:xfrm>
          <a:prstGeom prst="roundRect">
            <a:avLst>
              <a:gd fmla="val 1871" name="adj"/>
            </a:avLst>
          </a:prstGeom>
          <a:solidFill>
            <a:srgbClr val="F4F6F9"/>
          </a:solidFill>
          <a:ln cap="flat" cmpd="sng" w="12700">
            <a:solidFill>
              <a:srgbClr val="D8DDE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dir="2700000" dist="25400">
              <a:srgbClr val="000000">
                <a:alpha val="7840"/>
              </a:srgbClr>
            </a:outerShdw>
          </a:effectLst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1" name="Google Shape;751;g3f22fe52246_0_303"/>
          <p:cNvSpPr txBox="1"/>
          <p:nvPr/>
        </p:nvSpPr>
        <p:spPr>
          <a:xfrm>
            <a:off x="731519" y="1234439"/>
            <a:ext cx="7680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LLM 미세 조정 방법 - </a:t>
            </a:r>
            <a:r>
              <a:rPr b="1" lang="en-US" sz="18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비교 표</a:t>
            </a:r>
            <a:endParaRPr sz="16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752" name="Google Shape;752;g3f22fe52246_0_303"/>
          <p:cNvGraphicFramePr/>
          <p:nvPr/>
        </p:nvGraphicFramePr>
        <p:xfrm>
          <a:off x="952500" y="17695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{7BD8FE40-2236-47C2-B004-6F83EA70BFFC}</a:tableStyleId>
              </a:tblPr>
              <a:tblGrid>
                <a:gridCol w="1109150"/>
                <a:gridCol w="1967175"/>
                <a:gridCol w="2045925"/>
                <a:gridCol w="2116750"/>
              </a:tblGrid>
              <a:tr h="2870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/>
                    </a:p>
                  </a:txBody>
                  <a:tcPr marT="91425" marB="91425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Prompt Engineering</a:t>
                      </a:r>
                      <a:endParaRPr b="1" sz="1200"/>
                    </a:p>
                  </a:txBody>
                  <a:tcPr marT="91425" marB="91425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RAG</a:t>
                      </a:r>
                      <a:endParaRPr b="1" sz="1200"/>
                    </a:p>
                  </a:txBody>
                  <a:tcPr marT="91425" marB="91425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Fine-tuning</a:t>
                      </a:r>
                      <a:endParaRPr b="1" sz="1200"/>
                    </a:p>
                  </a:txBody>
                  <a:tcPr marT="91425" marB="91425" marR="91425" marL="91425" anchor="ctr">
                    <a:solidFill>
                      <a:schemeClr val="lt1"/>
                    </a:solidFill>
                  </a:tcPr>
                </a:tc>
              </a:tr>
              <a:tr h="6447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장점</a:t>
                      </a:r>
                      <a:endParaRPr b="1" sz="1200"/>
                    </a:p>
                  </a:txBody>
                  <a:tcPr marT="91425" marB="91425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- </a:t>
                      </a:r>
                      <a:r>
                        <a:rPr lang="en-US" sz="800"/>
                        <a:t>별도 학습, 인프라 없이 즉시 적용 가능</a:t>
                      </a:r>
                      <a:endParaRPr sz="800"/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- 비용이 거의 들지 않음</a:t>
                      </a:r>
                      <a:endParaRPr sz="800"/>
                    </a:p>
                  </a:txBody>
                  <a:tcPr marT="91425" marB="91425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- 최신 정보를 실시간으로 반영 가능</a:t>
                      </a:r>
                      <a:endParaRPr sz="800"/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- 문서 출처를 제공해 환각 위험 감소</a:t>
                      </a:r>
                      <a:endParaRPr sz="800"/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- 지식 업데이트에 재학습 불필요</a:t>
                      </a:r>
                      <a:endParaRPr sz="800"/>
                    </a:p>
                  </a:txBody>
                  <a:tcPr marT="91425" marB="91425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solidFill>
                            <a:schemeClr val="dk1"/>
                          </a:solidFill>
                        </a:rPr>
                        <a:t>- 특정 도메인, 스타일을 모델에 직접 내제화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solidFill>
                            <a:schemeClr val="dk1"/>
                          </a:solidFill>
                        </a:rPr>
                        <a:t>- 소형 모델을 fine-tuning 하여 비용절감 가능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800">
                          <a:solidFill>
                            <a:schemeClr val="dk1"/>
                          </a:solidFill>
                        </a:rPr>
                        <a:t>- 일관된 출력 형식(json 등), 톤 유지에 강함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chemeClr val="lt1"/>
                    </a:solidFill>
                  </a:tcPr>
                </a:tc>
              </a:tr>
              <a:tr h="6447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단점</a:t>
                      </a:r>
                      <a:endParaRPr b="1" sz="1200"/>
                    </a:p>
                  </a:txBody>
                  <a:tcPr marT="91425" marB="91425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- </a:t>
                      </a:r>
                      <a:r>
                        <a:rPr lang="en-US" sz="800"/>
                        <a:t>모델의 기존 지식에 의존</a:t>
                      </a:r>
                      <a:endParaRPr sz="800"/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- 프롬프트 품질에 따라 결과가 불안정</a:t>
                      </a:r>
                      <a:endParaRPr sz="800"/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- 복잡한 전문 도메인 대응에 한계</a:t>
                      </a:r>
                      <a:endParaRPr sz="800"/>
                    </a:p>
                  </a:txBody>
                  <a:tcPr marT="91425" marB="91425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- 검색 파이프라인 구축, 운영 비용 발생</a:t>
                      </a:r>
                      <a:endParaRPr sz="800"/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- 검색 품질에 따라 답변 정확도가 달라짐</a:t>
                      </a:r>
                      <a:endParaRPr sz="800"/>
                    </a:p>
                  </a:txBody>
                  <a:tcPr marT="91425" marB="91425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- 학습 데이터 확보와 GPU 비용 필요</a:t>
                      </a:r>
                      <a:br>
                        <a:rPr lang="en-US" sz="800"/>
                      </a:br>
                      <a:r>
                        <a:rPr lang="en-US" sz="800"/>
                        <a:t>- 데이터, 요구사항 변경 시 재학습 필요</a:t>
                      </a:r>
                      <a:endParaRPr sz="800"/>
                    </a:p>
                  </a:txBody>
                  <a:tcPr marT="91425" marB="91425" marR="91425" marL="91425" anchor="ctr">
                    <a:solidFill>
                      <a:schemeClr val="lt1"/>
                    </a:solidFill>
                  </a:tcPr>
                </a:tc>
              </a:tr>
              <a:tr h="6447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적합한 상황</a:t>
                      </a:r>
                      <a:endParaRPr b="1" sz="1200"/>
                    </a:p>
                  </a:txBody>
                  <a:tcPr marT="91425" marB="91425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- </a:t>
                      </a:r>
                      <a:r>
                        <a:rPr lang="en-US" sz="800"/>
                        <a:t>빠른 프로토타이핑</a:t>
                      </a:r>
                      <a:endParaRPr sz="800"/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- 간단한 태스크 형식, 출력 스타일 조정이 필요할 때</a:t>
                      </a:r>
                      <a:endParaRPr sz="800"/>
                    </a:p>
                  </a:txBody>
                  <a:tcPr marT="91425" marB="91425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- 사내 문서, 매뉴얼 기반 Q&amp;A 시스템</a:t>
                      </a:r>
                      <a:endParaRPr sz="800"/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- 뉴스, 법령 등 자주 바뀌는 정보를 다룰 때</a:t>
                      </a:r>
                      <a:endParaRPr sz="800"/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- 답변 출처를 명확히 제시해야 할 때</a:t>
                      </a:r>
                      <a:endParaRPr sz="800"/>
                    </a:p>
                  </a:txBody>
                  <a:tcPr marT="91425" marB="91425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solidFill>
                            <a:schemeClr val="dk1"/>
                          </a:solidFill>
                        </a:rPr>
                        <a:t>- 특정 산업, 도메인 전문 모델이 필요할 때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solidFill>
                            <a:schemeClr val="dk1"/>
                          </a:solidFill>
                        </a:rPr>
                        <a:t>- 일관된 브랜드 톤, 출력 포맷이 중요할 때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800">
                          <a:solidFill>
                            <a:schemeClr val="dk1"/>
                          </a:solidFill>
                        </a:rPr>
                        <a:t>- 소형 모델로 비용절감이 필요할 때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753" name="Google Shape;753;g3f22fe52246_0_303"/>
          <p:cNvSpPr txBox="1"/>
          <p:nvPr/>
        </p:nvSpPr>
        <p:spPr>
          <a:xfrm>
            <a:off x="984000" y="4314800"/>
            <a:ext cx="7239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“Fine-tuning을 적용하기 전에 다른 더 쉬운 방법은 없는지 고민을 해보고 적용해야 한다!”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7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Google Shape;758;g3f22fe52246_0_34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A5C"/>
          </a:solidFill>
          <a:ln cap="flat" cmpd="sng" w="12700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9" name="Google Shape;759;g3f22fe52246_0_340"/>
          <p:cNvSpPr/>
          <p:nvPr/>
        </p:nvSpPr>
        <p:spPr>
          <a:xfrm>
            <a:off x="336316" y="297179"/>
            <a:ext cx="1280100" cy="320100"/>
          </a:xfrm>
          <a:prstGeom prst="roundRect">
            <a:avLst>
              <a:gd fmla="val 14286" name="adj"/>
            </a:avLst>
          </a:prstGeom>
          <a:solidFill>
            <a:srgbClr val="E8402A"/>
          </a:solidFill>
          <a:ln cap="flat" cmpd="sng" w="12700">
            <a:solidFill>
              <a:srgbClr val="E840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0" name="Google Shape;760;g3f22fe52246_0_340"/>
          <p:cNvSpPr txBox="1"/>
          <p:nvPr/>
        </p:nvSpPr>
        <p:spPr>
          <a:xfrm>
            <a:off x="336316" y="387350"/>
            <a:ext cx="1280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Helvetica Neue"/>
              <a:buNone/>
            </a:pPr>
            <a:r>
              <a:rPr b="1" lang="en-US" sz="9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Fine tuning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1" name="Google Shape;761;g3f22fe52246_0_340"/>
          <p:cNvSpPr txBox="1"/>
          <p:nvPr/>
        </p:nvSpPr>
        <p:spPr>
          <a:xfrm>
            <a:off x="1920239" y="285750"/>
            <a:ext cx="6766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LLM을 의도대로 움직이게 하는 방법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2" name="Google Shape;762;g3f22fe52246_0_340"/>
          <p:cNvSpPr/>
          <p:nvPr/>
        </p:nvSpPr>
        <p:spPr>
          <a:xfrm>
            <a:off x="457200" y="1051560"/>
            <a:ext cx="8229600" cy="3909000"/>
          </a:xfrm>
          <a:prstGeom prst="roundRect">
            <a:avLst>
              <a:gd fmla="val 1871" name="adj"/>
            </a:avLst>
          </a:prstGeom>
          <a:solidFill>
            <a:srgbClr val="F4F6F9"/>
          </a:solidFill>
          <a:ln cap="flat" cmpd="sng" w="12700">
            <a:solidFill>
              <a:srgbClr val="D8DDE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dir="2700000" dist="25400">
              <a:srgbClr val="000000">
                <a:alpha val="7840"/>
              </a:srgbClr>
            </a:outerShdw>
          </a:effectLst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3" name="Google Shape;763;g3f22fe52246_0_340"/>
          <p:cNvSpPr txBox="1"/>
          <p:nvPr/>
        </p:nvSpPr>
        <p:spPr>
          <a:xfrm>
            <a:off x="731519" y="1234439"/>
            <a:ext cx="7680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LLM 미세 조정을 할 때 고려해야 하는 사항</a:t>
            </a:r>
            <a:endParaRPr sz="16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4" name="Google Shape;764;g3f22fe52246_0_340"/>
          <p:cNvSpPr txBox="1"/>
          <p:nvPr/>
        </p:nvSpPr>
        <p:spPr>
          <a:xfrm>
            <a:off x="731525" y="1905000"/>
            <a:ext cx="73182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●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새로운 지식 추가가 필요할 때 -&gt; RAG가 나음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●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프로토타입, 간단한 튜닝 -&gt; 시스템 프롬프트 활용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●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Fine-tuning, RAG, Prompt Engineering 기법을 적절히 결합해서 사용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8" name="Shape 7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9" name="Google Shape;769;g3f299fd751c_0_106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A5C"/>
          </a:solidFill>
          <a:ln cap="flat" cmpd="sng" w="12700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0" name="Google Shape;770;g3f299fd751c_0_106"/>
          <p:cNvSpPr/>
          <p:nvPr/>
        </p:nvSpPr>
        <p:spPr>
          <a:xfrm>
            <a:off x="336316" y="297179"/>
            <a:ext cx="1280100" cy="320100"/>
          </a:xfrm>
          <a:prstGeom prst="roundRect">
            <a:avLst>
              <a:gd fmla="val 14286" name="adj"/>
            </a:avLst>
          </a:prstGeom>
          <a:solidFill>
            <a:srgbClr val="E8402A"/>
          </a:solidFill>
          <a:ln cap="flat" cmpd="sng" w="12700">
            <a:solidFill>
              <a:srgbClr val="E840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1" name="Google Shape;771;g3f299fd751c_0_106"/>
          <p:cNvSpPr txBox="1"/>
          <p:nvPr/>
        </p:nvSpPr>
        <p:spPr>
          <a:xfrm>
            <a:off x="336316" y="387350"/>
            <a:ext cx="1280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Helvetica Neue"/>
              <a:buNone/>
            </a:pPr>
            <a:r>
              <a:rPr b="1" lang="en-US" sz="9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Fine tuning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2" name="Google Shape;772;g3f299fd751c_0_106"/>
          <p:cNvSpPr txBox="1"/>
          <p:nvPr/>
        </p:nvSpPr>
        <p:spPr>
          <a:xfrm>
            <a:off x="1920239" y="285750"/>
            <a:ext cx="6766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LLM을 의도대로 움직이게 하는 방법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3" name="Google Shape;773;g3f299fd751c_0_106"/>
          <p:cNvSpPr/>
          <p:nvPr/>
        </p:nvSpPr>
        <p:spPr>
          <a:xfrm>
            <a:off x="457200" y="1051560"/>
            <a:ext cx="8229600" cy="3909000"/>
          </a:xfrm>
          <a:prstGeom prst="roundRect">
            <a:avLst>
              <a:gd fmla="val 1871" name="adj"/>
            </a:avLst>
          </a:prstGeom>
          <a:solidFill>
            <a:srgbClr val="F4F6F9"/>
          </a:solidFill>
          <a:ln cap="flat" cmpd="sng" w="12700">
            <a:solidFill>
              <a:srgbClr val="D8DDE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dir="2700000" dist="25400">
              <a:srgbClr val="000000">
                <a:alpha val="7840"/>
              </a:srgbClr>
            </a:outerShdw>
          </a:effectLst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4" name="Google Shape;774;g3f299fd751c_0_106"/>
          <p:cNvSpPr txBox="1"/>
          <p:nvPr/>
        </p:nvSpPr>
        <p:spPr>
          <a:xfrm>
            <a:off x="731519" y="1234439"/>
            <a:ext cx="7680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Fine-tuning 사례</a:t>
            </a:r>
            <a:endParaRPr sz="16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5" name="Google Shape;775;g3f299fd751c_0_106"/>
          <p:cNvSpPr txBox="1"/>
          <p:nvPr/>
        </p:nvSpPr>
        <p:spPr>
          <a:xfrm>
            <a:off x="731525" y="1841300"/>
            <a:ext cx="7318200" cy="266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●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금융 분야 감성 분석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○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뉴스 제목이 특정 기업에 호재인지 악재인지를 인공지능이 판단할 수 있도록 가르침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●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고객 상담 챗봇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○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기업의 과거 고객 상담 데이터를 인공지능에게 학습시켜 더 정확하고 개인화된 답변을 제공 + 기업 고유의 말투와 전문 용어까지 그대로 구사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●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법률 문서 보조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○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계약서, 판례, 법령과 같은 복잡한 법률 문서를 학습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○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계약서 분석, 유사 판례 검색, 법적 규제 준수 검토 등의 업무를 도움.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9" name="Shape 7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0" name="Google Shape;780;g3f22fe52246_0_50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A5C"/>
          </a:solidFill>
          <a:ln cap="flat" cmpd="sng" w="12700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1" name="Google Shape;781;g3f22fe52246_0_501"/>
          <p:cNvSpPr/>
          <p:nvPr/>
        </p:nvSpPr>
        <p:spPr>
          <a:xfrm>
            <a:off x="336316" y="297179"/>
            <a:ext cx="1280100" cy="320100"/>
          </a:xfrm>
          <a:prstGeom prst="roundRect">
            <a:avLst>
              <a:gd fmla="val 14286" name="adj"/>
            </a:avLst>
          </a:prstGeom>
          <a:solidFill>
            <a:srgbClr val="E8402A"/>
          </a:solidFill>
          <a:ln cap="flat" cmpd="sng" w="12700">
            <a:solidFill>
              <a:srgbClr val="E840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2" name="Google Shape;782;g3f22fe52246_0_501"/>
          <p:cNvSpPr txBox="1"/>
          <p:nvPr/>
        </p:nvSpPr>
        <p:spPr>
          <a:xfrm>
            <a:off x="336316" y="387350"/>
            <a:ext cx="1280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Helvetica Neue"/>
              <a:buNone/>
            </a:pPr>
            <a:r>
              <a:rPr b="1" lang="en-US" sz="9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Fine tuning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3" name="Google Shape;783;g3f22fe52246_0_501"/>
          <p:cNvSpPr txBox="1"/>
          <p:nvPr/>
        </p:nvSpPr>
        <p:spPr>
          <a:xfrm>
            <a:off x="1920239" y="285750"/>
            <a:ext cx="6766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LLM을 의도대로 움직이게 하는 방법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4" name="Google Shape;784;g3f22fe52246_0_501"/>
          <p:cNvSpPr/>
          <p:nvPr/>
        </p:nvSpPr>
        <p:spPr>
          <a:xfrm>
            <a:off x="457200" y="1051560"/>
            <a:ext cx="8229600" cy="3909000"/>
          </a:xfrm>
          <a:prstGeom prst="roundRect">
            <a:avLst>
              <a:gd fmla="val 1871" name="adj"/>
            </a:avLst>
          </a:prstGeom>
          <a:solidFill>
            <a:srgbClr val="F4F6F9"/>
          </a:solidFill>
          <a:ln cap="flat" cmpd="sng" w="12700">
            <a:solidFill>
              <a:srgbClr val="D8DDE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dir="2700000" dist="25400">
              <a:srgbClr val="000000">
                <a:alpha val="7840"/>
              </a:srgbClr>
            </a:outerShdw>
          </a:effectLst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5" name="Google Shape;785;g3f22fe52246_0_501"/>
          <p:cNvSpPr txBox="1"/>
          <p:nvPr/>
        </p:nvSpPr>
        <p:spPr>
          <a:xfrm>
            <a:off x="731519" y="2713539"/>
            <a:ext cx="76809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LLM fine tuning </a:t>
            </a:r>
            <a:r>
              <a:rPr b="1" lang="en-US" sz="32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해보기</a:t>
            </a:r>
            <a:endParaRPr sz="32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9" name="Shape 7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0" name="Google Shape;790;g3f275b9f5c3_0_9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A5C"/>
          </a:solidFill>
          <a:ln cap="flat" cmpd="sng" w="12700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1" name="Google Shape;791;g3f275b9f5c3_0_91"/>
          <p:cNvSpPr/>
          <p:nvPr/>
        </p:nvSpPr>
        <p:spPr>
          <a:xfrm>
            <a:off x="336316" y="297179"/>
            <a:ext cx="1280100" cy="320100"/>
          </a:xfrm>
          <a:prstGeom prst="roundRect">
            <a:avLst>
              <a:gd fmla="val 14286" name="adj"/>
            </a:avLst>
          </a:prstGeom>
          <a:solidFill>
            <a:srgbClr val="E8402A"/>
          </a:solidFill>
          <a:ln cap="flat" cmpd="sng" w="12700">
            <a:solidFill>
              <a:srgbClr val="E840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2" name="Google Shape;792;g3f275b9f5c3_0_91"/>
          <p:cNvSpPr txBox="1"/>
          <p:nvPr/>
        </p:nvSpPr>
        <p:spPr>
          <a:xfrm>
            <a:off x="336316" y="387350"/>
            <a:ext cx="1280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Helvetica Neue"/>
              <a:buNone/>
            </a:pPr>
            <a:r>
              <a:rPr b="1" lang="en-US" sz="9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LLM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3" name="Google Shape;793;g3f275b9f5c3_0_91"/>
          <p:cNvSpPr txBox="1"/>
          <p:nvPr/>
        </p:nvSpPr>
        <p:spPr>
          <a:xfrm>
            <a:off x="1920239" y="285750"/>
            <a:ext cx="6766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LLM은 어떻게 만들어지는가?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4" name="Google Shape;794;g3f275b9f5c3_0_91"/>
          <p:cNvSpPr/>
          <p:nvPr/>
        </p:nvSpPr>
        <p:spPr>
          <a:xfrm>
            <a:off x="457200" y="1051560"/>
            <a:ext cx="8229600" cy="3909000"/>
          </a:xfrm>
          <a:prstGeom prst="roundRect">
            <a:avLst>
              <a:gd fmla="val 1871" name="adj"/>
            </a:avLst>
          </a:prstGeom>
          <a:solidFill>
            <a:srgbClr val="F4F6F9"/>
          </a:solidFill>
          <a:ln cap="flat" cmpd="sng" w="12700">
            <a:solidFill>
              <a:srgbClr val="D8DDE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dir="2700000" dist="25400">
              <a:srgbClr val="000000">
                <a:alpha val="7840"/>
              </a:srgbClr>
            </a:outerShdw>
          </a:effectLst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5" name="Google Shape;795;g3f275b9f5c3_0_91"/>
          <p:cNvSpPr txBox="1"/>
          <p:nvPr/>
        </p:nvSpPr>
        <p:spPr>
          <a:xfrm>
            <a:off x="731519" y="1234439"/>
            <a:ext cx="7680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Fine-tuning을 위한 모델 준비</a:t>
            </a:r>
            <a:endParaRPr sz="16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6" name="Google Shape;796;g3f275b9f5c3_0_91"/>
          <p:cNvSpPr txBox="1"/>
          <p:nvPr/>
        </p:nvSpPr>
        <p:spPr>
          <a:xfrm>
            <a:off x="876150" y="1755425"/>
            <a:ext cx="7391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Calibri"/>
                <a:ea typeface="Calibri"/>
                <a:cs typeface="Calibri"/>
                <a:sym typeface="Calibri"/>
              </a:rPr>
              <a:t>GPT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7" name="Google Shape;797;g3f275b9f5c3_0_91"/>
          <p:cNvSpPr txBox="1"/>
          <p:nvPr/>
        </p:nvSpPr>
        <p:spPr>
          <a:xfrm>
            <a:off x="876150" y="2213750"/>
            <a:ext cx="3775800" cy="20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●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BERT는 Transformer의 </a:t>
            </a:r>
            <a:r>
              <a:rPr lang="en-US">
                <a:latin typeface="Calibri"/>
                <a:ea typeface="Calibri"/>
                <a:cs typeface="Calibri"/>
                <a:sym typeface="Calibri"/>
              </a:rPr>
              <a:t>디코</a:t>
            </a:r>
            <a:r>
              <a:rPr lang="en-US">
                <a:latin typeface="Calibri"/>
                <a:ea typeface="Calibri"/>
                <a:cs typeface="Calibri"/>
                <a:sym typeface="Calibri"/>
              </a:rPr>
              <a:t>더 부분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●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입력 토큰들을 보고 다음에 올 토큰을 예측하도록 사전학습됨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●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Fine-tuning은 새 레이어를 추가하는 것이 아니라 어떤 “질문-답변” 패턴으로 답변할 지를 추가로 학습시키는 것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98" name="Google Shape;798;g3f275b9f5c3_0_9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46748" y="2213748"/>
            <a:ext cx="3775900" cy="1961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2" name="Shape 8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3" name="Google Shape;803;g3f275b9f5c3_0_104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A5C"/>
          </a:solidFill>
          <a:ln cap="flat" cmpd="sng" w="12700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4" name="Google Shape;804;g3f275b9f5c3_0_104"/>
          <p:cNvSpPr/>
          <p:nvPr/>
        </p:nvSpPr>
        <p:spPr>
          <a:xfrm>
            <a:off x="336316" y="297179"/>
            <a:ext cx="1280100" cy="320100"/>
          </a:xfrm>
          <a:prstGeom prst="roundRect">
            <a:avLst>
              <a:gd fmla="val 14286" name="adj"/>
            </a:avLst>
          </a:prstGeom>
          <a:solidFill>
            <a:srgbClr val="E8402A"/>
          </a:solidFill>
          <a:ln cap="flat" cmpd="sng" w="12700">
            <a:solidFill>
              <a:srgbClr val="E840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5" name="Google Shape;805;g3f275b9f5c3_0_104"/>
          <p:cNvSpPr txBox="1"/>
          <p:nvPr/>
        </p:nvSpPr>
        <p:spPr>
          <a:xfrm>
            <a:off x="336316" y="387350"/>
            <a:ext cx="1280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Helvetica Neue"/>
              <a:buNone/>
            </a:pPr>
            <a:r>
              <a:rPr b="1" lang="en-US" sz="9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LLM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6" name="Google Shape;806;g3f275b9f5c3_0_104"/>
          <p:cNvSpPr txBox="1"/>
          <p:nvPr/>
        </p:nvSpPr>
        <p:spPr>
          <a:xfrm>
            <a:off x="1920239" y="285750"/>
            <a:ext cx="6766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LLM은 어떻게 만들어지는가?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7" name="Google Shape;807;g3f275b9f5c3_0_104"/>
          <p:cNvSpPr/>
          <p:nvPr/>
        </p:nvSpPr>
        <p:spPr>
          <a:xfrm>
            <a:off x="457200" y="1051560"/>
            <a:ext cx="8229600" cy="3909000"/>
          </a:xfrm>
          <a:prstGeom prst="roundRect">
            <a:avLst>
              <a:gd fmla="val 1871" name="adj"/>
            </a:avLst>
          </a:prstGeom>
          <a:solidFill>
            <a:srgbClr val="F4F6F9"/>
          </a:solidFill>
          <a:ln cap="flat" cmpd="sng" w="12700">
            <a:solidFill>
              <a:srgbClr val="D8DDE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dir="2700000" dist="25400">
              <a:srgbClr val="000000">
                <a:alpha val="7840"/>
              </a:srgbClr>
            </a:outerShdw>
          </a:effectLst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8" name="Google Shape;808;g3f275b9f5c3_0_104"/>
          <p:cNvSpPr txBox="1"/>
          <p:nvPr/>
        </p:nvSpPr>
        <p:spPr>
          <a:xfrm>
            <a:off x="731519" y="1234439"/>
            <a:ext cx="7680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Fine-tuning을 위한 모델 준비</a:t>
            </a:r>
            <a:endParaRPr sz="16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9" name="Google Shape;809;g3f275b9f5c3_0_104"/>
          <p:cNvSpPr txBox="1"/>
          <p:nvPr/>
        </p:nvSpPr>
        <p:spPr>
          <a:xfrm>
            <a:off x="876150" y="1755425"/>
            <a:ext cx="7391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Calibri"/>
                <a:ea typeface="Calibri"/>
                <a:cs typeface="Calibri"/>
                <a:sym typeface="Calibri"/>
              </a:rPr>
              <a:t>생성 모델은 분류 모델과 달리 모델의 크기가 훨씬 커야 원하는 성능이 나온다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0" name="Google Shape;810;g3f275b9f5c3_0_104"/>
          <p:cNvSpPr txBox="1"/>
          <p:nvPr/>
        </p:nvSpPr>
        <p:spPr>
          <a:xfrm>
            <a:off x="876150" y="2213750"/>
            <a:ext cx="75363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●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PEFT 과 같은 기법을 활용하지 않으면 모델을 훈련시키기 어려움.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●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자세한건 뒤에서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4" name="Shape 8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5" name="Google Shape;815;g3f275b9f5c3_0_116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A5C"/>
          </a:solidFill>
          <a:ln cap="flat" cmpd="sng" w="12700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6" name="Google Shape;816;g3f275b9f5c3_0_116"/>
          <p:cNvSpPr/>
          <p:nvPr/>
        </p:nvSpPr>
        <p:spPr>
          <a:xfrm>
            <a:off x="336316" y="297179"/>
            <a:ext cx="1280100" cy="320100"/>
          </a:xfrm>
          <a:prstGeom prst="roundRect">
            <a:avLst>
              <a:gd fmla="val 14286" name="adj"/>
            </a:avLst>
          </a:prstGeom>
          <a:solidFill>
            <a:srgbClr val="E8402A"/>
          </a:solidFill>
          <a:ln cap="flat" cmpd="sng" w="12700">
            <a:solidFill>
              <a:srgbClr val="E840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7" name="Google Shape;817;g3f275b9f5c3_0_116"/>
          <p:cNvSpPr txBox="1"/>
          <p:nvPr/>
        </p:nvSpPr>
        <p:spPr>
          <a:xfrm>
            <a:off x="336316" y="387350"/>
            <a:ext cx="1280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Helvetica Neue"/>
              <a:buNone/>
            </a:pPr>
            <a:r>
              <a:rPr b="1" lang="en-US" sz="9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LLM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8" name="Google Shape;818;g3f275b9f5c3_0_116"/>
          <p:cNvSpPr txBox="1"/>
          <p:nvPr/>
        </p:nvSpPr>
        <p:spPr>
          <a:xfrm>
            <a:off x="1920239" y="285750"/>
            <a:ext cx="6766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LLM은 어떻게 만들어지는가?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9" name="Google Shape;819;g3f275b9f5c3_0_116"/>
          <p:cNvSpPr/>
          <p:nvPr/>
        </p:nvSpPr>
        <p:spPr>
          <a:xfrm>
            <a:off x="457200" y="1051560"/>
            <a:ext cx="8229600" cy="3909000"/>
          </a:xfrm>
          <a:prstGeom prst="roundRect">
            <a:avLst>
              <a:gd fmla="val 1871" name="adj"/>
            </a:avLst>
          </a:prstGeom>
          <a:solidFill>
            <a:srgbClr val="F4F6F9"/>
          </a:solidFill>
          <a:ln cap="flat" cmpd="sng" w="12700">
            <a:solidFill>
              <a:srgbClr val="D8DDE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dir="2700000" dist="25400">
              <a:srgbClr val="000000">
                <a:alpha val="7840"/>
              </a:srgbClr>
            </a:outerShdw>
          </a:effectLst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0" name="Google Shape;820;g3f275b9f5c3_0_116"/>
          <p:cNvSpPr txBox="1"/>
          <p:nvPr/>
        </p:nvSpPr>
        <p:spPr>
          <a:xfrm>
            <a:off x="731519" y="1234439"/>
            <a:ext cx="7680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Fine-tuning </a:t>
            </a:r>
            <a:r>
              <a:rPr b="1" lang="en-US" sz="18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성능 평가</a:t>
            </a:r>
            <a:endParaRPr sz="16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1" name="Google Shape;821;g3f275b9f5c3_0_116"/>
          <p:cNvSpPr txBox="1"/>
          <p:nvPr/>
        </p:nvSpPr>
        <p:spPr>
          <a:xfrm>
            <a:off x="876150" y="1755425"/>
            <a:ext cx="7391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Calibri"/>
                <a:ea typeface="Calibri"/>
                <a:cs typeface="Calibri"/>
                <a:sym typeface="Calibri"/>
              </a:rPr>
              <a:t>생성 모델의 성능은 어떻게 평가할까?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2" name="Google Shape;822;g3f275b9f5c3_0_116"/>
          <p:cNvSpPr txBox="1"/>
          <p:nvPr/>
        </p:nvSpPr>
        <p:spPr>
          <a:xfrm>
            <a:off x="876150" y="2213750"/>
            <a:ext cx="7536300" cy="136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●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정확도, F1 Score와 같이 구체적인 수치로 표현 가능한 분류 모델과 달리 생성 모델의 성능은 수치로 정확히 측정하기 어려움.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●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가장 좋은 것은 직접 결과를 확인하는 것 : 모델 설계 단계에서 미리 확실히 기준을 세워놓아야 한다.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6" name="Shape 8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7" name="Google Shape;827;g3efd3672a5f_0_189"/>
          <p:cNvSpPr/>
          <p:nvPr/>
        </p:nvSpPr>
        <p:spPr>
          <a:xfrm>
            <a:off x="0" y="0"/>
            <a:ext cx="7667100" cy="5143500"/>
          </a:xfrm>
          <a:prstGeom prst="roundRect">
            <a:avLst>
              <a:gd fmla="val 1871" name="adj"/>
            </a:avLst>
          </a:prstGeom>
          <a:solidFill>
            <a:srgbClr val="E8402A"/>
          </a:solidFill>
          <a:ln cap="flat" cmpd="sng" w="12700">
            <a:solidFill>
              <a:srgbClr val="D8DDE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dir="2700000" dist="25400">
              <a:srgbClr val="000000">
                <a:alpha val="7840"/>
              </a:srgbClr>
            </a:outerShdw>
          </a:effectLst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8" name="Google Shape;828;g3efd3672a5f_0_189"/>
          <p:cNvSpPr/>
          <p:nvPr/>
        </p:nvSpPr>
        <p:spPr>
          <a:xfrm>
            <a:off x="0" y="0"/>
            <a:ext cx="6376200" cy="5143500"/>
          </a:xfrm>
          <a:prstGeom prst="roundRect">
            <a:avLst>
              <a:gd fmla="val 1871" name="adj"/>
            </a:avLst>
          </a:prstGeom>
          <a:solidFill>
            <a:srgbClr val="F4F6F9"/>
          </a:solidFill>
          <a:ln cap="flat" cmpd="sng" w="12700">
            <a:solidFill>
              <a:srgbClr val="D8DDE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dir="2700000" dist="25400">
              <a:srgbClr val="000000">
                <a:alpha val="7840"/>
              </a:srgbClr>
            </a:outerShdw>
          </a:effectLst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9" name="Google Shape;829;g3efd3672a5f_0_189"/>
          <p:cNvSpPr txBox="1"/>
          <p:nvPr/>
        </p:nvSpPr>
        <p:spPr>
          <a:xfrm>
            <a:off x="621875" y="2117550"/>
            <a:ext cx="54552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latin typeface="Calibri"/>
                <a:ea typeface="Calibri"/>
                <a:cs typeface="Calibri"/>
                <a:sym typeface="Calibri"/>
              </a:rPr>
              <a:t>4. PEFT</a:t>
            </a:r>
            <a:endParaRPr b="1" sz="32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3" name="Shape 8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4" name="Google Shape;834;g3efd3672a5f_0_195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A5C"/>
          </a:solidFill>
          <a:ln cap="flat" cmpd="sng" w="12700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5" name="Google Shape;835;g3efd3672a5f_0_195"/>
          <p:cNvSpPr/>
          <p:nvPr/>
        </p:nvSpPr>
        <p:spPr>
          <a:xfrm>
            <a:off x="336316" y="297179"/>
            <a:ext cx="1280100" cy="320100"/>
          </a:xfrm>
          <a:prstGeom prst="roundRect">
            <a:avLst>
              <a:gd fmla="val 14286" name="adj"/>
            </a:avLst>
          </a:prstGeom>
          <a:solidFill>
            <a:srgbClr val="E8402A"/>
          </a:solidFill>
          <a:ln cap="flat" cmpd="sng" w="12700">
            <a:solidFill>
              <a:srgbClr val="E840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6" name="Google Shape;836;g3efd3672a5f_0_195"/>
          <p:cNvSpPr txBox="1"/>
          <p:nvPr/>
        </p:nvSpPr>
        <p:spPr>
          <a:xfrm>
            <a:off x="336316" y="387350"/>
            <a:ext cx="1280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Helvetica Neue"/>
              <a:buNone/>
            </a:pPr>
            <a:r>
              <a:rPr b="1" lang="en-US" sz="9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PEFT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7" name="Google Shape;837;g3efd3672a5f_0_195"/>
          <p:cNvSpPr txBox="1"/>
          <p:nvPr/>
        </p:nvSpPr>
        <p:spPr>
          <a:xfrm>
            <a:off x="1920239" y="285750"/>
            <a:ext cx="6766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PEFT란?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8" name="Google Shape;838;g3efd3672a5f_0_195"/>
          <p:cNvSpPr/>
          <p:nvPr/>
        </p:nvSpPr>
        <p:spPr>
          <a:xfrm>
            <a:off x="457200" y="1051560"/>
            <a:ext cx="8229600" cy="3909000"/>
          </a:xfrm>
          <a:prstGeom prst="roundRect">
            <a:avLst>
              <a:gd fmla="val 1871" name="adj"/>
            </a:avLst>
          </a:prstGeom>
          <a:solidFill>
            <a:srgbClr val="F4F6F9"/>
          </a:solidFill>
          <a:ln cap="flat" cmpd="sng" w="12700">
            <a:solidFill>
              <a:srgbClr val="D8DDE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dir="2700000" dist="25400">
              <a:srgbClr val="000000">
                <a:alpha val="7840"/>
              </a:srgbClr>
            </a:outerShdw>
          </a:effectLst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9" name="Google Shape;839;g3efd3672a5f_0_195"/>
          <p:cNvSpPr txBox="1"/>
          <p:nvPr/>
        </p:nvSpPr>
        <p:spPr>
          <a:xfrm>
            <a:off x="731519" y="1234439"/>
            <a:ext cx="7680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PEFT (Parameter-Efficient Fine-Tuning)</a:t>
            </a:r>
            <a:endParaRPr sz="16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0" name="Google Shape;840;g3efd3672a5f_0_195"/>
          <p:cNvSpPr txBox="1"/>
          <p:nvPr/>
        </p:nvSpPr>
        <p:spPr>
          <a:xfrm>
            <a:off x="731525" y="1905000"/>
            <a:ext cx="73182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●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LLM = 거대한 언어 모델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●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모델이 크고 계산도 오래 걸린다… -&gt; 웬만한 컴퓨터에서는 모델을 돌리기 어려움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●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저사양 컴퓨터에서도 모델을 돌릴 수 있도록 여러가지 기법들이 연구됨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4" name="Shape 8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5" name="Google Shape;845;g3efd3672a5f_0_205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A5C"/>
          </a:solidFill>
          <a:ln cap="flat" cmpd="sng" w="12700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6" name="Google Shape;846;g3efd3672a5f_0_205"/>
          <p:cNvSpPr/>
          <p:nvPr/>
        </p:nvSpPr>
        <p:spPr>
          <a:xfrm>
            <a:off x="336316" y="297179"/>
            <a:ext cx="1280100" cy="320100"/>
          </a:xfrm>
          <a:prstGeom prst="roundRect">
            <a:avLst>
              <a:gd fmla="val 14286" name="adj"/>
            </a:avLst>
          </a:prstGeom>
          <a:solidFill>
            <a:srgbClr val="E8402A"/>
          </a:solidFill>
          <a:ln cap="flat" cmpd="sng" w="12700">
            <a:solidFill>
              <a:srgbClr val="E840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7" name="Google Shape;847;g3efd3672a5f_0_205"/>
          <p:cNvSpPr txBox="1"/>
          <p:nvPr/>
        </p:nvSpPr>
        <p:spPr>
          <a:xfrm>
            <a:off x="336316" y="387350"/>
            <a:ext cx="1280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Helvetica Neue"/>
              <a:buNone/>
            </a:pPr>
            <a:r>
              <a:rPr b="1" lang="en-US" sz="9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PEFT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8" name="Google Shape;848;g3efd3672a5f_0_205"/>
          <p:cNvSpPr txBox="1"/>
          <p:nvPr/>
        </p:nvSpPr>
        <p:spPr>
          <a:xfrm>
            <a:off x="1920239" y="285750"/>
            <a:ext cx="6766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PEFT란?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9" name="Google Shape;849;g3efd3672a5f_0_205"/>
          <p:cNvSpPr/>
          <p:nvPr/>
        </p:nvSpPr>
        <p:spPr>
          <a:xfrm>
            <a:off x="457200" y="1051560"/>
            <a:ext cx="8229600" cy="3909000"/>
          </a:xfrm>
          <a:prstGeom prst="roundRect">
            <a:avLst>
              <a:gd fmla="val 1871" name="adj"/>
            </a:avLst>
          </a:prstGeom>
          <a:solidFill>
            <a:srgbClr val="F4F6F9"/>
          </a:solidFill>
          <a:ln cap="flat" cmpd="sng" w="12700">
            <a:solidFill>
              <a:srgbClr val="D8DDE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dir="2700000" dist="25400">
              <a:srgbClr val="000000">
                <a:alpha val="7840"/>
              </a:srgbClr>
            </a:outerShdw>
          </a:effectLst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0" name="Google Shape;850;g3efd3672a5f_0_205"/>
          <p:cNvSpPr txBox="1"/>
          <p:nvPr/>
        </p:nvSpPr>
        <p:spPr>
          <a:xfrm>
            <a:off x="731519" y="1234439"/>
            <a:ext cx="7680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BERT tuning할 땐 왜 안 했을까?</a:t>
            </a:r>
            <a:endParaRPr sz="16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1" name="Google Shape;851;g3efd3672a5f_0_205"/>
          <p:cNvSpPr txBox="1"/>
          <p:nvPr/>
        </p:nvSpPr>
        <p:spPr>
          <a:xfrm>
            <a:off x="731525" y="1905000"/>
            <a:ext cx="73182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●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BERT는 애초에 모델이 크지 않음 (Colab 무료버전에서도 충분히 돌아감)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BERT-base : 110M / Qwen2.5-1.5B : 1.5B (약 10배 차이)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●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BERT를 사용하는 task들은 복잡하지 않음 -&gt; 모델이 클 필요가 없음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5" name="Shape 8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6" name="Google Shape;856;g3efd3672a5f_0_215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A5C"/>
          </a:solidFill>
          <a:ln cap="flat" cmpd="sng" w="12700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7" name="Google Shape;857;g3efd3672a5f_0_215"/>
          <p:cNvSpPr/>
          <p:nvPr/>
        </p:nvSpPr>
        <p:spPr>
          <a:xfrm>
            <a:off x="336316" y="297179"/>
            <a:ext cx="1280100" cy="320100"/>
          </a:xfrm>
          <a:prstGeom prst="roundRect">
            <a:avLst>
              <a:gd fmla="val 14286" name="adj"/>
            </a:avLst>
          </a:prstGeom>
          <a:solidFill>
            <a:srgbClr val="E8402A"/>
          </a:solidFill>
          <a:ln cap="flat" cmpd="sng" w="12700">
            <a:solidFill>
              <a:srgbClr val="E840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8" name="Google Shape;858;g3efd3672a5f_0_215"/>
          <p:cNvSpPr txBox="1"/>
          <p:nvPr/>
        </p:nvSpPr>
        <p:spPr>
          <a:xfrm>
            <a:off x="336316" y="387350"/>
            <a:ext cx="1280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Helvetica Neue"/>
              <a:buNone/>
            </a:pPr>
            <a:r>
              <a:rPr b="1" lang="en-US" sz="9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PEFT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9" name="Google Shape;859;g3efd3672a5f_0_215"/>
          <p:cNvSpPr txBox="1"/>
          <p:nvPr/>
        </p:nvSpPr>
        <p:spPr>
          <a:xfrm>
            <a:off x="1920239" y="285750"/>
            <a:ext cx="6766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PEFT란?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0" name="Google Shape;860;g3efd3672a5f_0_215"/>
          <p:cNvSpPr/>
          <p:nvPr/>
        </p:nvSpPr>
        <p:spPr>
          <a:xfrm>
            <a:off x="457200" y="1051560"/>
            <a:ext cx="8229600" cy="3909000"/>
          </a:xfrm>
          <a:prstGeom prst="roundRect">
            <a:avLst>
              <a:gd fmla="val 1871" name="adj"/>
            </a:avLst>
          </a:prstGeom>
          <a:solidFill>
            <a:srgbClr val="F4F6F9"/>
          </a:solidFill>
          <a:ln cap="flat" cmpd="sng" w="12700">
            <a:solidFill>
              <a:srgbClr val="D8DDE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dir="2700000" dist="25400">
              <a:srgbClr val="000000">
                <a:alpha val="7840"/>
              </a:srgbClr>
            </a:outerShdw>
          </a:effectLst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1" name="Google Shape;861;g3efd3672a5f_0_215"/>
          <p:cNvSpPr txBox="1"/>
          <p:nvPr/>
        </p:nvSpPr>
        <p:spPr>
          <a:xfrm>
            <a:off x="731519" y="1234439"/>
            <a:ext cx="7680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LLM 얼마나 큰데?</a:t>
            </a:r>
            <a:endParaRPr sz="16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2" name="Google Shape;862;g3efd3672a5f_0_215"/>
          <p:cNvSpPr txBox="1"/>
          <p:nvPr/>
        </p:nvSpPr>
        <p:spPr>
          <a:xfrm>
            <a:off x="731500" y="1728750"/>
            <a:ext cx="7680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메모리(bytes) = 파라미터 수 x 데이터타입 크기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863" name="Google Shape;863;g3efd3672a5f_0_215"/>
          <p:cNvGraphicFramePr/>
          <p:nvPr/>
        </p:nvGraphicFramePr>
        <p:xfrm>
          <a:off x="2172813" y="23700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{7BD8FE40-2236-47C2-B004-6F83EA70BFFC}</a:tableStyleId>
              </a:tblPr>
              <a:tblGrid>
                <a:gridCol w="882575"/>
                <a:gridCol w="10713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float32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4 bytes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float16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2 bytes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int8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 byte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int4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0.5 bytes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864" name="Google Shape;864;g3efd3672a5f_0_215"/>
          <p:cNvSpPr txBox="1"/>
          <p:nvPr/>
        </p:nvSpPr>
        <p:spPr>
          <a:xfrm>
            <a:off x="4727600" y="2605250"/>
            <a:ext cx="3429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Calibri"/>
                <a:ea typeface="Calibri"/>
                <a:cs typeface="Calibri"/>
                <a:sym typeface="Calibri"/>
              </a:rPr>
              <a:t>추론 : 110,000,000 x 4 bytes = 440MB (대략 0.4GB)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Calibri"/>
                <a:ea typeface="Calibri"/>
                <a:cs typeface="Calibri"/>
                <a:sym typeface="Calibri"/>
              </a:rPr>
              <a:t>학습 : 440MB x 4 = 1.76GB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5" name="Google Shape;865;g3efd3672a5f_0_215"/>
          <p:cNvSpPr txBox="1"/>
          <p:nvPr/>
        </p:nvSpPr>
        <p:spPr>
          <a:xfrm>
            <a:off x="4727600" y="2297438"/>
            <a:ext cx="3098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BERT-base를 float32로 돌리려면…</a:t>
            </a:r>
            <a:endParaRPr sz="1000"/>
          </a:p>
        </p:txBody>
      </p:sp>
      <p:sp>
        <p:nvSpPr>
          <p:cNvPr id="866" name="Google Shape;866;g3efd3672a5f_0_215"/>
          <p:cNvSpPr txBox="1"/>
          <p:nvPr/>
        </p:nvSpPr>
        <p:spPr>
          <a:xfrm>
            <a:off x="4727600" y="3478825"/>
            <a:ext cx="3284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Calibri"/>
                <a:ea typeface="Calibri"/>
                <a:cs typeface="Calibri"/>
                <a:sym typeface="Calibri"/>
              </a:rPr>
              <a:t>추론 : 1,500,000,000 x 4 bytes = 6GB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Calibri"/>
                <a:ea typeface="Calibri"/>
                <a:cs typeface="Calibri"/>
                <a:sym typeface="Calibri"/>
              </a:rPr>
              <a:t>학습 : 6GB x 4 = 24GB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7" name="Google Shape;867;g3efd3672a5f_0_215"/>
          <p:cNvSpPr txBox="1"/>
          <p:nvPr/>
        </p:nvSpPr>
        <p:spPr>
          <a:xfrm>
            <a:off x="4727600" y="3171013"/>
            <a:ext cx="3191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Qwen2.5-1.5B를 float32로 추론,</a:t>
            </a:r>
            <a:endParaRPr sz="1000"/>
          </a:p>
        </p:txBody>
      </p:sp>
      <p:cxnSp>
        <p:nvCxnSpPr>
          <p:cNvPr id="868" name="Google Shape;868;g3efd3672a5f_0_215"/>
          <p:cNvCxnSpPr/>
          <p:nvPr/>
        </p:nvCxnSpPr>
        <p:spPr>
          <a:xfrm rot="10800000">
            <a:off x="4702300" y="3153925"/>
            <a:ext cx="3386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69" name="Google Shape;869;g3efd3672a5f_0_215"/>
          <p:cNvSpPr txBox="1"/>
          <p:nvPr/>
        </p:nvSpPr>
        <p:spPr>
          <a:xfrm>
            <a:off x="6043175" y="4464538"/>
            <a:ext cx="2468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latin typeface="Calibri"/>
                <a:ea typeface="Calibri"/>
                <a:cs typeface="Calibri"/>
                <a:sym typeface="Calibri"/>
              </a:rPr>
              <a:t>* Colab의 T4 GPU는 16GB!</a:t>
            </a:r>
            <a:endParaRPr b="1" sz="12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3" name="Shape 8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4" name="Google Shape;874;g3efd3672a5f_0_23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A5C"/>
          </a:solidFill>
          <a:ln cap="flat" cmpd="sng" w="12700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5" name="Google Shape;875;g3efd3672a5f_0_232"/>
          <p:cNvSpPr/>
          <p:nvPr/>
        </p:nvSpPr>
        <p:spPr>
          <a:xfrm>
            <a:off x="336316" y="297179"/>
            <a:ext cx="1280100" cy="320100"/>
          </a:xfrm>
          <a:prstGeom prst="roundRect">
            <a:avLst>
              <a:gd fmla="val 14286" name="adj"/>
            </a:avLst>
          </a:prstGeom>
          <a:solidFill>
            <a:srgbClr val="E8402A"/>
          </a:solidFill>
          <a:ln cap="flat" cmpd="sng" w="12700">
            <a:solidFill>
              <a:srgbClr val="E840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6" name="Google Shape;876;g3efd3672a5f_0_232"/>
          <p:cNvSpPr txBox="1"/>
          <p:nvPr/>
        </p:nvSpPr>
        <p:spPr>
          <a:xfrm>
            <a:off x="336316" y="387350"/>
            <a:ext cx="1280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Helvetica Neue"/>
              <a:buNone/>
            </a:pPr>
            <a:r>
              <a:rPr b="1" lang="en-US" sz="9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PEFT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7" name="Google Shape;877;g3efd3672a5f_0_232"/>
          <p:cNvSpPr txBox="1"/>
          <p:nvPr/>
        </p:nvSpPr>
        <p:spPr>
          <a:xfrm>
            <a:off x="1920239" y="285750"/>
            <a:ext cx="6766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PEFT란?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8" name="Google Shape;878;g3efd3672a5f_0_232"/>
          <p:cNvSpPr/>
          <p:nvPr/>
        </p:nvSpPr>
        <p:spPr>
          <a:xfrm>
            <a:off x="457200" y="1051560"/>
            <a:ext cx="8229600" cy="3909000"/>
          </a:xfrm>
          <a:prstGeom prst="roundRect">
            <a:avLst>
              <a:gd fmla="val 1871" name="adj"/>
            </a:avLst>
          </a:prstGeom>
          <a:solidFill>
            <a:srgbClr val="F4F6F9"/>
          </a:solidFill>
          <a:ln cap="flat" cmpd="sng" w="12700">
            <a:solidFill>
              <a:srgbClr val="D8DDE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dir="2700000" dist="25400">
              <a:srgbClr val="000000">
                <a:alpha val="7840"/>
              </a:srgbClr>
            </a:outerShdw>
          </a:effectLst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9" name="Google Shape;879;g3efd3672a5f_0_232"/>
          <p:cNvSpPr txBox="1"/>
          <p:nvPr/>
        </p:nvSpPr>
        <p:spPr>
          <a:xfrm>
            <a:off x="731519" y="1234439"/>
            <a:ext cx="7680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그럼 어떻게 크기를 줄일 수 있을까?</a:t>
            </a:r>
            <a:endParaRPr sz="16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3" name="Shape 8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4" name="Google Shape;884;g3efd3672a5f_0_24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A5C"/>
          </a:solidFill>
          <a:ln cap="flat" cmpd="sng" w="12700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5" name="Google Shape;885;g3efd3672a5f_0_241"/>
          <p:cNvSpPr/>
          <p:nvPr/>
        </p:nvSpPr>
        <p:spPr>
          <a:xfrm>
            <a:off x="336316" y="297179"/>
            <a:ext cx="1280100" cy="320100"/>
          </a:xfrm>
          <a:prstGeom prst="roundRect">
            <a:avLst>
              <a:gd fmla="val 14286" name="adj"/>
            </a:avLst>
          </a:prstGeom>
          <a:solidFill>
            <a:srgbClr val="E8402A"/>
          </a:solidFill>
          <a:ln cap="flat" cmpd="sng" w="12700">
            <a:solidFill>
              <a:srgbClr val="E840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6" name="Google Shape;886;g3efd3672a5f_0_241"/>
          <p:cNvSpPr txBox="1"/>
          <p:nvPr/>
        </p:nvSpPr>
        <p:spPr>
          <a:xfrm>
            <a:off x="336316" y="387350"/>
            <a:ext cx="1280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Helvetica Neue"/>
              <a:buNone/>
            </a:pPr>
            <a:r>
              <a:rPr b="1" lang="en-US" sz="9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PEFT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7" name="Google Shape;887;g3efd3672a5f_0_241"/>
          <p:cNvSpPr txBox="1"/>
          <p:nvPr/>
        </p:nvSpPr>
        <p:spPr>
          <a:xfrm>
            <a:off x="1920239" y="285750"/>
            <a:ext cx="6766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PEFT란?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8" name="Google Shape;888;g3efd3672a5f_0_241"/>
          <p:cNvSpPr/>
          <p:nvPr/>
        </p:nvSpPr>
        <p:spPr>
          <a:xfrm>
            <a:off x="457200" y="1051560"/>
            <a:ext cx="8229600" cy="3909000"/>
          </a:xfrm>
          <a:prstGeom prst="roundRect">
            <a:avLst>
              <a:gd fmla="val 1871" name="adj"/>
            </a:avLst>
          </a:prstGeom>
          <a:solidFill>
            <a:srgbClr val="F4F6F9"/>
          </a:solidFill>
          <a:ln cap="flat" cmpd="sng" w="12700">
            <a:solidFill>
              <a:srgbClr val="D8DDE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dir="2700000" dist="25400">
              <a:srgbClr val="000000">
                <a:alpha val="7840"/>
              </a:srgbClr>
            </a:outerShdw>
          </a:effectLst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9" name="Google Shape;889;g3efd3672a5f_0_241"/>
          <p:cNvSpPr txBox="1"/>
          <p:nvPr/>
        </p:nvSpPr>
        <p:spPr>
          <a:xfrm>
            <a:off x="731519" y="1234439"/>
            <a:ext cx="7680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그럼 어떻게 크기를 줄일 수 있을까?</a:t>
            </a:r>
            <a:endParaRPr sz="16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890" name="Google Shape;890;g3efd3672a5f_0_241"/>
          <p:cNvGraphicFramePr/>
          <p:nvPr/>
        </p:nvGraphicFramePr>
        <p:xfrm>
          <a:off x="6191663" y="2322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{7BD8FE40-2236-47C2-B004-6F83EA70BFFC}</a:tableStyleId>
              </a:tblPr>
              <a:tblGrid>
                <a:gridCol w="882575"/>
                <a:gridCol w="10713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float32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4 bytes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float16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2 bytes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int8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 byte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int4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0.5 bytes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891" name="Google Shape;891;g3efd3672a5f_0_241"/>
          <p:cNvSpPr txBox="1"/>
          <p:nvPr/>
        </p:nvSpPr>
        <p:spPr>
          <a:xfrm>
            <a:off x="731519" y="1777089"/>
            <a:ext cx="7680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1. 양자화</a:t>
            </a:r>
            <a:endParaRPr sz="16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2" name="Google Shape;892;g3efd3672a5f_0_241"/>
          <p:cNvSpPr txBox="1"/>
          <p:nvPr/>
        </p:nvSpPr>
        <p:spPr>
          <a:xfrm>
            <a:off x="731523" y="2289150"/>
            <a:ext cx="53322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-317500" lvl="0" marL="45720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rgbClr val="1A1A2E"/>
              </a:buClr>
              <a:buSzPts val="1400"/>
              <a:buFont typeface="Calibri"/>
              <a:buChar char="●"/>
            </a:pPr>
            <a:r>
              <a:rPr lang="en-US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기본적으로 연산에 사용되는 데이터 타입은 float32</a:t>
            </a:r>
            <a:endParaRPr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400"/>
              <a:buFont typeface="Calibri"/>
              <a:buChar char="●"/>
            </a:pPr>
            <a:r>
              <a:rPr lang="en-US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용량을 줄이기 위해 float16, int8 등의 타입을 사용하면 어떨까?</a:t>
            </a:r>
            <a:endParaRPr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400"/>
              <a:buFont typeface="Calibri"/>
              <a:buChar char="●"/>
            </a:pPr>
            <a:r>
              <a:rPr lang="en-US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타입을 바꾸는 것이 그렇게 단순하지는 않음</a:t>
            </a:r>
            <a:endParaRPr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6" name="Shape 8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7" name="Google Shape;897;g3efd3672a5f_0_253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A5C"/>
          </a:solidFill>
          <a:ln cap="flat" cmpd="sng" w="12700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8" name="Google Shape;898;g3efd3672a5f_0_253"/>
          <p:cNvSpPr/>
          <p:nvPr/>
        </p:nvSpPr>
        <p:spPr>
          <a:xfrm>
            <a:off x="336316" y="297179"/>
            <a:ext cx="1280100" cy="320100"/>
          </a:xfrm>
          <a:prstGeom prst="roundRect">
            <a:avLst>
              <a:gd fmla="val 14286" name="adj"/>
            </a:avLst>
          </a:prstGeom>
          <a:solidFill>
            <a:srgbClr val="E8402A"/>
          </a:solidFill>
          <a:ln cap="flat" cmpd="sng" w="12700">
            <a:solidFill>
              <a:srgbClr val="E840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9" name="Google Shape;899;g3efd3672a5f_0_253"/>
          <p:cNvSpPr txBox="1"/>
          <p:nvPr/>
        </p:nvSpPr>
        <p:spPr>
          <a:xfrm>
            <a:off x="336316" y="387350"/>
            <a:ext cx="1280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Helvetica Neue"/>
              <a:buNone/>
            </a:pPr>
            <a:r>
              <a:rPr b="1" lang="en-US" sz="9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PEFT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0" name="Google Shape;900;g3efd3672a5f_0_253"/>
          <p:cNvSpPr txBox="1"/>
          <p:nvPr/>
        </p:nvSpPr>
        <p:spPr>
          <a:xfrm>
            <a:off x="1920239" y="285750"/>
            <a:ext cx="6766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PEFT란?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1" name="Google Shape;901;g3efd3672a5f_0_253"/>
          <p:cNvSpPr/>
          <p:nvPr/>
        </p:nvSpPr>
        <p:spPr>
          <a:xfrm>
            <a:off x="457200" y="1051560"/>
            <a:ext cx="8229600" cy="3909000"/>
          </a:xfrm>
          <a:prstGeom prst="roundRect">
            <a:avLst>
              <a:gd fmla="val 1871" name="adj"/>
            </a:avLst>
          </a:prstGeom>
          <a:solidFill>
            <a:srgbClr val="F4F6F9"/>
          </a:solidFill>
          <a:ln cap="flat" cmpd="sng" w="12700">
            <a:solidFill>
              <a:srgbClr val="D8DDE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dir="2700000" dist="25400">
              <a:srgbClr val="000000">
                <a:alpha val="7840"/>
              </a:srgbClr>
            </a:outerShdw>
          </a:effectLst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2" name="Google Shape;902;g3efd3672a5f_0_253"/>
          <p:cNvSpPr txBox="1"/>
          <p:nvPr/>
        </p:nvSpPr>
        <p:spPr>
          <a:xfrm>
            <a:off x="731519" y="1234439"/>
            <a:ext cx="7680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그럼 어떻게 크기를 줄일 수 있을까?</a:t>
            </a:r>
            <a:endParaRPr sz="16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3" name="Google Shape;903;g3efd3672a5f_0_253"/>
          <p:cNvSpPr txBox="1"/>
          <p:nvPr/>
        </p:nvSpPr>
        <p:spPr>
          <a:xfrm>
            <a:off x="731519" y="1777089"/>
            <a:ext cx="7680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1. 양자화</a:t>
            </a:r>
            <a:endParaRPr sz="16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4" name="Google Shape;904;g3efd3672a5f_0_253"/>
          <p:cNvSpPr txBox="1"/>
          <p:nvPr/>
        </p:nvSpPr>
        <p:spPr>
          <a:xfrm>
            <a:off x="731526" y="2289150"/>
            <a:ext cx="7680900" cy="16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-317500" lvl="0" marL="45720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rgbClr val="1A1A2E"/>
              </a:buClr>
              <a:buSzPts val="1400"/>
              <a:buFont typeface="Calibri"/>
              <a:buChar char="●"/>
            </a:pPr>
            <a:r>
              <a:rPr lang="en-US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데이터 타입을 </a:t>
            </a:r>
            <a:r>
              <a:rPr b="1" lang="en-US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float16</a:t>
            </a:r>
            <a:r>
              <a:rPr lang="en-US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으로 바꿔 용량을 줄여보자! (Mixed Precision)</a:t>
            </a:r>
            <a:endParaRPr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400"/>
              <a:buFont typeface="Calibri"/>
              <a:buChar char="●"/>
            </a:pPr>
            <a:r>
              <a:rPr lang="en-US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fp16은 fp32에 비해 표현 범위가 작음 -&gt; gradient가 매우 작은 값인 경우가 많아 0으로 처리되는 문제가 발생</a:t>
            </a:r>
            <a:endParaRPr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400"/>
              <a:buFont typeface="Calibri"/>
              <a:buChar char="●"/>
            </a:pPr>
            <a:r>
              <a:rPr lang="en-US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0으로 변환되지 않도록 gradient 계산 과정에 앞서 수를 곱해 크기를 키운 뒤에, fp16으로 연산을 수행하고 다시 그 수로 나눠주는 식으로 해결</a:t>
            </a:r>
            <a:endParaRPr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8" name="Shape 9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9" name="Google Shape;909;g3efd3672a5f_0_264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A5C"/>
          </a:solidFill>
          <a:ln cap="flat" cmpd="sng" w="12700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0" name="Google Shape;910;g3efd3672a5f_0_264"/>
          <p:cNvSpPr/>
          <p:nvPr/>
        </p:nvSpPr>
        <p:spPr>
          <a:xfrm>
            <a:off x="336316" y="297179"/>
            <a:ext cx="1280100" cy="320100"/>
          </a:xfrm>
          <a:prstGeom prst="roundRect">
            <a:avLst>
              <a:gd fmla="val 14286" name="adj"/>
            </a:avLst>
          </a:prstGeom>
          <a:solidFill>
            <a:srgbClr val="E8402A"/>
          </a:solidFill>
          <a:ln cap="flat" cmpd="sng" w="12700">
            <a:solidFill>
              <a:srgbClr val="E840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1" name="Google Shape;911;g3efd3672a5f_0_264"/>
          <p:cNvSpPr txBox="1"/>
          <p:nvPr/>
        </p:nvSpPr>
        <p:spPr>
          <a:xfrm>
            <a:off x="336316" y="387350"/>
            <a:ext cx="1280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Helvetica Neue"/>
              <a:buNone/>
            </a:pPr>
            <a:r>
              <a:rPr b="1" lang="en-US" sz="9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PEFT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2" name="Google Shape;912;g3efd3672a5f_0_264"/>
          <p:cNvSpPr txBox="1"/>
          <p:nvPr/>
        </p:nvSpPr>
        <p:spPr>
          <a:xfrm>
            <a:off x="1920239" y="285750"/>
            <a:ext cx="6766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PEFT란?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3" name="Google Shape;913;g3efd3672a5f_0_264"/>
          <p:cNvSpPr/>
          <p:nvPr/>
        </p:nvSpPr>
        <p:spPr>
          <a:xfrm>
            <a:off x="457200" y="1051560"/>
            <a:ext cx="8229600" cy="3909000"/>
          </a:xfrm>
          <a:prstGeom prst="roundRect">
            <a:avLst>
              <a:gd fmla="val 1871" name="adj"/>
            </a:avLst>
          </a:prstGeom>
          <a:solidFill>
            <a:srgbClr val="F4F6F9"/>
          </a:solidFill>
          <a:ln cap="flat" cmpd="sng" w="12700">
            <a:solidFill>
              <a:srgbClr val="D8DDE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dir="2700000" dist="25400">
              <a:srgbClr val="000000">
                <a:alpha val="7840"/>
              </a:srgbClr>
            </a:outerShdw>
          </a:effectLst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4" name="Google Shape;914;g3efd3672a5f_0_264"/>
          <p:cNvSpPr txBox="1"/>
          <p:nvPr/>
        </p:nvSpPr>
        <p:spPr>
          <a:xfrm>
            <a:off x="731519" y="1234439"/>
            <a:ext cx="7680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그럼 어떻게 크기를 줄일 수 있을까?</a:t>
            </a:r>
            <a:endParaRPr sz="16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5" name="Google Shape;915;g3efd3672a5f_0_264"/>
          <p:cNvSpPr txBox="1"/>
          <p:nvPr/>
        </p:nvSpPr>
        <p:spPr>
          <a:xfrm>
            <a:off x="731519" y="1777089"/>
            <a:ext cx="7680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1. 양자화</a:t>
            </a:r>
            <a:endParaRPr sz="16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6" name="Google Shape;916;g3efd3672a5f_0_264"/>
          <p:cNvSpPr txBox="1"/>
          <p:nvPr/>
        </p:nvSpPr>
        <p:spPr>
          <a:xfrm>
            <a:off x="731525" y="2289150"/>
            <a:ext cx="5292900" cy="12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-317500" lvl="0" marL="45720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rgbClr val="1A1A2E"/>
              </a:buClr>
              <a:buSzPts val="1400"/>
              <a:buFont typeface="Calibri"/>
              <a:buChar char="●"/>
            </a:pPr>
            <a:r>
              <a:rPr lang="en-US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좀 더 줄일 수는 없을까…?</a:t>
            </a:r>
            <a:endParaRPr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400"/>
              <a:buFont typeface="Calibri"/>
              <a:buChar char="●"/>
            </a:pPr>
            <a:r>
              <a:rPr lang="en-US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fp16으로 바꾸는 것과 int로 바꾸는 것은 완전히 다름 (소수점이 없다)</a:t>
            </a:r>
            <a:endParaRPr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400"/>
              <a:buFont typeface="Calibri"/>
              <a:buChar char="●"/>
            </a:pPr>
            <a:r>
              <a:rPr lang="en-US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LLM 가중치가 정규분포를 따른다는 것을 이용해 정규분포에 최적화된 4비트 값을 사용</a:t>
            </a:r>
            <a:endParaRPr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917" name="Google Shape;917;g3efd3672a5f_0_264"/>
          <p:cNvGraphicFramePr/>
          <p:nvPr/>
        </p:nvGraphicFramePr>
        <p:xfrm>
          <a:off x="6191663" y="2322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{7BD8FE40-2236-47C2-B004-6F83EA70BFFC}</a:tableStyleId>
              </a:tblPr>
              <a:tblGrid>
                <a:gridCol w="882575"/>
                <a:gridCol w="10713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float32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4 bytes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float16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2 bytes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int8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 byte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int4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0.5 bytes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1" name="Shape 9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" name="Google Shape;922;g3efd3672a5f_0_276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A5C"/>
          </a:solidFill>
          <a:ln cap="flat" cmpd="sng" w="12700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3" name="Google Shape;923;g3efd3672a5f_0_276"/>
          <p:cNvSpPr/>
          <p:nvPr/>
        </p:nvSpPr>
        <p:spPr>
          <a:xfrm>
            <a:off x="336316" y="297179"/>
            <a:ext cx="1280100" cy="320100"/>
          </a:xfrm>
          <a:prstGeom prst="roundRect">
            <a:avLst>
              <a:gd fmla="val 14286" name="adj"/>
            </a:avLst>
          </a:prstGeom>
          <a:solidFill>
            <a:srgbClr val="E8402A"/>
          </a:solidFill>
          <a:ln cap="flat" cmpd="sng" w="12700">
            <a:solidFill>
              <a:srgbClr val="E840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4" name="Google Shape;924;g3efd3672a5f_0_276"/>
          <p:cNvSpPr txBox="1"/>
          <p:nvPr/>
        </p:nvSpPr>
        <p:spPr>
          <a:xfrm>
            <a:off x="336316" y="387350"/>
            <a:ext cx="1280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Helvetica Neue"/>
              <a:buNone/>
            </a:pPr>
            <a:r>
              <a:rPr b="1" lang="en-US" sz="9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PEFT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5" name="Google Shape;925;g3efd3672a5f_0_276"/>
          <p:cNvSpPr txBox="1"/>
          <p:nvPr/>
        </p:nvSpPr>
        <p:spPr>
          <a:xfrm>
            <a:off x="1920239" y="285750"/>
            <a:ext cx="6766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PEFT란?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6" name="Google Shape;926;g3efd3672a5f_0_276"/>
          <p:cNvSpPr/>
          <p:nvPr/>
        </p:nvSpPr>
        <p:spPr>
          <a:xfrm>
            <a:off x="457200" y="1051560"/>
            <a:ext cx="8229600" cy="3909000"/>
          </a:xfrm>
          <a:prstGeom prst="roundRect">
            <a:avLst>
              <a:gd fmla="val 1871" name="adj"/>
            </a:avLst>
          </a:prstGeom>
          <a:solidFill>
            <a:srgbClr val="F4F6F9"/>
          </a:solidFill>
          <a:ln cap="flat" cmpd="sng" w="12700">
            <a:solidFill>
              <a:srgbClr val="D8DDE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dir="2700000" dist="25400">
              <a:srgbClr val="000000">
                <a:alpha val="7840"/>
              </a:srgbClr>
            </a:outerShdw>
          </a:effectLst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7" name="Google Shape;927;g3efd3672a5f_0_276"/>
          <p:cNvSpPr txBox="1"/>
          <p:nvPr/>
        </p:nvSpPr>
        <p:spPr>
          <a:xfrm>
            <a:off x="731519" y="1234439"/>
            <a:ext cx="7680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그럼 어떻게 크기를 줄일 수 있을까?</a:t>
            </a:r>
            <a:endParaRPr sz="16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28" name="Google Shape;928;g3efd3672a5f_0_27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68371" y="1283687"/>
            <a:ext cx="3070275" cy="3444725"/>
          </a:xfrm>
          <a:prstGeom prst="rect">
            <a:avLst/>
          </a:prstGeom>
          <a:noFill/>
          <a:ln>
            <a:noFill/>
          </a:ln>
        </p:spPr>
      </p:pic>
      <p:sp>
        <p:nvSpPr>
          <p:cNvPr id="929" name="Google Shape;929;g3efd3672a5f_0_276"/>
          <p:cNvSpPr txBox="1"/>
          <p:nvPr/>
        </p:nvSpPr>
        <p:spPr>
          <a:xfrm>
            <a:off x="731519" y="1777089"/>
            <a:ext cx="7680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2. LoRA</a:t>
            </a:r>
            <a:endParaRPr sz="16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0" name="Google Shape;930;g3efd3672a5f_0_276"/>
          <p:cNvSpPr txBox="1"/>
          <p:nvPr/>
        </p:nvSpPr>
        <p:spPr>
          <a:xfrm>
            <a:off x="731525" y="2289150"/>
            <a:ext cx="45369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-317500" lvl="0" marL="45720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rgbClr val="1A1A2E"/>
              </a:buClr>
              <a:buSzPts val="1400"/>
              <a:buFont typeface="Calibri"/>
              <a:buChar char="●"/>
            </a:pPr>
            <a:r>
              <a:rPr lang="en-US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이번엔 모델의 레이어에 집중해 봅시다</a:t>
            </a:r>
            <a:endParaRPr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400"/>
              <a:buFont typeface="Calibri"/>
              <a:buChar char="●"/>
            </a:pPr>
            <a:r>
              <a:rPr lang="en-US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LLM의 파라미터 수는 억 단위… 정말 이걸 전부 학습 시킬 필요가 있을까?</a:t>
            </a:r>
            <a:endParaRPr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4" name="Shape 9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5" name="Google Shape;935;g3efd3672a5f_0_288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A5C"/>
          </a:solidFill>
          <a:ln cap="flat" cmpd="sng" w="12700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6" name="Google Shape;936;g3efd3672a5f_0_288"/>
          <p:cNvSpPr/>
          <p:nvPr/>
        </p:nvSpPr>
        <p:spPr>
          <a:xfrm>
            <a:off x="336316" y="297179"/>
            <a:ext cx="1280100" cy="320100"/>
          </a:xfrm>
          <a:prstGeom prst="roundRect">
            <a:avLst>
              <a:gd fmla="val 14286" name="adj"/>
            </a:avLst>
          </a:prstGeom>
          <a:solidFill>
            <a:srgbClr val="E8402A"/>
          </a:solidFill>
          <a:ln cap="flat" cmpd="sng" w="12700">
            <a:solidFill>
              <a:srgbClr val="E840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7" name="Google Shape;937;g3efd3672a5f_0_288"/>
          <p:cNvSpPr txBox="1"/>
          <p:nvPr/>
        </p:nvSpPr>
        <p:spPr>
          <a:xfrm>
            <a:off x="336316" y="387350"/>
            <a:ext cx="1280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Helvetica Neue"/>
              <a:buNone/>
            </a:pPr>
            <a:r>
              <a:rPr b="1" lang="en-US" sz="9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PEFT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8" name="Google Shape;938;g3efd3672a5f_0_288"/>
          <p:cNvSpPr txBox="1"/>
          <p:nvPr/>
        </p:nvSpPr>
        <p:spPr>
          <a:xfrm>
            <a:off x="1920239" y="285750"/>
            <a:ext cx="6766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PEFT란?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9" name="Google Shape;939;g3efd3672a5f_0_288"/>
          <p:cNvSpPr/>
          <p:nvPr/>
        </p:nvSpPr>
        <p:spPr>
          <a:xfrm>
            <a:off x="457200" y="1051560"/>
            <a:ext cx="8229600" cy="3909000"/>
          </a:xfrm>
          <a:prstGeom prst="roundRect">
            <a:avLst>
              <a:gd fmla="val 1871" name="adj"/>
            </a:avLst>
          </a:prstGeom>
          <a:solidFill>
            <a:srgbClr val="F4F6F9"/>
          </a:solidFill>
          <a:ln cap="flat" cmpd="sng" w="12700">
            <a:solidFill>
              <a:srgbClr val="D8DDE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dir="2700000" dist="25400">
              <a:srgbClr val="000000">
                <a:alpha val="7840"/>
              </a:srgbClr>
            </a:outerShdw>
          </a:effectLst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0" name="Google Shape;940;g3efd3672a5f_0_288"/>
          <p:cNvSpPr txBox="1"/>
          <p:nvPr/>
        </p:nvSpPr>
        <p:spPr>
          <a:xfrm>
            <a:off x="731519" y="1234439"/>
            <a:ext cx="7680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그럼 어떻게 크기를 줄일 수 있을까?</a:t>
            </a:r>
            <a:endParaRPr sz="16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1" name="Google Shape;941;g3efd3672a5f_0_288"/>
          <p:cNvSpPr txBox="1"/>
          <p:nvPr/>
        </p:nvSpPr>
        <p:spPr>
          <a:xfrm>
            <a:off x="731519" y="1777089"/>
            <a:ext cx="7680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2. LoRA</a:t>
            </a:r>
            <a:endParaRPr sz="16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2" name="Google Shape;942;g3efd3672a5f_0_288"/>
          <p:cNvSpPr txBox="1"/>
          <p:nvPr/>
        </p:nvSpPr>
        <p:spPr>
          <a:xfrm>
            <a:off x="731525" y="2107300"/>
            <a:ext cx="7523700" cy="136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●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우리가 Fine-tuning 하는 목적은 모델이 특정 작업을 수행하게 하기 위함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●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그 작업을 하는 데는 몇 십억, 몇 백억 개의 파라미터를 전부 다시 학습할 필요는 없을 수도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●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LoRA는 전체 파라미터를 다시 학습하는 대신, 추가 정보를 표현할 수 있는 작은 행렬을 모델에 추가한다.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43" name="Google Shape;943;g3efd3672a5f_0_28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41525" y="3114969"/>
            <a:ext cx="4298201" cy="1732325"/>
          </a:xfrm>
          <a:prstGeom prst="rect">
            <a:avLst/>
          </a:prstGeom>
          <a:noFill/>
          <a:ln>
            <a:noFill/>
          </a:ln>
        </p:spPr>
      </p:pic>
      <p:sp>
        <p:nvSpPr>
          <p:cNvPr id="944" name="Google Shape;944;g3efd3672a5f_0_288"/>
          <p:cNvSpPr txBox="1"/>
          <p:nvPr/>
        </p:nvSpPr>
        <p:spPr>
          <a:xfrm>
            <a:off x="867325" y="3929775"/>
            <a:ext cx="3155700" cy="723300"/>
          </a:xfrm>
          <a:prstGeom prst="rect">
            <a:avLst/>
          </a:prstGeom>
          <a:noFill/>
          <a:ln cap="flat" cmpd="sng" w="28575">
            <a:solidFill>
              <a:srgbClr val="9E9E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기존 모델 : W + ΔW 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LoRA 모델 : W + AB</a:t>
            </a:r>
            <a:endParaRPr/>
          </a:p>
        </p:txBody>
      </p:sp>
      <p:sp>
        <p:nvSpPr>
          <p:cNvPr id="945" name="Google Shape;945;g3efd3672a5f_0_288"/>
          <p:cNvSpPr txBox="1"/>
          <p:nvPr/>
        </p:nvSpPr>
        <p:spPr>
          <a:xfrm>
            <a:off x="2588350" y="3980675"/>
            <a:ext cx="755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00">
                <a:latin typeface="Calibri"/>
                <a:ea typeface="Calibri"/>
                <a:cs typeface="Calibri"/>
                <a:sym typeface="Calibri"/>
              </a:rPr>
              <a:t>(1000 x 1000)</a:t>
            </a:r>
            <a:endParaRPr b="1" sz="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6" name="Google Shape;946;g3efd3672a5f_0_288"/>
          <p:cNvSpPr txBox="1"/>
          <p:nvPr/>
        </p:nvSpPr>
        <p:spPr>
          <a:xfrm>
            <a:off x="2588350" y="4288475"/>
            <a:ext cx="1231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00">
                <a:latin typeface="Calibri"/>
                <a:ea typeface="Calibri"/>
                <a:cs typeface="Calibri"/>
                <a:sym typeface="Calibri"/>
              </a:rPr>
              <a:t>(1000 x 12) x (12 x 1000)</a:t>
            </a:r>
            <a:endParaRPr b="1" sz="8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0" name="Shape 9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1" name="Google Shape;951;g3efd3672a5f_0_303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A5C"/>
          </a:solidFill>
          <a:ln cap="flat" cmpd="sng" w="12700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2" name="Google Shape;952;g3efd3672a5f_0_303"/>
          <p:cNvSpPr/>
          <p:nvPr/>
        </p:nvSpPr>
        <p:spPr>
          <a:xfrm>
            <a:off x="336316" y="297179"/>
            <a:ext cx="1280100" cy="320100"/>
          </a:xfrm>
          <a:prstGeom prst="roundRect">
            <a:avLst>
              <a:gd fmla="val 14286" name="adj"/>
            </a:avLst>
          </a:prstGeom>
          <a:solidFill>
            <a:srgbClr val="E8402A"/>
          </a:solidFill>
          <a:ln cap="flat" cmpd="sng" w="12700">
            <a:solidFill>
              <a:srgbClr val="E840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3" name="Google Shape;953;g3efd3672a5f_0_303"/>
          <p:cNvSpPr txBox="1"/>
          <p:nvPr/>
        </p:nvSpPr>
        <p:spPr>
          <a:xfrm>
            <a:off x="336316" y="387350"/>
            <a:ext cx="1280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Helvetica Neue"/>
              <a:buNone/>
            </a:pPr>
            <a:r>
              <a:rPr b="1" lang="en-US" sz="9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PEFT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4" name="Google Shape;954;g3efd3672a5f_0_303"/>
          <p:cNvSpPr txBox="1"/>
          <p:nvPr/>
        </p:nvSpPr>
        <p:spPr>
          <a:xfrm>
            <a:off x="1920239" y="285750"/>
            <a:ext cx="6766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PEFT란?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5" name="Google Shape;955;g3efd3672a5f_0_303"/>
          <p:cNvSpPr/>
          <p:nvPr/>
        </p:nvSpPr>
        <p:spPr>
          <a:xfrm>
            <a:off x="457200" y="1051560"/>
            <a:ext cx="8229600" cy="3909000"/>
          </a:xfrm>
          <a:prstGeom prst="roundRect">
            <a:avLst>
              <a:gd fmla="val 1871" name="adj"/>
            </a:avLst>
          </a:prstGeom>
          <a:solidFill>
            <a:srgbClr val="F4F6F9"/>
          </a:solidFill>
          <a:ln cap="flat" cmpd="sng" w="12700">
            <a:solidFill>
              <a:srgbClr val="D8DDE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dir="2700000" dist="25400">
              <a:srgbClr val="000000">
                <a:alpha val="7840"/>
              </a:srgbClr>
            </a:outerShdw>
          </a:effectLst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6" name="Google Shape;956;g3efd3672a5f_0_303"/>
          <p:cNvSpPr txBox="1"/>
          <p:nvPr/>
        </p:nvSpPr>
        <p:spPr>
          <a:xfrm>
            <a:off x="731519" y="1234439"/>
            <a:ext cx="7680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그럼 어떻게 크기를 줄일 수 있을까?</a:t>
            </a:r>
            <a:endParaRPr sz="16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7" name="Google Shape;957;g3efd3672a5f_0_303"/>
          <p:cNvSpPr txBox="1"/>
          <p:nvPr/>
        </p:nvSpPr>
        <p:spPr>
          <a:xfrm>
            <a:off x="731519" y="1777089"/>
            <a:ext cx="7680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3. QLoRA</a:t>
            </a:r>
            <a:endParaRPr sz="16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8" name="Google Shape;958;g3efd3672a5f_0_303"/>
          <p:cNvSpPr txBox="1"/>
          <p:nvPr/>
        </p:nvSpPr>
        <p:spPr>
          <a:xfrm>
            <a:off x="731525" y="2107300"/>
            <a:ext cx="75237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●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베이스 모델을 int4(NF4)로 양자화해서 메모리를 줄이고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●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학습은 LoRA 어댑터(fp16로 변환하여)만 수행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●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덕분에 15GB T4에서 1.5B 모델 파인튜닝 가능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2" name="Shape 9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3" name="Google Shape;963;g3efd3672a5f_0_314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A5C"/>
          </a:solidFill>
          <a:ln cap="flat" cmpd="sng" w="12700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4" name="Google Shape;964;g3efd3672a5f_0_314"/>
          <p:cNvSpPr/>
          <p:nvPr/>
        </p:nvSpPr>
        <p:spPr>
          <a:xfrm>
            <a:off x="336316" y="297179"/>
            <a:ext cx="1280100" cy="320100"/>
          </a:xfrm>
          <a:prstGeom prst="roundRect">
            <a:avLst>
              <a:gd fmla="val 14286" name="adj"/>
            </a:avLst>
          </a:prstGeom>
          <a:solidFill>
            <a:srgbClr val="E8402A"/>
          </a:solidFill>
          <a:ln cap="flat" cmpd="sng" w="12700">
            <a:solidFill>
              <a:srgbClr val="E840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5" name="Google Shape;965;g3efd3672a5f_0_314"/>
          <p:cNvSpPr txBox="1"/>
          <p:nvPr/>
        </p:nvSpPr>
        <p:spPr>
          <a:xfrm>
            <a:off x="336316" y="387350"/>
            <a:ext cx="1280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Helvetica Neue"/>
              <a:buNone/>
            </a:pPr>
            <a:r>
              <a:rPr b="1" lang="en-US" sz="9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PEFT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6" name="Google Shape;966;g3efd3672a5f_0_314"/>
          <p:cNvSpPr txBox="1"/>
          <p:nvPr/>
        </p:nvSpPr>
        <p:spPr>
          <a:xfrm>
            <a:off x="1920239" y="285750"/>
            <a:ext cx="6766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PEFT란?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7" name="Google Shape;967;g3efd3672a5f_0_314"/>
          <p:cNvSpPr/>
          <p:nvPr/>
        </p:nvSpPr>
        <p:spPr>
          <a:xfrm>
            <a:off x="457200" y="1051560"/>
            <a:ext cx="8229600" cy="3909000"/>
          </a:xfrm>
          <a:prstGeom prst="roundRect">
            <a:avLst>
              <a:gd fmla="val 1871" name="adj"/>
            </a:avLst>
          </a:prstGeom>
          <a:solidFill>
            <a:srgbClr val="F4F6F9"/>
          </a:solidFill>
          <a:ln cap="flat" cmpd="sng" w="12700">
            <a:solidFill>
              <a:srgbClr val="D8DDE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dir="2700000" dist="25400">
              <a:srgbClr val="000000">
                <a:alpha val="7840"/>
              </a:srgbClr>
            </a:outerShdw>
          </a:effectLst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8" name="Google Shape;968;g3efd3672a5f_0_314"/>
          <p:cNvSpPr txBox="1"/>
          <p:nvPr/>
        </p:nvSpPr>
        <p:spPr>
          <a:xfrm>
            <a:off x="731519" y="1234439"/>
            <a:ext cx="7680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그럼 어떻게 크기를 줄일 수 있을까?</a:t>
            </a:r>
            <a:endParaRPr sz="16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9" name="Google Shape;969;g3efd3672a5f_0_314"/>
          <p:cNvSpPr txBox="1"/>
          <p:nvPr/>
        </p:nvSpPr>
        <p:spPr>
          <a:xfrm>
            <a:off x="731519" y="1777089"/>
            <a:ext cx="7680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Unsloth</a:t>
            </a:r>
            <a:endParaRPr sz="16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0" name="Google Shape;970;g3efd3672a5f_0_314"/>
          <p:cNvSpPr txBox="1"/>
          <p:nvPr/>
        </p:nvSpPr>
        <p:spPr>
          <a:xfrm>
            <a:off x="731519" y="2213739"/>
            <a:ext cx="76809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-304800" lvl="0" marL="45720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alibri"/>
              <a:buChar char="●"/>
            </a:pPr>
            <a:r>
              <a:rPr lang="en-US" sz="12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AI 모델을 최적화하여 상대적으로 저사양의 컴퓨터로도 LLM 학습과 추론이 가능함</a:t>
            </a:r>
            <a:endParaRPr sz="12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alibri"/>
              <a:buChar char="●"/>
            </a:pPr>
            <a:r>
              <a:rPr b="1" lang="en-US" sz="12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Flash Attention 2 적용</a:t>
            </a:r>
            <a:r>
              <a:rPr lang="en-US" sz="12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 - Attention 계산의 병목 해소</a:t>
            </a:r>
            <a:endParaRPr sz="12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alibri"/>
              <a:buChar char="●"/>
            </a:pPr>
            <a:r>
              <a:rPr b="1" lang="en-US" sz="12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Custom Triton 커널</a:t>
            </a:r>
            <a:r>
              <a:rPr lang="en-US" sz="12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 - 행렬 연산을 GPU에 최적화된 코드로 재작성</a:t>
            </a:r>
            <a:endParaRPr sz="12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alibri"/>
              <a:buChar char="●"/>
            </a:pPr>
            <a:r>
              <a:rPr b="1" lang="en-US" sz="12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Dynamic 4-bit 양자화</a:t>
            </a:r>
            <a:r>
              <a:rPr lang="en-US" sz="12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 - 기존 BitsandBytes 보다 정밀한 방식으로 메모리 절감</a:t>
            </a:r>
            <a:endParaRPr sz="12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1" name="Google Shape;971;g3efd3672a5f_0_314"/>
          <p:cNvSpPr txBox="1"/>
          <p:nvPr/>
        </p:nvSpPr>
        <p:spPr>
          <a:xfrm>
            <a:off x="2127575" y="4226850"/>
            <a:ext cx="4888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latin typeface="Calibri"/>
                <a:ea typeface="Calibri"/>
                <a:cs typeface="Calibri"/>
                <a:sym typeface="Calibri"/>
              </a:rPr>
              <a:t>표준 모델 대비 2~10배 빠른 학습 속도, 70% VRAM 절감</a:t>
            </a:r>
            <a:endParaRPr b="1" sz="16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5" name="Shape 9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6" name="Google Shape;976;g3effa262bf0_0_6"/>
          <p:cNvSpPr/>
          <p:nvPr/>
        </p:nvSpPr>
        <p:spPr>
          <a:xfrm>
            <a:off x="0" y="0"/>
            <a:ext cx="7667100" cy="5143500"/>
          </a:xfrm>
          <a:prstGeom prst="roundRect">
            <a:avLst>
              <a:gd fmla="val 1871" name="adj"/>
            </a:avLst>
          </a:prstGeom>
          <a:solidFill>
            <a:srgbClr val="E8402A"/>
          </a:solidFill>
          <a:ln cap="flat" cmpd="sng" w="12700">
            <a:solidFill>
              <a:srgbClr val="D8DDE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dir="2700000" dist="25400">
              <a:srgbClr val="000000">
                <a:alpha val="7840"/>
              </a:srgbClr>
            </a:outerShdw>
          </a:effectLst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7" name="Google Shape;977;g3effa262bf0_0_6"/>
          <p:cNvSpPr/>
          <p:nvPr/>
        </p:nvSpPr>
        <p:spPr>
          <a:xfrm>
            <a:off x="0" y="0"/>
            <a:ext cx="6376200" cy="5143500"/>
          </a:xfrm>
          <a:prstGeom prst="roundRect">
            <a:avLst>
              <a:gd fmla="val 1871" name="adj"/>
            </a:avLst>
          </a:prstGeom>
          <a:solidFill>
            <a:srgbClr val="F4F6F9"/>
          </a:solidFill>
          <a:ln cap="flat" cmpd="sng" w="12700">
            <a:solidFill>
              <a:srgbClr val="D8DDE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dir="2700000" dist="25400">
              <a:srgbClr val="000000">
                <a:alpha val="7840"/>
              </a:srgbClr>
            </a:outerShdw>
          </a:effectLst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8" name="Google Shape;978;g3effa262bf0_0_6"/>
          <p:cNvSpPr txBox="1"/>
          <p:nvPr/>
        </p:nvSpPr>
        <p:spPr>
          <a:xfrm>
            <a:off x="621875" y="2117550"/>
            <a:ext cx="54552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latin typeface="Calibri"/>
                <a:ea typeface="Calibri"/>
                <a:cs typeface="Calibri"/>
                <a:sym typeface="Calibri"/>
              </a:rPr>
              <a:t>5. Instruct fine tuning</a:t>
            </a:r>
            <a:endParaRPr b="1" sz="32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2" name="Shape 9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" name="Google Shape;983;g3effa262bf0_0_1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A5C"/>
          </a:solidFill>
          <a:ln cap="flat" cmpd="sng" w="12700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4" name="Google Shape;984;g3effa262bf0_0_12"/>
          <p:cNvSpPr/>
          <p:nvPr/>
        </p:nvSpPr>
        <p:spPr>
          <a:xfrm>
            <a:off x="336316" y="297179"/>
            <a:ext cx="1280100" cy="320100"/>
          </a:xfrm>
          <a:prstGeom prst="roundRect">
            <a:avLst>
              <a:gd fmla="val 14286" name="adj"/>
            </a:avLst>
          </a:prstGeom>
          <a:solidFill>
            <a:srgbClr val="E8402A"/>
          </a:solidFill>
          <a:ln cap="flat" cmpd="sng" w="12700">
            <a:solidFill>
              <a:srgbClr val="E840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5" name="Google Shape;985;g3effa262bf0_0_12"/>
          <p:cNvSpPr txBox="1"/>
          <p:nvPr/>
        </p:nvSpPr>
        <p:spPr>
          <a:xfrm>
            <a:off x="336316" y="387350"/>
            <a:ext cx="1280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Helvetica Neue"/>
              <a:buNone/>
            </a:pPr>
            <a:r>
              <a:rPr b="1" lang="en-US" sz="9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SFT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6" name="Google Shape;986;g3effa262bf0_0_12"/>
          <p:cNvSpPr txBox="1"/>
          <p:nvPr/>
        </p:nvSpPr>
        <p:spPr>
          <a:xfrm>
            <a:off x="1920239" y="285750"/>
            <a:ext cx="67665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Text Generate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t/>
            </a:r>
            <a:endParaRPr b="1" sz="22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7" name="Google Shape;987;g3effa262bf0_0_12"/>
          <p:cNvSpPr/>
          <p:nvPr/>
        </p:nvSpPr>
        <p:spPr>
          <a:xfrm>
            <a:off x="457200" y="1051560"/>
            <a:ext cx="8229600" cy="3909000"/>
          </a:xfrm>
          <a:prstGeom prst="roundRect">
            <a:avLst>
              <a:gd fmla="val 1871" name="adj"/>
            </a:avLst>
          </a:prstGeom>
          <a:solidFill>
            <a:srgbClr val="F4F6F9"/>
          </a:solidFill>
          <a:ln cap="flat" cmpd="sng" w="12700">
            <a:solidFill>
              <a:srgbClr val="D8DDE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dir="2700000" dist="25400">
              <a:srgbClr val="000000">
                <a:alpha val="7840"/>
              </a:srgbClr>
            </a:outerShdw>
          </a:effectLst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8" name="Google Shape;988;g3effa262bf0_0_12"/>
          <p:cNvSpPr txBox="1"/>
          <p:nvPr/>
        </p:nvSpPr>
        <p:spPr>
          <a:xfrm>
            <a:off x="731519" y="1234439"/>
            <a:ext cx="7680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Base Model vs. Instruct Model</a:t>
            </a:r>
            <a:endParaRPr sz="16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9" name="Google Shape;989;g3effa262bf0_0_12"/>
          <p:cNvSpPr/>
          <p:nvPr/>
        </p:nvSpPr>
        <p:spPr>
          <a:xfrm>
            <a:off x="1133175" y="2015975"/>
            <a:ext cx="2285700" cy="1158900"/>
          </a:xfrm>
          <a:prstGeom prst="roundRect">
            <a:avLst>
              <a:gd fmla="val 16667" name="adj"/>
            </a:avLst>
          </a:prstGeom>
          <a:solidFill>
            <a:srgbClr val="E8EAF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0" name="Google Shape;990;g3effa262bf0_0_12"/>
          <p:cNvSpPr/>
          <p:nvPr/>
        </p:nvSpPr>
        <p:spPr>
          <a:xfrm>
            <a:off x="1585925" y="1748550"/>
            <a:ext cx="1404600" cy="451200"/>
          </a:xfrm>
          <a:prstGeom prst="roundRect">
            <a:avLst>
              <a:gd fmla="val 14286" name="adj"/>
            </a:avLst>
          </a:prstGeom>
          <a:solidFill>
            <a:srgbClr val="E8402A"/>
          </a:solidFill>
          <a:ln cap="flat" cmpd="sng" w="12700">
            <a:solidFill>
              <a:srgbClr val="E840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1" name="Google Shape;991;g3effa262bf0_0_12"/>
          <p:cNvSpPr txBox="1"/>
          <p:nvPr/>
        </p:nvSpPr>
        <p:spPr>
          <a:xfrm>
            <a:off x="1585925" y="1858659"/>
            <a:ext cx="14046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Helvetica Neue"/>
              <a:buNone/>
            </a:pPr>
            <a:r>
              <a:rPr b="1" lang="en-US" sz="13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Base Model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2" name="Google Shape;992;g3effa262bf0_0_12"/>
          <p:cNvSpPr/>
          <p:nvPr/>
        </p:nvSpPr>
        <p:spPr>
          <a:xfrm>
            <a:off x="1133175" y="3449950"/>
            <a:ext cx="2285700" cy="1158900"/>
          </a:xfrm>
          <a:prstGeom prst="roundRect">
            <a:avLst>
              <a:gd fmla="val 16667" name="adj"/>
            </a:avLst>
          </a:prstGeom>
          <a:solidFill>
            <a:srgbClr val="E8EAF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3" name="Google Shape;993;g3effa262bf0_0_12"/>
          <p:cNvSpPr/>
          <p:nvPr/>
        </p:nvSpPr>
        <p:spPr>
          <a:xfrm>
            <a:off x="1585925" y="3309950"/>
            <a:ext cx="1404600" cy="451200"/>
          </a:xfrm>
          <a:prstGeom prst="roundRect">
            <a:avLst>
              <a:gd fmla="val 14286" name="adj"/>
            </a:avLst>
          </a:prstGeom>
          <a:solidFill>
            <a:srgbClr val="E8402A"/>
          </a:solidFill>
          <a:ln cap="flat" cmpd="sng" w="12700">
            <a:solidFill>
              <a:srgbClr val="E840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4" name="Google Shape;994;g3effa262bf0_0_12"/>
          <p:cNvSpPr txBox="1"/>
          <p:nvPr/>
        </p:nvSpPr>
        <p:spPr>
          <a:xfrm>
            <a:off x="1585925" y="3420059"/>
            <a:ext cx="14046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Helvetica Neue"/>
              <a:buNone/>
            </a:pPr>
            <a:r>
              <a:rPr b="1" lang="en-US" sz="13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Instruct Model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5" name="Google Shape;995;g3effa262bf0_0_12"/>
          <p:cNvSpPr txBox="1"/>
          <p:nvPr/>
        </p:nvSpPr>
        <p:spPr>
          <a:xfrm>
            <a:off x="1219475" y="2312250"/>
            <a:ext cx="2137500" cy="60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latin typeface="Calibri"/>
                <a:ea typeface="Calibri"/>
                <a:cs typeface="Calibri"/>
                <a:sym typeface="Calibri"/>
              </a:rPr>
              <a:t>사전 학습만 수행된 모델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latin typeface="Calibri"/>
                <a:ea typeface="Calibri"/>
                <a:cs typeface="Calibri"/>
                <a:sym typeface="Calibri"/>
              </a:rPr>
              <a:t>- 대화 능력 없이 텍스트 생성 가능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6" name="Google Shape;996;g3effa262bf0_0_12"/>
          <p:cNvSpPr txBox="1"/>
          <p:nvPr/>
        </p:nvSpPr>
        <p:spPr>
          <a:xfrm>
            <a:off x="1219475" y="3797275"/>
            <a:ext cx="2137500" cy="60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latin typeface="Calibri"/>
                <a:ea typeface="Calibri"/>
                <a:cs typeface="Calibri"/>
                <a:sym typeface="Calibri"/>
              </a:rPr>
              <a:t>SFT + DPO까지 수행한 모델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latin typeface="Calibri"/>
                <a:ea typeface="Calibri"/>
                <a:cs typeface="Calibri"/>
                <a:sym typeface="Calibri"/>
              </a:rPr>
              <a:t>- 기본적인 대화 능력을 갖춘 모델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7" name="Google Shape;997;g3effa262bf0_0_12"/>
          <p:cNvSpPr txBox="1"/>
          <p:nvPr/>
        </p:nvSpPr>
        <p:spPr>
          <a:xfrm>
            <a:off x="3933275" y="1971450"/>
            <a:ext cx="45861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-US" sz="1200">
                <a:latin typeface="Calibri"/>
                <a:ea typeface="Calibri"/>
                <a:cs typeface="Calibri"/>
                <a:sym typeface="Calibri"/>
              </a:rPr>
              <a:t>도메인 특화 어시스턴트를 처음부터 설계할 때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-US" sz="1200">
                <a:latin typeface="Calibri"/>
                <a:ea typeface="Calibri"/>
                <a:cs typeface="Calibri"/>
                <a:sym typeface="Calibri"/>
              </a:rPr>
              <a:t>데이터가 충분히 많을 때 (1000개 이상) 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-US" sz="1200">
                <a:latin typeface="Calibri"/>
                <a:ea typeface="Calibri"/>
                <a:cs typeface="Calibri"/>
                <a:sym typeface="Calibri"/>
              </a:rPr>
              <a:t>텍스트 완성 자체가 목적인 경우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-US" sz="1200">
                <a:latin typeface="Calibri"/>
                <a:ea typeface="Calibri"/>
                <a:cs typeface="Calibri"/>
                <a:sym typeface="Calibri"/>
              </a:rPr>
              <a:t>어시스턴트 스러운 말투가 필요 없을 때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8" name="Google Shape;998;g3effa262bf0_0_12"/>
          <p:cNvSpPr txBox="1"/>
          <p:nvPr/>
        </p:nvSpPr>
        <p:spPr>
          <a:xfrm>
            <a:off x="3933275" y="3706150"/>
            <a:ext cx="45861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-US" sz="1200">
                <a:latin typeface="Calibri"/>
                <a:ea typeface="Calibri"/>
                <a:cs typeface="Calibri"/>
                <a:sym typeface="Calibri"/>
              </a:rPr>
              <a:t>어시스턴트 챗봇을 만들 때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-US" sz="1200">
                <a:latin typeface="Calibri"/>
                <a:ea typeface="Calibri"/>
                <a:cs typeface="Calibri"/>
                <a:sym typeface="Calibri"/>
              </a:rPr>
              <a:t>데이터가 충분치 않을 때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2" name="Shape 10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" name="Google Shape;1003;g3effa262bf0_0_3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A5C"/>
          </a:solidFill>
          <a:ln cap="flat" cmpd="sng" w="12700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4" name="Google Shape;1004;g3effa262bf0_0_31"/>
          <p:cNvSpPr/>
          <p:nvPr/>
        </p:nvSpPr>
        <p:spPr>
          <a:xfrm>
            <a:off x="336316" y="297179"/>
            <a:ext cx="1280100" cy="320100"/>
          </a:xfrm>
          <a:prstGeom prst="roundRect">
            <a:avLst>
              <a:gd fmla="val 14286" name="adj"/>
            </a:avLst>
          </a:prstGeom>
          <a:solidFill>
            <a:srgbClr val="E8402A"/>
          </a:solidFill>
          <a:ln cap="flat" cmpd="sng" w="12700">
            <a:solidFill>
              <a:srgbClr val="E840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5" name="Google Shape;1005;g3effa262bf0_0_31"/>
          <p:cNvSpPr txBox="1"/>
          <p:nvPr/>
        </p:nvSpPr>
        <p:spPr>
          <a:xfrm>
            <a:off x="336316" y="387350"/>
            <a:ext cx="1280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Helvetica Neue"/>
              <a:buNone/>
            </a:pPr>
            <a:r>
              <a:rPr b="1" lang="en-US" sz="9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Fine-tuning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6" name="Google Shape;1006;g3effa262bf0_0_31"/>
          <p:cNvSpPr txBox="1"/>
          <p:nvPr/>
        </p:nvSpPr>
        <p:spPr>
          <a:xfrm>
            <a:off x="1920239" y="285750"/>
            <a:ext cx="6766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Fine-tuning의 효과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7" name="Google Shape;1007;g3effa262bf0_0_31"/>
          <p:cNvSpPr/>
          <p:nvPr/>
        </p:nvSpPr>
        <p:spPr>
          <a:xfrm>
            <a:off x="457200" y="1051560"/>
            <a:ext cx="8229600" cy="3909000"/>
          </a:xfrm>
          <a:prstGeom prst="roundRect">
            <a:avLst>
              <a:gd fmla="val 1871" name="adj"/>
            </a:avLst>
          </a:prstGeom>
          <a:solidFill>
            <a:srgbClr val="F4F6F9"/>
          </a:solidFill>
          <a:ln cap="flat" cmpd="sng" w="12700">
            <a:solidFill>
              <a:srgbClr val="D8DDE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dir="2700000" dist="25400">
              <a:srgbClr val="000000">
                <a:alpha val="7840"/>
              </a:srgbClr>
            </a:outerShdw>
          </a:effectLst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8" name="Google Shape;1008;g3effa262bf0_0_31"/>
          <p:cNvSpPr txBox="1"/>
          <p:nvPr/>
        </p:nvSpPr>
        <p:spPr>
          <a:xfrm>
            <a:off x="731519" y="1234439"/>
            <a:ext cx="7680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Instruct Model의 입력 데이터</a:t>
            </a:r>
            <a:endParaRPr sz="16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9" name="Google Shape;1009;g3effa262bf0_0_31"/>
          <p:cNvSpPr txBox="1"/>
          <p:nvPr/>
        </p:nvSpPr>
        <p:spPr>
          <a:xfrm>
            <a:off x="876150" y="1755425"/>
            <a:ext cx="7391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Calibri"/>
                <a:ea typeface="Calibri"/>
                <a:cs typeface="Calibri"/>
                <a:sym typeface="Calibri"/>
              </a:rPr>
              <a:t>1. 텍스트 전처리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0" name="Google Shape;1010;g3effa262bf0_0_31"/>
          <p:cNvSpPr txBox="1"/>
          <p:nvPr/>
        </p:nvSpPr>
        <p:spPr>
          <a:xfrm>
            <a:off x="833725" y="2307300"/>
            <a:ext cx="73917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●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각 instruct model마다 학습에 이용한 질문-답변 템플릿 형태가 다름.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●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따라서 instruct model에 sft를 수행할 때는 질문-답변 형식을 해당 템플릿에 맞춰서 작성해야 함.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11" name="Google Shape;1011;g3effa262bf0_0_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37650" y="3430363"/>
            <a:ext cx="6705600" cy="1076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5" name="Shape 10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6" name="Google Shape;1016;g3effa262bf0_0_43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A5C"/>
          </a:solidFill>
          <a:ln cap="flat" cmpd="sng" w="12700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7" name="Google Shape;1017;g3effa262bf0_0_43"/>
          <p:cNvSpPr/>
          <p:nvPr/>
        </p:nvSpPr>
        <p:spPr>
          <a:xfrm>
            <a:off x="336316" y="297179"/>
            <a:ext cx="1280100" cy="320100"/>
          </a:xfrm>
          <a:prstGeom prst="roundRect">
            <a:avLst>
              <a:gd fmla="val 14286" name="adj"/>
            </a:avLst>
          </a:prstGeom>
          <a:solidFill>
            <a:srgbClr val="E8402A"/>
          </a:solidFill>
          <a:ln cap="flat" cmpd="sng" w="12700">
            <a:solidFill>
              <a:srgbClr val="E840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8" name="Google Shape;1018;g3effa262bf0_0_43"/>
          <p:cNvSpPr txBox="1"/>
          <p:nvPr/>
        </p:nvSpPr>
        <p:spPr>
          <a:xfrm>
            <a:off x="336316" y="387350"/>
            <a:ext cx="1280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Helvetica Neue"/>
              <a:buNone/>
            </a:pPr>
            <a:r>
              <a:rPr b="1" lang="en-US" sz="9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Fine-tuning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9" name="Google Shape;1019;g3effa262bf0_0_43"/>
          <p:cNvSpPr txBox="1"/>
          <p:nvPr/>
        </p:nvSpPr>
        <p:spPr>
          <a:xfrm>
            <a:off x="1920239" y="285750"/>
            <a:ext cx="6766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Fine-tuning의 효과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0" name="Google Shape;1020;g3effa262bf0_0_43"/>
          <p:cNvSpPr/>
          <p:nvPr/>
        </p:nvSpPr>
        <p:spPr>
          <a:xfrm>
            <a:off x="457200" y="1051560"/>
            <a:ext cx="8229600" cy="3909000"/>
          </a:xfrm>
          <a:prstGeom prst="roundRect">
            <a:avLst>
              <a:gd fmla="val 1871" name="adj"/>
            </a:avLst>
          </a:prstGeom>
          <a:solidFill>
            <a:srgbClr val="F4F6F9"/>
          </a:solidFill>
          <a:ln cap="flat" cmpd="sng" w="12700">
            <a:solidFill>
              <a:srgbClr val="D8DDE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dir="2700000" dist="25400">
              <a:srgbClr val="000000">
                <a:alpha val="7840"/>
              </a:srgbClr>
            </a:outerShdw>
          </a:effectLst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1" name="Google Shape;1021;g3effa262bf0_0_43"/>
          <p:cNvSpPr txBox="1"/>
          <p:nvPr/>
        </p:nvSpPr>
        <p:spPr>
          <a:xfrm>
            <a:off x="731519" y="1234439"/>
            <a:ext cx="7680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Instruct Model의 입력 데이터</a:t>
            </a:r>
            <a:endParaRPr sz="16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2" name="Google Shape;1022;g3effa262bf0_0_43"/>
          <p:cNvSpPr txBox="1"/>
          <p:nvPr/>
        </p:nvSpPr>
        <p:spPr>
          <a:xfrm>
            <a:off x="876150" y="1755425"/>
            <a:ext cx="7391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Calibri"/>
                <a:ea typeface="Calibri"/>
                <a:cs typeface="Calibri"/>
                <a:sym typeface="Calibri"/>
              </a:rPr>
              <a:t>1. 텍스트 전처리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3" name="Google Shape;1023;g3effa262bf0_0_43"/>
          <p:cNvSpPr txBox="1"/>
          <p:nvPr/>
        </p:nvSpPr>
        <p:spPr>
          <a:xfrm>
            <a:off x="833725" y="2307300"/>
            <a:ext cx="73917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●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학습 템플릿은 토크나이저에 기록되어 있기 때문에 `tokenizer.apply_chat_template()` 명령어 하나로 쉽게 변환 가능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●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데이터를 사전에 ‘role’과 ‘content’ 키를 포함하면 됨.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24" name="Google Shape;1024;g3effa262bf0_0_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66975" y="3619800"/>
            <a:ext cx="4210050" cy="704850"/>
          </a:xfrm>
          <a:prstGeom prst="rect">
            <a:avLst/>
          </a:prstGeom>
          <a:solidFill>
            <a:srgbClr val="F4F6F9"/>
          </a:solidFill>
          <a:ln cap="flat" cmpd="sng" w="12700">
            <a:solidFill>
              <a:srgbClr val="D8DDE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dir="2700000" dist="25400">
              <a:srgbClr val="000000">
                <a:alpha val="7840"/>
              </a:srgbClr>
            </a:outerShdw>
          </a:effectLst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8" name="Shape 10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9" name="Google Shape;1029;g3effa262bf0_0_55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A5C"/>
          </a:solidFill>
          <a:ln cap="flat" cmpd="sng" w="12700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0" name="Google Shape;1030;g3effa262bf0_0_55"/>
          <p:cNvSpPr/>
          <p:nvPr/>
        </p:nvSpPr>
        <p:spPr>
          <a:xfrm>
            <a:off x="336316" y="297179"/>
            <a:ext cx="1280100" cy="320100"/>
          </a:xfrm>
          <a:prstGeom prst="roundRect">
            <a:avLst>
              <a:gd fmla="val 14286" name="adj"/>
            </a:avLst>
          </a:prstGeom>
          <a:solidFill>
            <a:srgbClr val="E8402A"/>
          </a:solidFill>
          <a:ln cap="flat" cmpd="sng" w="12700">
            <a:solidFill>
              <a:srgbClr val="E840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1" name="Google Shape;1031;g3effa262bf0_0_55"/>
          <p:cNvSpPr txBox="1"/>
          <p:nvPr/>
        </p:nvSpPr>
        <p:spPr>
          <a:xfrm>
            <a:off x="336316" y="387350"/>
            <a:ext cx="1280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Helvetica Neue"/>
              <a:buNone/>
            </a:pPr>
            <a:r>
              <a:rPr b="1" lang="en-US" sz="9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Fine-tuning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2" name="Google Shape;1032;g3effa262bf0_0_55"/>
          <p:cNvSpPr txBox="1"/>
          <p:nvPr/>
        </p:nvSpPr>
        <p:spPr>
          <a:xfrm>
            <a:off x="1920239" y="285750"/>
            <a:ext cx="6766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Fine-tuning의 효과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3" name="Google Shape;1033;g3effa262bf0_0_55"/>
          <p:cNvSpPr/>
          <p:nvPr/>
        </p:nvSpPr>
        <p:spPr>
          <a:xfrm>
            <a:off x="457200" y="1051560"/>
            <a:ext cx="8229600" cy="3909000"/>
          </a:xfrm>
          <a:prstGeom prst="roundRect">
            <a:avLst>
              <a:gd fmla="val 1871" name="adj"/>
            </a:avLst>
          </a:prstGeom>
          <a:solidFill>
            <a:srgbClr val="F4F6F9"/>
          </a:solidFill>
          <a:ln cap="flat" cmpd="sng" w="12700">
            <a:solidFill>
              <a:srgbClr val="D8DDE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dir="2700000" dist="25400">
              <a:srgbClr val="000000">
                <a:alpha val="7840"/>
              </a:srgbClr>
            </a:outerShdw>
          </a:effectLst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4" name="Google Shape;1034;g3effa262bf0_0_55"/>
          <p:cNvSpPr txBox="1"/>
          <p:nvPr/>
        </p:nvSpPr>
        <p:spPr>
          <a:xfrm>
            <a:off x="731519" y="1234439"/>
            <a:ext cx="7680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Instruct Model</a:t>
            </a:r>
            <a:endParaRPr sz="16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5" name="Google Shape;1035;g3effa262bf0_0_55"/>
          <p:cNvSpPr txBox="1"/>
          <p:nvPr/>
        </p:nvSpPr>
        <p:spPr>
          <a:xfrm>
            <a:off x="876150" y="1755425"/>
            <a:ext cx="7391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Calibri"/>
                <a:ea typeface="Calibri"/>
                <a:cs typeface="Calibri"/>
                <a:sym typeface="Calibri"/>
              </a:rPr>
              <a:t>1. Instruct Model fine-tuning을 통해 수행 가능한 작업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6" name="Google Shape;1036;g3effa262bf0_0_55"/>
          <p:cNvSpPr txBox="1"/>
          <p:nvPr/>
        </p:nvSpPr>
        <p:spPr>
          <a:xfrm>
            <a:off x="833725" y="2307300"/>
            <a:ext cx="73917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●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말투 조정하기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●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지식 증류하기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●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출력 형식 고정하기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0" name="Shape 10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1" name="Google Shape;1041;g3effa262bf0_0_66"/>
          <p:cNvSpPr/>
          <p:nvPr/>
        </p:nvSpPr>
        <p:spPr>
          <a:xfrm>
            <a:off x="457200" y="1051560"/>
            <a:ext cx="8229600" cy="3909000"/>
          </a:xfrm>
          <a:prstGeom prst="roundRect">
            <a:avLst>
              <a:gd fmla="val 1871" name="adj"/>
            </a:avLst>
          </a:prstGeom>
          <a:solidFill>
            <a:srgbClr val="F4F6F9"/>
          </a:solidFill>
          <a:ln cap="flat" cmpd="sng" w="12700">
            <a:solidFill>
              <a:srgbClr val="D8DDE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dir="2700000" dist="25400">
              <a:srgbClr val="000000">
                <a:alpha val="7840"/>
              </a:srgbClr>
            </a:outerShdw>
          </a:effectLst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2" name="Google Shape;1042;g3effa262bf0_0_66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A5C"/>
          </a:solidFill>
          <a:ln cap="flat" cmpd="sng" w="12700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3" name="Google Shape;1043;g3effa262bf0_0_66"/>
          <p:cNvSpPr/>
          <p:nvPr/>
        </p:nvSpPr>
        <p:spPr>
          <a:xfrm>
            <a:off x="336316" y="297179"/>
            <a:ext cx="1280100" cy="320100"/>
          </a:xfrm>
          <a:prstGeom prst="roundRect">
            <a:avLst>
              <a:gd fmla="val 14286" name="adj"/>
            </a:avLst>
          </a:prstGeom>
          <a:solidFill>
            <a:srgbClr val="E8402A"/>
          </a:solidFill>
          <a:ln cap="flat" cmpd="sng" w="12700">
            <a:solidFill>
              <a:srgbClr val="E840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4" name="Google Shape;1044;g3effa262bf0_0_66"/>
          <p:cNvSpPr txBox="1"/>
          <p:nvPr/>
        </p:nvSpPr>
        <p:spPr>
          <a:xfrm>
            <a:off x="336316" y="387350"/>
            <a:ext cx="1280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Helvetica Neue"/>
              <a:buNone/>
            </a:pPr>
            <a:r>
              <a:rPr b="1" lang="en-US" sz="9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Fine-tuning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5" name="Google Shape;1045;g3effa262bf0_0_66"/>
          <p:cNvSpPr txBox="1"/>
          <p:nvPr/>
        </p:nvSpPr>
        <p:spPr>
          <a:xfrm>
            <a:off x="1920239" y="285750"/>
            <a:ext cx="6766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Fine-tuning의 효과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6" name="Google Shape;1046;g3effa262bf0_0_66"/>
          <p:cNvSpPr txBox="1"/>
          <p:nvPr/>
        </p:nvSpPr>
        <p:spPr>
          <a:xfrm>
            <a:off x="731519" y="1234439"/>
            <a:ext cx="7680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지식 주입을 위해 문서로부터 질문-답변 추출하기</a:t>
            </a:r>
            <a:endParaRPr b="1" sz="18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7" name="Google Shape;1047;g3effa262bf0_0_66"/>
          <p:cNvSpPr txBox="1"/>
          <p:nvPr/>
        </p:nvSpPr>
        <p:spPr>
          <a:xfrm>
            <a:off x="833725" y="2571750"/>
            <a:ext cx="73917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●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문서에서 사실 추출 - “배송비 4만원”, “환불 14일” 등의 개별 사실을 먼저 뽑는다.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●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각 사실마다 다양한 각도의 QA 생성 - 다른 표현, 반대되는 답변 등의 다양한 예시를 뽑는다.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●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JSON 형식으로 출력 - 결과를 json 포맷으로 저장한다.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1" name="Shape 10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2" name="Google Shape;1052;g3effa262bf0_0_76"/>
          <p:cNvSpPr/>
          <p:nvPr/>
        </p:nvSpPr>
        <p:spPr>
          <a:xfrm>
            <a:off x="0" y="0"/>
            <a:ext cx="7667100" cy="5143500"/>
          </a:xfrm>
          <a:prstGeom prst="roundRect">
            <a:avLst>
              <a:gd fmla="val 1871" name="adj"/>
            </a:avLst>
          </a:prstGeom>
          <a:solidFill>
            <a:srgbClr val="E8402A"/>
          </a:solidFill>
          <a:ln cap="flat" cmpd="sng" w="12700">
            <a:solidFill>
              <a:srgbClr val="D8DDE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dir="2700000" dist="25400">
              <a:srgbClr val="000000">
                <a:alpha val="7840"/>
              </a:srgbClr>
            </a:outerShdw>
          </a:effectLst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3" name="Google Shape;1053;g3effa262bf0_0_76"/>
          <p:cNvSpPr/>
          <p:nvPr/>
        </p:nvSpPr>
        <p:spPr>
          <a:xfrm>
            <a:off x="0" y="0"/>
            <a:ext cx="6376200" cy="5143500"/>
          </a:xfrm>
          <a:prstGeom prst="roundRect">
            <a:avLst>
              <a:gd fmla="val 1871" name="adj"/>
            </a:avLst>
          </a:prstGeom>
          <a:solidFill>
            <a:srgbClr val="F4F6F9"/>
          </a:solidFill>
          <a:ln cap="flat" cmpd="sng" w="12700">
            <a:solidFill>
              <a:srgbClr val="D8DDE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dir="2700000" dist="25400">
              <a:srgbClr val="000000">
                <a:alpha val="7840"/>
              </a:srgbClr>
            </a:outerShdw>
          </a:effectLst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4" name="Google Shape;1054;g3effa262bf0_0_76"/>
          <p:cNvSpPr txBox="1"/>
          <p:nvPr/>
        </p:nvSpPr>
        <p:spPr>
          <a:xfrm>
            <a:off x="621875" y="2117550"/>
            <a:ext cx="5455200" cy="11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latin typeface="Calibri"/>
                <a:ea typeface="Calibri"/>
                <a:cs typeface="Calibri"/>
                <a:sym typeface="Calibri"/>
              </a:rPr>
              <a:t>6. LLM API Fine-tuning 서비스 종료</a:t>
            </a:r>
            <a:endParaRPr b="1" sz="32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8" name="Shape 10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9" name="Google Shape;1059;g3effa262bf0_0_82"/>
          <p:cNvSpPr/>
          <p:nvPr/>
        </p:nvSpPr>
        <p:spPr>
          <a:xfrm>
            <a:off x="457200" y="1051560"/>
            <a:ext cx="8229600" cy="3909000"/>
          </a:xfrm>
          <a:prstGeom prst="roundRect">
            <a:avLst>
              <a:gd fmla="val 1871" name="adj"/>
            </a:avLst>
          </a:prstGeom>
          <a:solidFill>
            <a:srgbClr val="F4F6F9"/>
          </a:solidFill>
          <a:ln cap="flat" cmpd="sng" w="12700">
            <a:solidFill>
              <a:srgbClr val="D8DDE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dir="2700000" dist="25400">
              <a:srgbClr val="000000">
                <a:alpha val="7840"/>
              </a:srgbClr>
            </a:outerShdw>
          </a:effectLst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0" name="Google Shape;1060;g3effa262bf0_0_8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A5C"/>
          </a:solidFill>
          <a:ln cap="flat" cmpd="sng" w="12700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1" name="Google Shape;1061;g3effa262bf0_0_82"/>
          <p:cNvSpPr/>
          <p:nvPr/>
        </p:nvSpPr>
        <p:spPr>
          <a:xfrm>
            <a:off x="336316" y="297179"/>
            <a:ext cx="1280100" cy="320100"/>
          </a:xfrm>
          <a:prstGeom prst="roundRect">
            <a:avLst>
              <a:gd fmla="val 14286" name="adj"/>
            </a:avLst>
          </a:prstGeom>
          <a:solidFill>
            <a:srgbClr val="E8402A"/>
          </a:solidFill>
          <a:ln cap="flat" cmpd="sng" w="12700">
            <a:solidFill>
              <a:srgbClr val="E840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2" name="Google Shape;1062;g3effa262bf0_0_82"/>
          <p:cNvSpPr txBox="1"/>
          <p:nvPr/>
        </p:nvSpPr>
        <p:spPr>
          <a:xfrm>
            <a:off x="336316" y="387350"/>
            <a:ext cx="1280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Helvetica Neue"/>
              <a:buNone/>
            </a:pPr>
            <a:r>
              <a:rPr b="1" lang="en-US" sz="9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Fine-tuning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3" name="Google Shape;1063;g3effa262bf0_0_82"/>
          <p:cNvSpPr txBox="1"/>
          <p:nvPr/>
        </p:nvSpPr>
        <p:spPr>
          <a:xfrm>
            <a:off x="1920239" y="285750"/>
            <a:ext cx="6766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OpenAI가 fine-tuning을 포기했다?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4" name="Google Shape;1064;g3effa262bf0_0_82"/>
          <p:cNvSpPr txBox="1"/>
          <p:nvPr/>
        </p:nvSpPr>
        <p:spPr>
          <a:xfrm>
            <a:off x="731519" y="1234439"/>
            <a:ext cx="7680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OpenAI의 fine-tuning api 서비스 종료 선언</a:t>
            </a:r>
            <a:endParaRPr b="1" sz="18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5" name="Google Shape;1065;g3effa262bf0_0_82"/>
          <p:cNvSpPr txBox="1"/>
          <p:nvPr/>
        </p:nvSpPr>
        <p:spPr>
          <a:xfrm>
            <a:off x="833725" y="2063975"/>
            <a:ext cx="7391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●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2026년 5월, OpenAI가 공식 발표를 냈습니다.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6" name="Google Shape;1066;g3effa262bf0_0_82"/>
          <p:cNvSpPr txBox="1"/>
          <p:nvPr/>
        </p:nvSpPr>
        <p:spPr>
          <a:xfrm>
            <a:off x="876125" y="2514425"/>
            <a:ext cx="7391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“신규 조직은 파인튜닝 불가, 기존 고객도 2027년 1월이면 종료”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7" name="Google Shape;1067;g3effa262bf0_0_82"/>
          <p:cNvSpPr txBox="1"/>
          <p:nvPr/>
        </p:nvSpPr>
        <p:spPr>
          <a:xfrm>
            <a:off x="833725" y="2964875"/>
            <a:ext cx="73917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●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아이러니하게도 불과 1년 전만 해도 OpenAI는 Fine-tuning을 권장했었지만 이제 그 방법을 스스로 닫은 것입니다.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1" name="Shape 10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2" name="Google Shape;1072;g3effa262bf0_0_94"/>
          <p:cNvSpPr/>
          <p:nvPr/>
        </p:nvSpPr>
        <p:spPr>
          <a:xfrm>
            <a:off x="457200" y="1051560"/>
            <a:ext cx="8229600" cy="3909000"/>
          </a:xfrm>
          <a:prstGeom prst="roundRect">
            <a:avLst>
              <a:gd fmla="val 1871" name="adj"/>
            </a:avLst>
          </a:prstGeom>
          <a:solidFill>
            <a:srgbClr val="F4F6F9"/>
          </a:solidFill>
          <a:ln cap="flat" cmpd="sng" w="12700">
            <a:solidFill>
              <a:srgbClr val="D8DDE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dir="2700000" dist="25400">
              <a:srgbClr val="000000">
                <a:alpha val="7840"/>
              </a:srgbClr>
            </a:outerShdw>
          </a:effectLst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3" name="Google Shape;1073;g3effa262bf0_0_94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A5C"/>
          </a:solidFill>
          <a:ln cap="flat" cmpd="sng" w="12700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4" name="Google Shape;1074;g3effa262bf0_0_94"/>
          <p:cNvSpPr/>
          <p:nvPr/>
        </p:nvSpPr>
        <p:spPr>
          <a:xfrm>
            <a:off x="336316" y="297179"/>
            <a:ext cx="1280100" cy="320100"/>
          </a:xfrm>
          <a:prstGeom prst="roundRect">
            <a:avLst>
              <a:gd fmla="val 14286" name="adj"/>
            </a:avLst>
          </a:prstGeom>
          <a:solidFill>
            <a:srgbClr val="E8402A"/>
          </a:solidFill>
          <a:ln cap="flat" cmpd="sng" w="12700">
            <a:solidFill>
              <a:srgbClr val="E840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5" name="Google Shape;1075;g3effa262bf0_0_94"/>
          <p:cNvSpPr txBox="1"/>
          <p:nvPr/>
        </p:nvSpPr>
        <p:spPr>
          <a:xfrm>
            <a:off x="336316" y="387350"/>
            <a:ext cx="1280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Helvetica Neue"/>
              <a:buNone/>
            </a:pPr>
            <a:r>
              <a:rPr b="1" lang="en-US" sz="9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Fine-tuning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6" name="Google Shape;1076;g3effa262bf0_0_94"/>
          <p:cNvSpPr txBox="1"/>
          <p:nvPr/>
        </p:nvSpPr>
        <p:spPr>
          <a:xfrm>
            <a:off x="1920239" y="285750"/>
            <a:ext cx="6766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OpenAI가 fine-tuning을 포기했다?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7" name="Google Shape;1077;g3effa262bf0_0_94"/>
          <p:cNvSpPr txBox="1"/>
          <p:nvPr/>
        </p:nvSpPr>
        <p:spPr>
          <a:xfrm>
            <a:off x="731519" y="1234439"/>
            <a:ext cx="7680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왜 닫았을까?</a:t>
            </a:r>
            <a:endParaRPr b="1" sz="18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8" name="Google Shape;1078;g3effa262bf0_0_94"/>
          <p:cNvSpPr txBox="1"/>
          <p:nvPr/>
        </p:nvSpPr>
        <p:spPr>
          <a:xfrm>
            <a:off x="833725" y="2063975"/>
            <a:ext cx="7391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●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모델이 너무 좋아졌다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9" name="Google Shape;1079;g3effa262bf0_0_94"/>
          <p:cNvSpPr txBox="1"/>
          <p:nvPr/>
        </p:nvSpPr>
        <p:spPr>
          <a:xfrm>
            <a:off x="876125" y="2514425"/>
            <a:ext cx="73917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“GPT-5.5와 같은 최신 모델들은 성능이 뛰어나다. 그렇기 때문에 fine-tuning보다</a:t>
            </a:r>
            <a:br>
              <a:rPr lang="en-US">
                <a:latin typeface="Calibri"/>
                <a:ea typeface="Calibri"/>
                <a:cs typeface="Calibri"/>
                <a:sym typeface="Calibri"/>
              </a:rPr>
            </a:br>
            <a:r>
              <a:rPr lang="en-US">
                <a:latin typeface="Calibri"/>
                <a:ea typeface="Calibri"/>
                <a:cs typeface="Calibri"/>
                <a:sym typeface="Calibri"/>
              </a:rPr>
              <a:t>프롬프트 기반 접근이 이제 더 저렴하고 빠르다.”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0" name="Google Shape;1080;g3effa262bf0_0_94"/>
          <p:cNvSpPr txBox="1"/>
          <p:nvPr/>
        </p:nvSpPr>
        <p:spPr>
          <a:xfrm>
            <a:off x="833725" y="3287975"/>
            <a:ext cx="7391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●"/>
            </a:pPr>
            <a:r>
              <a:rPr b="1" lang="en-US">
                <a:latin typeface="Calibri"/>
                <a:ea typeface="Calibri"/>
                <a:cs typeface="Calibri"/>
                <a:sym typeface="Calibri"/>
              </a:rPr>
              <a:t>그러면 이제 Fine-tuning은 필요 없는 걸까?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4" name="Shape 10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" name="Google Shape;1085;g3effa262bf0_0_106"/>
          <p:cNvSpPr/>
          <p:nvPr/>
        </p:nvSpPr>
        <p:spPr>
          <a:xfrm>
            <a:off x="457200" y="1051560"/>
            <a:ext cx="8229600" cy="3909000"/>
          </a:xfrm>
          <a:prstGeom prst="roundRect">
            <a:avLst>
              <a:gd fmla="val 1871" name="adj"/>
            </a:avLst>
          </a:prstGeom>
          <a:solidFill>
            <a:srgbClr val="F4F6F9"/>
          </a:solidFill>
          <a:ln cap="flat" cmpd="sng" w="12700">
            <a:solidFill>
              <a:srgbClr val="D8DDE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dir="2700000" dist="25400">
              <a:srgbClr val="000000">
                <a:alpha val="7840"/>
              </a:srgbClr>
            </a:outerShdw>
          </a:effectLst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6" name="Google Shape;1086;g3effa262bf0_0_106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A5C"/>
          </a:solidFill>
          <a:ln cap="flat" cmpd="sng" w="12700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7" name="Google Shape;1087;g3effa262bf0_0_106"/>
          <p:cNvSpPr/>
          <p:nvPr/>
        </p:nvSpPr>
        <p:spPr>
          <a:xfrm>
            <a:off x="336316" y="297179"/>
            <a:ext cx="1280100" cy="320100"/>
          </a:xfrm>
          <a:prstGeom prst="roundRect">
            <a:avLst>
              <a:gd fmla="val 14286" name="adj"/>
            </a:avLst>
          </a:prstGeom>
          <a:solidFill>
            <a:srgbClr val="E8402A"/>
          </a:solidFill>
          <a:ln cap="flat" cmpd="sng" w="12700">
            <a:solidFill>
              <a:srgbClr val="E840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8" name="Google Shape;1088;g3effa262bf0_0_106"/>
          <p:cNvSpPr txBox="1"/>
          <p:nvPr/>
        </p:nvSpPr>
        <p:spPr>
          <a:xfrm>
            <a:off x="336316" y="387350"/>
            <a:ext cx="1280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Helvetica Neue"/>
              <a:buNone/>
            </a:pPr>
            <a:r>
              <a:rPr b="1" lang="en-US" sz="9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Fine-tuning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9" name="Google Shape;1089;g3effa262bf0_0_106"/>
          <p:cNvSpPr txBox="1"/>
          <p:nvPr/>
        </p:nvSpPr>
        <p:spPr>
          <a:xfrm>
            <a:off x="1920239" y="285750"/>
            <a:ext cx="6766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OpenAI가 fine-tuning을 포기했다?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0" name="Google Shape;1090;g3effa262bf0_0_106"/>
          <p:cNvSpPr txBox="1"/>
          <p:nvPr/>
        </p:nvSpPr>
        <p:spPr>
          <a:xfrm>
            <a:off x="731519" y="1234439"/>
            <a:ext cx="7680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엔터프라이즈 AI의 패러다임 변화</a:t>
            </a:r>
            <a:endParaRPr b="1" sz="18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1" name="Google Shape;1091;g3effa262bf0_0_106"/>
          <p:cNvSpPr txBox="1"/>
          <p:nvPr/>
        </p:nvSpPr>
        <p:spPr>
          <a:xfrm>
            <a:off x="833725" y="2063975"/>
            <a:ext cx="7391700" cy="20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●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AI 엔지니어링의 병목 현상은 ‘모델 자체’가 아니라 ‘모델을 둘러싼 인프라’로 이동 중.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○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하네스 엔지니어링 : 모델이 더 잘 일 할 수 있는 환경을 조성해 주기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●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기업 내 AI 도입의 진짜 난제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○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평가 시스템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○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컨텍스트, 메모리 처리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○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도구 오케스트레이션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5" name="Shape 10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6" name="Google Shape;1096;g3effa262bf0_0_116"/>
          <p:cNvSpPr/>
          <p:nvPr/>
        </p:nvSpPr>
        <p:spPr>
          <a:xfrm>
            <a:off x="457200" y="1051560"/>
            <a:ext cx="8229600" cy="3909000"/>
          </a:xfrm>
          <a:prstGeom prst="roundRect">
            <a:avLst>
              <a:gd fmla="val 1871" name="adj"/>
            </a:avLst>
          </a:prstGeom>
          <a:solidFill>
            <a:srgbClr val="F4F6F9"/>
          </a:solidFill>
          <a:ln cap="flat" cmpd="sng" w="12700">
            <a:solidFill>
              <a:srgbClr val="D8DDE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dir="2700000" dist="25400">
              <a:srgbClr val="000000">
                <a:alpha val="7840"/>
              </a:srgbClr>
            </a:outerShdw>
          </a:effectLst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7" name="Google Shape;1097;g3effa262bf0_0_116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A5C"/>
          </a:solidFill>
          <a:ln cap="flat" cmpd="sng" w="12700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8" name="Google Shape;1098;g3effa262bf0_0_116"/>
          <p:cNvSpPr/>
          <p:nvPr/>
        </p:nvSpPr>
        <p:spPr>
          <a:xfrm>
            <a:off x="336316" y="297179"/>
            <a:ext cx="1280100" cy="320100"/>
          </a:xfrm>
          <a:prstGeom prst="roundRect">
            <a:avLst>
              <a:gd fmla="val 14286" name="adj"/>
            </a:avLst>
          </a:prstGeom>
          <a:solidFill>
            <a:srgbClr val="E8402A"/>
          </a:solidFill>
          <a:ln cap="flat" cmpd="sng" w="12700">
            <a:solidFill>
              <a:srgbClr val="E840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9" name="Google Shape;1099;g3effa262bf0_0_116"/>
          <p:cNvSpPr txBox="1"/>
          <p:nvPr/>
        </p:nvSpPr>
        <p:spPr>
          <a:xfrm>
            <a:off x="336316" y="387350"/>
            <a:ext cx="1280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Helvetica Neue"/>
              <a:buNone/>
            </a:pPr>
            <a:r>
              <a:rPr b="1" lang="en-US" sz="9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Fine-tuning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0" name="Google Shape;1100;g3effa262bf0_0_116"/>
          <p:cNvSpPr txBox="1"/>
          <p:nvPr/>
        </p:nvSpPr>
        <p:spPr>
          <a:xfrm>
            <a:off x="1920239" y="285750"/>
            <a:ext cx="6766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OpenAI가 fine-tuning을 포기했다?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1" name="Google Shape;1101;g3effa262bf0_0_116"/>
          <p:cNvSpPr txBox="1"/>
          <p:nvPr/>
        </p:nvSpPr>
        <p:spPr>
          <a:xfrm>
            <a:off x="731519" y="1234439"/>
            <a:ext cx="7680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Fine-tuning이 그래도 필요할까?</a:t>
            </a:r>
            <a:endParaRPr b="1" sz="18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2" name="Google Shape;1102;g3effa262bf0_0_116"/>
          <p:cNvSpPr txBox="1"/>
          <p:nvPr/>
        </p:nvSpPr>
        <p:spPr>
          <a:xfrm>
            <a:off x="833725" y="2063975"/>
            <a:ext cx="7391700" cy="136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●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모델이 너무 좋은건 ChatGPT, Gemini, Claude와 같은 소수의 모델들 뿐이다.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●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이런 모델들을 사용하기 위해선 API 요금을 내고, 데이터를 외부 서버에 올리고, 인터넷 연결이 되는 환경에서만 쓸 수 있는 구조.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●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비용, 보안, 인터넷이 없는 환경에선 여전히 소형 AI 모델이 필요하고, fine-tuning도 필요하다.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6" name="Shape 1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7" name="Google Shape;1107;g3effa262bf0_0_126"/>
          <p:cNvSpPr/>
          <p:nvPr/>
        </p:nvSpPr>
        <p:spPr>
          <a:xfrm>
            <a:off x="0" y="0"/>
            <a:ext cx="7667100" cy="5143500"/>
          </a:xfrm>
          <a:prstGeom prst="roundRect">
            <a:avLst>
              <a:gd fmla="val 1871" name="adj"/>
            </a:avLst>
          </a:prstGeom>
          <a:solidFill>
            <a:srgbClr val="E8402A"/>
          </a:solidFill>
          <a:ln cap="flat" cmpd="sng" w="12700">
            <a:solidFill>
              <a:srgbClr val="D8DDE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dir="2700000" dist="25400">
              <a:srgbClr val="000000">
                <a:alpha val="7840"/>
              </a:srgbClr>
            </a:outerShdw>
          </a:effectLst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8" name="Google Shape;1108;g3effa262bf0_0_126"/>
          <p:cNvSpPr/>
          <p:nvPr/>
        </p:nvSpPr>
        <p:spPr>
          <a:xfrm>
            <a:off x="0" y="0"/>
            <a:ext cx="6376200" cy="5143500"/>
          </a:xfrm>
          <a:prstGeom prst="roundRect">
            <a:avLst>
              <a:gd fmla="val 1871" name="adj"/>
            </a:avLst>
          </a:prstGeom>
          <a:solidFill>
            <a:srgbClr val="F4F6F9"/>
          </a:solidFill>
          <a:ln cap="flat" cmpd="sng" w="12700">
            <a:solidFill>
              <a:srgbClr val="D8DDE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dir="2700000" dist="25400">
              <a:srgbClr val="000000">
                <a:alpha val="7840"/>
              </a:srgbClr>
            </a:outerShdw>
          </a:effectLst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9" name="Google Shape;1109;g3effa262bf0_0_126"/>
          <p:cNvSpPr txBox="1"/>
          <p:nvPr/>
        </p:nvSpPr>
        <p:spPr>
          <a:xfrm>
            <a:off x="621875" y="2117550"/>
            <a:ext cx="54552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latin typeface="Calibri"/>
                <a:ea typeface="Calibri"/>
                <a:cs typeface="Calibri"/>
                <a:sym typeface="Calibri"/>
              </a:rPr>
              <a:t>6. 모델 평가</a:t>
            </a:r>
            <a:endParaRPr b="1" sz="32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3" name="Shape 1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4" name="Google Shape;1114;g3effa262bf0_0_13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A5C"/>
          </a:solidFill>
          <a:ln cap="flat" cmpd="sng" w="12700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5" name="Google Shape;1115;g3effa262bf0_0_132"/>
          <p:cNvSpPr/>
          <p:nvPr/>
        </p:nvSpPr>
        <p:spPr>
          <a:xfrm>
            <a:off x="336316" y="297179"/>
            <a:ext cx="1280100" cy="320100"/>
          </a:xfrm>
          <a:prstGeom prst="roundRect">
            <a:avLst>
              <a:gd fmla="val 14286" name="adj"/>
            </a:avLst>
          </a:prstGeom>
          <a:solidFill>
            <a:srgbClr val="E8402A"/>
          </a:solidFill>
          <a:ln cap="flat" cmpd="sng" w="12700">
            <a:solidFill>
              <a:srgbClr val="E840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6" name="Google Shape;1116;g3effa262bf0_0_132"/>
          <p:cNvSpPr txBox="1"/>
          <p:nvPr/>
        </p:nvSpPr>
        <p:spPr>
          <a:xfrm>
            <a:off x="336316" y="387350"/>
            <a:ext cx="1280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Helvetica Neue"/>
              <a:buNone/>
            </a:pPr>
            <a:r>
              <a:rPr b="1" lang="en-US" sz="9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모델 평가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7" name="Google Shape;1117;g3effa262bf0_0_132"/>
          <p:cNvSpPr txBox="1"/>
          <p:nvPr/>
        </p:nvSpPr>
        <p:spPr>
          <a:xfrm>
            <a:off x="1920239" y="285750"/>
            <a:ext cx="6766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모델 평가와 배포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8" name="Google Shape;1118;g3effa262bf0_0_132"/>
          <p:cNvSpPr/>
          <p:nvPr/>
        </p:nvSpPr>
        <p:spPr>
          <a:xfrm>
            <a:off x="457200" y="1051560"/>
            <a:ext cx="8229600" cy="3909000"/>
          </a:xfrm>
          <a:prstGeom prst="roundRect">
            <a:avLst>
              <a:gd fmla="val 1871" name="adj"/>
            </a:avLst>
          </a:prstGeom>
          <a:solidFill>
            <a:srgbClr val="F4F6F9"/>
          </a:solidFill>
          <a:ln cap="flat" cmpd="sng" w="12700">
            <a:solidFill>
              <a:srgbClr val="D8DDE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dir="2700000" dist="25400">
              <a:srgbClr val="000000">
                <a:alpha val="7840"/>
              </a:srgbClr>
            </a:outerShdw>
          </a:effectLst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9" name="Google Shape;1119;g3effa262bf0_0_132"/>
          <p:cNvSpPr txBox="1"/>
          <p:nvPr/>
        </p:nvSpPr>
        <p:spPr>
          <a:xfrm>
            <a:off x="731519" y="1234439"/>
            <a:ext cx="7680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모델 평가</a:t>
            </a:r>
            <a:endParaRPr sz="16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0" name="Google Shape;1120;g3effa262bf0_0_132"/>
          <p:cNvSpPr txBox="1"/>
          <p:nvPr/>
        </p:nvSpPr>
        <p:spPr>
          <a:xfrm>
            <a:off x="731519" y="1726139"/>
            <a:ext cx="76809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-304800" lvl="0" marL="45720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alibri"/>
              <a:buChar char="●"/>
            </a:pPr>
            <a:r>
              <a:rPr lang="en-US" sz="12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앞서 분류 모델은 어떻게 평가했을까요?</a:t>
            </a:r>
            <a:endParaRPr sz="12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4" name="Shape 1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5" name="Google Shape;1125;g3effa262bf0_0_14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A5C"/>
          </a:solidFill>
          <a:ln cap="flat" cmpd="sng" w="12700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6" name="Google Shape;1126;g3effa262bf0_0_142"/>
          <p:cNvSpPr/>
          <p:nvPr/>
        </p:nvSpPr>
        <p:spPr>
          <a:xfrm>
            <a:off x="336316" y="297179"/>
            <a:ext cx="1280100" cy="320100"/>
          </a:xfrm>
          <a:prstGeom prst="roundRect">
            <a:avLst>
              <a:gd fmla="val 14286" name="adj"/>
            </a:avLst>
          </a:prstGeom>
          <a:solidFill>
            <a:srgbClr val="E8402A"/>
          </a:solidFill>
          <a:ln cap="flat" cmpd="sng" w="12700">
            <a:solidFill>
              <a:srgbClr val="E840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7" name="Google Shape;1127;g3effa262bf0_0_142"/>
          <p:cNvSpPr txBox="1"/>
          <p:nvPr/>
        </p:nvSpPr>
        <p:spPr>
          <a:xfrm>
            <a:off x="336316" y="387350"/>
            <a:ext cx="1280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Helvetica Neue"/>
              <a:buNone/>
            </a:pPr>
            <a:r>
              <a:rPr b="1" lang="en-US" sz="9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모델 평가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8" name="Google Shape;1128;g3effa262bf0_0_142"/>
          <p:cNvSpPr txBox="1"/>
          <p:nvPr/>
        </p:nvSpPr>
        <p:spPr>
          <a:xfrm>
            <a:off x="1920239" y="285750"/>
            <a:ext cx="6766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모델 평가와 배포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9" name="Google Shape;1129;g3effa262bf0_0_142"/>
          <p:cNvSpPr/>
          <p:nvPr/>
        </p:nvSpPr>
        <p:spPr>
          <a:xfrm>
            <a:off x="457200" y="1051560"/>
            <a:ext cx="8229600" cy="3909000"/>
          </a:xfrm>
          <a:prstGeom prst="roundRect">
            <a:avLst>
              <a:gd fmla="val 1871" name="adj"/>
            </a:avLst>
          </a:prstGeom>
          <a:solidFill>
            <a:srgbClr val="F4F6F9"/>
          </a:solidFill>
          <a:ln cap="flat" cmpd="sng" w="12700">
            <a:solidFill>
              <a:srgbClr val="D8DDE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dir="2700000" dist="25400">
              <a:srgbClr val="000000">
                <a:alpha val="7840"/>
              </a:srgbClr>
            </a:outerShdw>
          </a:effectLst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0" name="Google Shape;1130;g3effa262bf0_0_142"/>
          <p:cNvSpPr txBox="1"/>
          <p:nvPr/>
        </p:nvSpPr>
        <p:spPr>
          <a:xfrm>
            <a:off x="731519" y="1234439"/>
            <a:ext cx="7680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모델 평가</a:t>
            </a:r>
            <a:endParaRPr sz="16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1" name="Google Shape;1131;g3effa262bf0_0_142"/>
          <p:cNvSpPr txBox="1"/>
          <p:nvPr/>
        </p:nvSpPr>
        <p:spPr>
          <a:xfrm>
            <a:off x="731519" y="1726139"/>
            <a:ext cx="76809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-304800" lvl="0" marL="45720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alibri"/>
              <a:buChar char="●"/>
            </a:pPr>
            <a:r>
              <a:rPr lang="en-US" sz="12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앞서 분류 모델은 어떻게 평가했을까요?</a:t>
            </a:r>
            <a:endParaRPr sz="12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32" name="Google Shape;1132;g3effa262bf0_0_1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2500" y="2363173"/>
            <a:ext cx="5894433" cy="15956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3" name="Google Shape;1133;g3effa262bf0_0_1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76926" y="2363175"/>
            <a:ext cx="1884555" cy="1595699"/>
          </a:xfrm>
          <a:prstGeom prst="rect">
            <a:avLst/>
          </a:prstGeom>
          <a:noFill/>
          <a:ln>
            <a:noFill/>
          </a:ln>
        </p:spPr>
      </p:pic>
      <p:sp>
        <p:nvSpPr>
          <p:cNvPr id="1134" name="Google Shape;1134;g3effa262bf0_0_142"/>
          <p:cNvSpPr txBox="1"/>
          <p:nvPr/>
        </p:nvSpPr>
        <p:spPr>
          <a:xfrm>
            <a:off x="731519" y="4048264"/>
            <a:ext cx="7680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Loss, Accuracy, F1 Score, Confusion Matrix</a:t>
            </a:r>
            <a:endParaRPr b="1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5" name="Google Shape;1135;g3effa262bf0_0_142"/>
          <p:cNvSpPr txBox="1"/>
          <p:nvPr/>
        </p:nvSpPr>
        <p:spPr>
          <a:xfrm>
            <a:off x="731519" y="4445464"/>
            <a:ext cx="7680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이들을 생성형 AI에도 적용할 수 있을까요?</a:t>
            </a:r>
            <a:endParaRPr b="1" sz="16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9" name="Shape 1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0" name="Google Shape;1140;g3effa262bf0_0_156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A5C"/>
          </a:solidFill>
          <a:ln cap="flat" cmpd="sng" w="12700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1" name="Google Shape;1141;g3effa262bf0_0_156"/>
          <p:cNvSpPr/>
          <p:nvPr/>
        </p:nvSpPr>
        <p:spPr>
          <a:xfrm>
            <a:off x="336316" y="297179"/>
            <a:ext cx="1280100" cy="320100"/>
          </a:xfrm>
          <a:prstGeom prst="roundRect">
            <a:avLst>
              <a:gd fmla="val 14286" name="adj"/>
            </a:avLst>
          </a:prstGeom>
          <a:solidFill>
            <a:srgbClr val="E8402A"/>
          </a:solidFill>
          <a:ln cap="flat" cmpd="sng" w="12700">
            <a:solidFill>
              <a:srgbClr val="E840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2" name="Google Shape;1142;g3effa262bf0_0_156"/>
          <p:cNvSpPr txBox="1"/>
          <p:nvPr/>
        </p:nvSpPr>
        <p:spPr>
          <a:xfrm>
            <a:off x="336316" y="387350"/>
            <a:ext cx="1280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Helvetica Neue"/>
              <a:buNone/>
            </a:pPr>
            <a:r>
              <a:rPr b="1" lang="en-US" sz="9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모델 평가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3" name="Google Shape;1143;g3effa262bf0_0_156"/>
          <p:cNvSpPr txBox="1"/>
          <p:nvPr/>
        </p:nvSpPr>
        <p:spPr>
          <a:xfrm>
            <a:off x="1920239" y="285750"/>
            <a:ext cx="6766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모델 평가와 배포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4" name="Google Shape;1144;g3effa262bf0_0_156"/>
          <p:cNvSpPr/>
          <p:nvPr/>
        </p:nvSpPr>
        <p:spPr>
          <a:xfrm>
            <a:off x="457200" y="1051560"/>
            <a:ext cx="8229600" cy="3909000"/>
          </a:xfrm>
          <a:prstGeom prst="roundRect">
            <a:avLst>
              <a:gd fmla="val 1871" name="adj"/>
            </a:avLst>
          </a:prstGeom>
          <a:solidFill>
            <a:srgbClr val="F4F6F9"/>
          </a:solidFill>
          <a:ln cap="flat" cmpd="sng" w="12700">
            <a:solidFill>
              <a:srgbClr val="D8DDE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dir="2700000" dist="25400">
              <a:srgbClr val="000000">
                <a:alpha val="7840"/>
              </a:srgbClr>
            </a:outerShdw>
          </a:effectLst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5" name="Google Shape;1145;g3effa262bf0_0_156"/>
          <p:cNvSpPr txBox="1"/>
          <p:nvPr/>
        </p:nvSpPr>
        <p:spPr>
          <a:xfrm>
            <a:off x="731519" y="1234439"/>
            <a:ext cx="7680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모델 평가</a:t>
            </a:r>
            <a:endParaRPr sz="16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6" name="Google Shape;1146;g3effa262bf0_0_156"/>
          <p:cNvSpPr txBox="1"/>
          <p:nvPr/>
        </p:nvSpPr>
        <p:spPr>
          <a:xfrm>
            <a:off x="731519" y="1726139"/>
            <a:ext cx="76809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-304800" lvl="0" marL="45720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alibri"/>
              <a:buChar char="●"/>
            </a:pPr>
            <a:r>
              <a:rPr lang="en-US" sz="12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Loss가 잘 떨어지면 학습이 잘 된 모델이 아닌가요?</a:t>
            </a:r>
            <a:endParaRPr sz="12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47" name="Google Shape;1147;g3effa262bf0_0_1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24763" y="2329173"/>
            <a:ext cx="5894433" cy="1595699"/>
          </a:xfrm>
          <a:prstGeom prst="rect">
            <a:avLst/>
          </a:prstGeom>
          <a:noFill/>
          <a:ln>
            <a:noFill/>
          </a:ln>
        </p:spPr>
      </p:pic>
      <p:sp>
        <p:nvSpPr>
          <p:cNvPr id="1148" name="Google Shape;1148;g3effa262bf0_0_156"/>
          <p:cNvSpPr txBox="1"/>
          <p:nvPr/>
        </p:nvSpPr>
        <p:spPr>
          <a:xfrm>
            <a:off x="731519" y="4374689"/>
            <a:ext cx="7680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Loss는 모델의 성능을 대표하지 못한다.</a:t>
            </a:r>
            <a:endParaRPr b="1" sz="16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2" name="Shape 1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3" name="Google Shape;1153;g3effa262bf0_0_168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A5C"/>
          </a:solidFill>
          <a:ln cap="flat" cmpd="sng" w="12700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4" name="Google Shape;1154;g3effa262bf0_0_168"/>
          <p:cNvSpPr/>
          <p:nvPr/>
        </p:nvSpPr>
        <p:spPr>
          <a:xfrm>
            <a:off x="336316" y="297179"/>
            <a:ext cx="1280100" cy="320100"/>
          </a:xfrm>
          <a:prstGeom prst="roundRect">
            <a:avLst>
              <a:gd fmla="val 14286" name="adj"/>
            </a:avLst>
          </a:prstGeom>
          <a:solidFill>
            <a:srgbClr val="E8402A"/>
          </a:solidFill>
          <a:ln cap="flat" cmpd="sng" w="12700">
            <a:solidFill>
              <a:srgbClr val="E840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5" name="Google Shape;1155;g3effa262bf0_0_168"/>
          <p:cNvSpPr txBox="1"/>
          <p:nvPr/>
        </p:nvSpPr>
        <p:spPr>
          <a:xfrm>
            <a:off x="336316" y="387350"/>
            <a:ext cx="1280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Helvetica Neue"/>
              <a:buNone/>
            </a:pPr>
            <a:r>
              <a:rPr b="1" lang="en-US" sz="9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모델 평가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6" name="Google Shape;1156;g3effa262bf0_0_168"/>
          <p:cNvSpPr txBox="1"/>
          <p:nvPr/>
        </p:nvSpPr>
        <p:spPr>
          <a:xfrm>
            <a:off x="1920239" y="285750"/>
            <a:ext cx="6766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모델 평가와 배포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7" name="Google Shape;1157;g3effa262bf0_0_168"/>
          <p:cNvSpPr/>
          <p:nvPr/>
        </p:nvSpPr>
        <p:spPr>
          <a:xfrm>
            <a:off x="457200" y="1051560"/>
            <a:ext cx="8229600" cy="3909000"/>
          </a:xfrm>
          <a:prstGeom prst="roundRect">
            <a:avLst>
              <a:gd fmla="val 1871" name="adj"/>
            </a:avLst>
          </a:prstGeom>
          <a:solidFill>
            <a:srgbClr val="F4F6F9"/>
          </a:solidFill>
          <a:ln cap="flat" cmpd="sng" w="12700">
            <a:solidFill>
              <a:srgbClr val="D8DDE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dir="2700000" dist="25400">
              <a:srgbClr val="000000">
                <a:alpha val="7840"/>
              </a:srgbClr>
            </a:outerShdw>
          </a:effectLst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8" name="Google Shape;1158;g3effa262bf0_0_168"/>
          <p:cNvSpPr txBox="1"/>
          <p:nvPr/>
        </p:nvSpPr>
        <p:spPr>
          <a:xfrm>
            <a:off x="731519" y="1234439"/>
            <a:ext cx="7680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모델 평가</a:t>
            </a:r>
            <a:endParaRPr sz="16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9" name="Google Shape;1159;g3effa262bf0_0_168"/>
          <p:cNvSpPr txBox="1"/>
          <p:nvPr/>
        </p:nvSpPr>
        <p:spPr>
          <a:xfrm>
            <a:off x="731519" y="1726139"/>
            <a:ext cx="76809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-304800" lvl="0" marL="45720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alibri"/>
              <a:buChar char="●"/>
            </a:pPr>
            <a:r>
              <a:rPr lang="en-US" sz="12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텍스트 생성도 결국 토큰 분류니 accuracy를 사용할 수 있지 않을까요?</a:t>
            </a:r>
            <a:endParaRPr sz="12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60" name="Google Shape;1160;g3effa262bf0_0_1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93550" y="2073823"/>
            <a:ext cx="4756849" cy="2578700"/>
          </a:xfrm>
          <a:prstGeom prst="rect">
            <a:avLst/>
          </a:prstGeom>
          <a:solidFill>
            <a:srgbClr val="F4F6F9"/>
          </a:solidFill>
          <a:ln cap="flat" cmpd="sng" w="12700">
            <a:solidFill>
              <a:srgbClr val="D8DDE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dir="2700000" dist="25400">
              <a:srgbClr val="000000">
                <a:alpha val="7840"/>
              </a:srgbClr>
            </a:outerShdw>
          </a:effectLst>
        </p:spPr>
      </p:pic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4" name="Shape 1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5" name="Google Shape;1165;g3effa262bf0_0_179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A5C"/>
          </a:solidFill>
          <a:ln cap="flat" cmpd="sng" w="12700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6" name="Google Shape;1166;g3effa262bf0_0_179"/>
          <p:cNvSpPr/>
          <p:nvPr/>
        </p:nvSpPr>
        <p:spPr>
          <a:xfrm>
            <a:off x="336316" y="297179"/>
            <a:ext cx="1280100" cy="320100"/>
          </a:xfrm>
          <a:prstGeom prst="roundRect">
            <a:avLst>
              <a:gd fmla="val 14286" name="adj"/>
            </a:avLst>
          </a:prstGeom>
          <a:solidFill>
            <a:srgbClr val="E8402A"/>
          </a:solidFill>
          <a:ln cap="flat" cmpd="sng" w="12700">
            <a:solidFill>
              <a:srgbClr val="E840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7" name="Google Shape;1167;g3effa262bf0_0_179"/>
          <p:cNvSpPr txBox="1"/>
          <p:nvPr/>
        </p:nvSpPr>
        <p:spPr>
          <a:xfrm>
            <a:off x="336316" y="387350"/>
            <a:ext cx="1280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Helvetica Neue"/>
              <a:buNone/>
            </a:pPr>
            <a:r>
              <a:rPr b="1" lang="en-US" sz="9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모델 평가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8" name="Google Shape;1168;g3effa262bf0_0_179"/>
          <p:cNvSpPr txBox="1"/>
          <p:nvPr/>
        </p:nvSpPr>
        <p:spPr>
          <a:xfrm>
            <a:off x="1920239" y="285750"/>
            <a:ext cx="6766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모델 평가와 배포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9" name="Google Shape;1169;g3effa262bf0_0_179"/>
          <p:cNvSpPr/>
          <p:nvPr/>
        </p:nvSpPr>
        <p:spPr>
          <a:xfrm>
            <a:off x="457200" y="1051560"/>
            <a:ext cx="8229600" cy="3909000"/>
          </a:xfrm>
          <a:prstGeom prst="roundRect">
            <a:avLst>
              <a:gd fmla="val 1871" name="adj"/>
            </a:avLst>
          </a:prstGeom>
          <a:solidFill>
            <a:srgbClr val="F4F6F9"/>
          </a:solidFill>
          <a:ln cap="flat" cmpd="sng" w="12700">
            <a:solidFill>
              <a:srgbClr val="D8DDE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dir="2700000" dist="25400">
              <a:srgbClr val="000000">
                <a:alpha val="7840"/>
              </a:srgbClr>
            </a:outerShdw>
          </a:effectLst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0" name="Google Shape;1170;g3effa262bf0_0_179"/>
          <p:cNvSpPr txBox="1"/>
          <p:nvPr/>
        </p:nvSpPr>
        <p:spPr>
          <a:xfrm>
            <a:off x="731519" y="1234439"/>
            <a:ext cx="7680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모델 평가</a:t>
            </a:r>
            <a:endParaRPr sz="16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1" name="Google Shape;1171;g3effa262bf0_0_179"/>
          <p:cNvSpPr txBox="1"/>
          <p:nvPr/>
        </p:nvSpPr>
        <p:spPr>
          <a:xfrm>
            <a:off x="731519" y="1726139"/>
            <a:ext cx="76809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-304800" lvl="0" marL="45720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alibri"/>
              <a:buChar char="●"/>
            </a:pPr>
            <a:r>
              <a:rPr lang="en-US" sz="12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그러면 어떻게 평가해야 할까요…?</a:t>
            </a:r>
            <a:endParaRPr sz="12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5" name="Shape 1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6" name="Google Shape;1176;g3effa262bf0_0_189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A5C"/>
          </a:solidFill>
          <a:ln cap="flat" cmpd="sng" w="12700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7" name="Google Shape;1177;g3effa262bf0_0_189"/>
          <p:cNvSpPr/>
          <p:nvPr/>
        </p:nvSpPr>
        <p:spPr>
          <a:xfrm>
            <a:off x="336316" y="297179"/>
            <a:ext cx="1280100" cy="320100"/>
          </a:xfrm>
          <a:prstGeom prst="roundRect">
            <a:avLst>
              <a:gd fmla="val 14286" name="adj"/>
            </a:avLst>
          </a:prstGeom>
          <a:solidFill>
            <a:srgbClr val="E8402A"/>
          </a:solidFill>
          <a:ln cap="flat" cmpd="sng" w="12700">
            <a:solidFill>
              <a:srgbClr val="E840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8" name="Google Shape;1178;g3effa262bf0_0_189"/>
          <p:cNvSpPr txBox="1"/>
          <p:nvPr/>
        </p:nvSpPr>
        <p:spPr>
          <a:xfrm>
            <a:off x="336316" y="387350"/>
            <a:ext cx="1280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Helvetica Neue"/>
              <a:buNone/>
            </a:pPr>
            <a:r>
              <a:rPr b="1" lang="en-US" sz="9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모델 평가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9" name="Google Shape;1179;g3effa262bf0_0_189"/>
          <p:cNvSpPr txBox="1"/>
          <p:nvPr/>
        </p:nvSpPr>
        <p:spPr>
          <a:xfrm>
            <a:off x="1920239" y="285750"/>
            <a:ext cx="6766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모델 평가와 배포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0" name="Google Shape;1180;g3effa262bf0_0_189"/>
          <p:cNvSpPr/>
          <p:nvPr/>
        </p:nvSpPr>
        <p:spPr>
          <a:xfrm>
            <a:off x="457200" y="1051560"/>
            <a:ext cx="8229600" cy="3909000"/>
          </a:xfrm>
          <a:prstGeom prst="roundRect">
            <a:avLst>
              <a:gd fmla="val 1871" name="adj"/>
            </a:avLst>
          </a:prstGeom>
          <a:solidFill>
            <a:srgbClr val="F4F6F9"/>
          </a:solidFill>
          <a:ln cap="flat" cmpd="sng" w="12700">
            <a:solidFill>
              <a:srgbClr val="D8DDE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dir="2700000" dist="25400">
              <a:srgbClr val="000000">
                <a:alpha val="7840"/>
              </a:srgbClr>
            </a:outerShdw>
          </a:effectLst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1" name="Google Shape;1181;g3effa262bf0_0_189"/>
          <p:cNvSpPr txBox="1"/>
          <p:nvPr/>
        </p:nvSpPr>
        <p:spPr>
          <a:xfrm>
            <a:off x="731519" y="1234439"/>
            <a:ext cx="7680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생성형 모델 평가</a:t>
            </a:r>
            <a:endParaRPr sz="16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2" name="Google Shape;1182;g3effa262bf0_0_189"/>
          <p:cNvSpPr txBox="1"/>
          <p:nvPr/>
        </p:nvSpPr>
        <p:spPr>
          <a:xfrm>
            <a:off x="731519" y="1726139"/>
            <a:ext cx="7680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생성형 AI 모델에서도 사용 가능한 평가지표가 존재한다!</a:t>
            </a:r>
            <a:endParaRPr b="1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3" name="Google Shape;1183;g3effa262bf0_0_189"/>
          <p:cNvSpPr txBox="1"/>
          <p:nvPr/>
        </p:nvSpPr>
        <p:spPr>
          <a:xfrm>
            <a:off x="731519" y="2156339"/>
            <a:ext cx="76809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-304800" lvl="0" marL="45720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alibri"/>
              <a:buChar char="●"/>
            </a:pPr>
            <a:r>
              <a:rPr lang="en-US" sz="12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텍스트 매칭 기반 - BLEU와 ROUGE</a:t>
            </a:r>
            <a:endParaRPr sz="12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alibri"/>
              <a:buChar char="○"/>
            </a:pPr>
            <a:r>
              <a:rPr lang="en-US" sz="12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모델 답변 결과가 라벨 데이터와 얼마나 텍스트가 겹치는지를 계산</a:t>
            </a:r>
            <a:endParaRPr sz="12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alibri"/>
              <a:buChar char="●"/>
            </a:pPr>
            <a:r>
              <a:rPr lang="en-US" sz="12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의미적 유사도 기반 - LLM Embedding</a:t>
            </a:r>
            <a:endParaRPr sz="12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alibri"/>
              <a:buChar char="○"/>
            </a:pPr>
            <a:r>
              <a:rPr lang="en-US" sz="12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LLM 모델을 이용해 텍스트 임베딩이 서로 유사한 지를 측정. 텍스트가 겹치지 않는 답변도 정답 인정 가능.</a:t>
            </a:r>
            <a:endParaRPr sz="12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alibri"/>
              <a:buChar char="●"/>
            </a:pPr>
            <a:r>
              <a:rPr lang="en-US" sz="12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형식 검사 계열</a:t>
            </a:r>
            <a:endParaRPr sz="12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alibri"/>
              <a:buChar char="○"/>
            </a:pPr>
            <a:r>
              <a:rPr lang="en-US" sz="12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json과 같은 형식이 정해진 데이터를 출력할 때는 코드로 바로 확인 가능.</a:t>
            </a:r>
            <a:endParaRPr sz="12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7" name="Shape 1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8" name="Google Shape;1188;g3effa262bf0_0_20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A5C"/>
          </a:solidFill>
          <a:ln cap="flat" cmpd="sng" w="12700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9" name="Google Shape;1189;g3effa262bf0_0_200"/>
          <p:cNvSpPr/>
          <p:nvPr/>
        </p:nvSpPr>
        <p:spPr>
          <a:xfrm>
            <a:off x="336316" y="297179"/>
            <a:ext cx="1280100" cy="320100"/>
          </a:xfrm>
          <a:prstGeom prst="roundRect">
            <a:avLst>
              <a:gd fmla="val 14286" name="adj"/>
            </a:avLst>
          </a:prstGeom>
          <a:solidFill>
            <a:srgbClr val="E8402A"/>
          </a:solidFill>
          <a:ln cap="flat" cmpd="sng" w="12700">
            <a:solidFill>
              <a:srgbClr val="E840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0" name="Google Shape;1190;g3effa262bf0_0_200"/>
          <p:cNvSpPr txBox="1"/>
          <p:nvPr/>
        </p:nvSpPr>
        <p:spPr>
          <a:xfrm>
            <a:off x="336316" y="387350"/>
            <a:ext cx="1280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Helvetica Neue"/>
              <a:buNone/>
            </a:pPr>
            <a:r>
              <a:rPr b="1" lang="en-US" sz="9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모델 평가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1" name="Google Shape;1191;g3effa262bf0_0_200"/>
          <p:cNvSpPr txBox="1"/>
          <p:nvPr/>
        </p:nvSpPr>
        <p:spPr>
          <a:xfrm>
            <a:off x="1920239" y="285750"/>
            <a:ext cx="6766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모델 평가와 배포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2" name="Google Shape;1192;g3effa262bf0_0_200"/>
          <p:cNvSpPr/>
          <p:nvPr/>
        </p:nvSpPr>
        <p:spPr>
          <a:xfrm>
            <a:off x="457200" y="1051560"/>
            <a:ext cx="8229600" cy="3909000"/>
          </a:xfrm>
          <a:prstGeom prst="roundRect">
            <a:avLst>
              <a:gd fmla="val 1871" name="adj"/>
            </a:avLst>
          </a:prstGeom>
          <a:solidFill>
            <a:srgbClr val="F4F6F9"/>
          </a:solidFill>
          <a:ln cap="flat" cmpd="sng" w="12700">
            <a:solidFill>
              <a:srgbClr val="D8DDE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dir="2700000" dist="25400">
              <a:srgbClr val="000000">
                <a:alpha val="7840"/>
              </a:srgbClr>
            </a:outerShdw>
          </a:effectLst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3" name="Google Shape;1193;g3effa262bf0_0_200"/>
          <p:cNvSpPr txBox="1"/>
          <p:nvPr/>
        </p:nvSpPr>
        <p:spPr>
          <a:xfrm>
            <a:off x="731519" y="1234439"/>
            <a:ext cx="7680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생성형 모델 평가</a:t>
            </a:r>
            <a:endParaRPr sz="16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4" name="Google Shape;1194;g3effa262bf0_0_200"/>
          <p:cNvSpPr txBox="1"/>
          <p:nvPr/>
        </p:nvSpPr>
        <p:spPr>
          <a:xfrm>
            <a:off x="731519" y="1726139"/>
            <a:ext cx="7680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텍스트 매칭 기반 - BLEU와 ROUGE</a:t>
            </a:r>
            <a:endParaRPr b="1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5" name="Google Shape;1195;g3effa262bf0_0_200"/>
          <p:cNvSpPr txBox="1"/>
          <p:nvPr/>
        </p:nvSpPr>
        <p:spPr>
          <a:xfrm>
            <a:off x="731650" y="2170600"/>
            <a:ext cx="76809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</a:rPr>
              <a:t>정답: “</a:t>
            </a:r>
            <a:r>
              <a:rPr lang="en-US" sz="1200">
                <a:solidFill>
                  <a:schemeClr val="accent1"/>
                </a:solidFill>
              </a:rPr>
              <a:t>오늘 서울에 비가</a:t>
            </a:r>
            <a:r>
              <a:rPr lang="en-US" sz="1200">
                <a:solidFill>
                  <a:schemeClr val="dk1"/>
                </a:solidFill>
              </a:rPr>
              <a:t> </a:t>
            </a:r>
            <a:r>
              <a:rPr lang="en-US" sz="1200">
                <a:solidFill>
                  <a:srgbClr val="E8402A"/>
                </a:solidFill>
              </a:rPr>
              <a:t>많이</a:t>
            </a:r>
            <a:r>
              <a:rPr lang="en-US" sz="1200">
                <a:solidFill>
                  <a:schemeClr val="dk1"/>
                </a:solidFill>
              </a:rPr>
              <a:t> </a:t>
            </a:r>
            <a:r>
              <a:rPr lang="en-US" sz="1200">
                <a:solidFill>
                  <a:schemeClr val="accent1"/>
                </a:solidFill>
              </a:rPr>
              <a:t>내렸다.</a:t>
            </a:r>
            <a:r>
              <a:rPr lang="en-US" sz="1200">
                <a:solidFill>
                  <a:schemeClr val="dk1"/>
                </a:solidFill>
              </a:rPr>
              <a:t>”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</a:rPr>
              <a:t>생성 A : “</a:t>
            </a:r>
            <a:r>
              <a:rPr lang="en-US" sz="1200">
                <a:solidFill>
                  <a:schemeClr val="accent1"/>
                </a:solidFill>
              </a:rPr>
              <a:t>오늘 서울에</a:t>
            </a:r>
            <a:r>
              <a:rPr lang="en-US" sz="1200">
                <a:solidFill>
                  <a:schemeClr val="dk1"/>
                </a:solidFill>
              </a:rPr>
              <a:t> </a:t>
            </a:r>
            <a:r>
              <a:rPr lang="en-US" sz="1200">
                <a:solidFill>
                  <a:schemeClr val="accent1"/>
                </a:solidFill>
              </a:rPr>
              <a:t>비가</a:t>
            </a:r>
            <a:r>
              <a:rPr lang="en-US" sz="1200">
                <a:solidFill>
                  <a:schemeClr val="dk1"/>
                </a:solidFill>
              </a:rPr>
              <a:t> </a:t>
            </a:r>
            <a:r>
              <a:rPr lang="en-US" sz="1200">
                <a:solidFill>
                  <a:schemeClr val="accent1"/>
                </a:solidFill>
              </a:rPr>
              <a:t>내렸다.</a:t>
            </a:r>
            <a:r>
              <a:rPr lang="en-US" sz="1200">
                <a:solidFill>
                  <a:schemeClr val="dk1"/>
                </a:solidFill>
              </a:rPr>
              <a:t>”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</a:rPr>
              <a:t>생성 B : “</a:t>
            </a:r>
            <a:r>
              <a:rPr lang="en-US" sz="1200">
                <a:solidFill>
                  <a:schemeClr val="accent1"/>
                </a:solidFill>
              </a:rPr>
              <a:t>오늘 서울에 비가</a:t>
            </a:r>
            <a:r>
              <a:rPr lang="en-US" sz="1200">
                <a:solidFill>
                  <a:schemeClr val="dk1"/>
                </a:solidFill>
              </a:rPr>
              <a:t> </a:t>
            </a:r>
            <a:r>
              <a:rPr lang="en-US" sz="1200">
                <a:solidFill>
                  <a:srgbClr val="E03E2D"/>
                </a:solidFill>
              </a:rPr>
              <a:t>많이</a:t>
            </a:r>
            <a:r>
              <a:rPr lang="en-US" sz="1200">
                <a:solidFill>
                  <a:schemeClr val="dk1"/>
                </a:solidFill>
              </a:rPr>
              <a:t> 내렸고 사람들이 우산을 썼다.”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1196" name="Google Shape;1196;g3effa262bf0_0_200"/>
          <p:cNvSpPr txBox="1"/>
          <p:nvPr/>
        </p:nvSpPr>
        <p:spPr>
          <a:xfrm>
            <a:off x="731525" y="3516575"/>
            <a:ext cx="39450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</a:rPr>
              <a:t>BLEU : “모델이 생성한 문장 중 정답 단어가 얼마나 되는가?”</a:t>
            </a:r>
            <a:endParaRPr sz="1000"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en-US" sz="1000">
                <a:solidFill>
                  <a:schemeClr val="dk1"/>
                </a:solidFill>
              </a:rPr>
              <a:t>생성 A : 거의 만점</a:t>
            </a:r>
            <a:endParaRPr sz="1000"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en-US" sz="1000">
                <a:solidFill>
                  <a:schemeClr val="dk1"/>
                </a:solidFill>
              </a:rPr>
              <a:t>생성 B : 뒤에 불필요한 문장이 추가되어 점수 감소</a:t>
            </a:r>
            <a:endParaRPr sz="1000">
              <a:solidFill>
                <a:schemeClr val="dk1"/>
              </a:solidFill>
            </a:endParaRPr>
          </a:p>
        </p:txBody>
      </p:sp>
      <p:sp>
        <p:nvSpPr>
          <p:cNvPr id="1197" name="Google Shape;1197;g3effa262bf0_0_200"/>
          <p:cNvSpPr txBox="1"/>
          <p:nvPr/>
        </p:nvSpPr>
        <p:spPr>
          <a:xfrm>
            <a:off x="4724800" y="3516575"/>
            <a:ext cx="3687900" cy="10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</a:rPr>
              <a:t>ROUGE : “정답 문장에 있는 내용을 얼마나 빠짐 없이 말했는가?”</a:t>
            </a:r>
            <a:endParaRPr sz="1000"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en-US" sz="1000">
                <a:solidFill>
                  <a:schemeClr val="dk1"/>
                </a:solidFill>
              </a:rPr>
              <a:t>생성 A : “많이”가 빠졌기 때문에 감점.</a:t>
            </a:r>
            <a:endParaRPr sz="1000"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en-US" sz="1000">
                <a:solidFill>
                  <a:schemeClr val="dk1"/>
                </a:solidFill>
              </a:rPr>
              <a:t>생성 B : 정답 문장에 있는 내용을 대부분 포함했기 때문에 높은 점수</a:t>
            </a:r>
            <a:endParaRPr sz="1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1" name="Shape 1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2" name="Google Shape;1202;g3effa262bf0_0_213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A5C"/>
          </a:solidFill>
          <a:ln cap="flat" cmpd="sng" w="12700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3" name="Google Shape;1203;g3effa262bf0_0_213"/>
          <p:cNvSpPr/>
          <p:nvPr/>
        </p:nvSpPr>
        <p:spPr>
          <a:xfrm>
            <a:off x="336316" y="297179"/>
            <a:ext cx="1280100" cy="320100"/>
          </a:xfrm>
          <a:prstGeom prst="roundRect">
            <a:avLst>
              <a:gd fmla="val 14286" name="adj"/>
            </a:avLst>
          </a:prstGeom>
          <a:solidFill>
            <a:srgbClr val="E8402A"/>
          </a:solidFill>
          <a:ln cap="flat" cmpd="sng" w="12700">
            <a:solidFill>
              <a:srgbClr val="E840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4" name="Google Shape;1204;g3effa262bf0_0_213"/>
          <p:cNvSpPr txBox="1"/>
          <p:nvPr/>
        </p:nvSpPr>
        <p:spPr>
          <a:xfrm>
            <a:off x="336316" y="387350"/>
            <a:ext cx="1280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Helvetica Neue"/>
              <a:buNone/>
            </a:pPr>
            <a:r>
              <a:rPr b="1" lang="en-US" sz="9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모델 평가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5" name="Google Shape;1205;g3effa262bf0_0_213"/>
          <p:cNvSpPr txBox="1"/>
          <p:nvPr/>
        </p:nvSpPr>
        <p:spPr>
          <a:xfrm>
            <a:off x="1920239" y="285750"/>
            <a:ext cx="6766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모델 평가와 배포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6" name="Google Shape;1206;g3effa262bf0_0_213"/>
          <p:cNvSpPr/>
          <p:nvPr/>
        </p:nvSpPr>
        <p:spPr>
          <a:xfrm>
            <a:off x="457200" y="1051560"/>
            <a:ext cx="8229600" cy="3909000"/>
          </a:xfrm>
          <a:prstGeom prst="roundRect">
            <a:avLst>
              <a:gd fmla="val 1871" name="adj"/>
            </a:avLst>
          </a:prstGeom>
          <a:solidFill>
            <a:srgbClr val="F4F6F9"/>
          </a:solidFill>
          <a:ln cap="flat" cmpd="sng" w="12700">
            <a:solidFill>
              <a:srgbClr val="D8DDE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dir="2700000" dist="25400">
              <a:srgbClr val="000000">
                <a:alpha val="7840"/>
              </a:srgbClr>
            </a:outerShdw>
          </a:effectLst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7" name="Google Shape;1207;g3effa262bf0_0_213"/>
          <p:cNvSpPr txBox="1"/>
          <p:nvPr/>
        </p:nvSpPr>
        <p:spPr>
          <a:xfrm>
            <a:off x="731519" y="1234439"/>
            <a:ext cx="7680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생성형 모델 평가</a:t>
            </a:r>
            <a:endParaRPr sz="16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8" name="Google Shape;1208;g3effa262bf0_0_213"/>
          <p:cNvSpPr txBox="1"/>
          <p:nvPr/>
        </p:nvSpPr>
        <p:spPr>
          <a:xfrm>
            <a:off x="731519" y="1726139"/>
            <a:ext cx="7680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텍스트 매칭 기반 - BLEU와 ROUGE</a:t>
            </a:r>
            <a:endParaRPr b="1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9" name="Google Shape;1209;g3effa262bf0_0_213"/>
          <p:cNvSpPr txBox="1"/>
          <p:nvPr/>
        </p:nvSpPr>
        <p:spPr>
          <a:xfrm>
            <a:off x="731650" y="2170600"/>
            <a:ext cx="76809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</a:rPr>
              <a:t>정답: “</a:t>
            </a:r>
            <a:r>
              <a:rPr lang="en-US" sz="1200">
                <a:solidFill>
                  <a:schemeClr val="accent1"/>
                </a:solidFill>
              </a:rPr>
              <a:t>오늘 서울에 비가</a:t>
            </a:r>
            <a:r>
              <a:rPr lang="en-US" sz="1200">
                <a:solidFill>
                  <a:schemeClr val="dk1"/>
                </a:solidFill>
              </a:rPr>
              <a:t> </a:t>
            </a:r>
            <a:r>
              <a:rPr lang="en-US" sz="1200">
                <a:solidFill>
                  <a:srgbClr val="E8402A"/>
                </a:solidFill>
              </a:rPr>
              <a:t>많이</a:t>
            </a:r>
            <a:r>
              <a:rPr lang="en-US" sz="1200">
                <a:solidFill>
                  <a:schemeClr val="dk1"/>
                </a:solidFill>
              </a:rPr>
              <a:t> </a:t>
            </a:r>
            <a:r>
              <a:rPr lang="en-US" sz="1200">
                <a:solidFill>
                  <a:schemeClr val="accent1"/>
                </a:solidFill>
              </a:rPr>
              <a:t>내렸다.</a:t>
            </a:r>
            <a:r>
              <a:rPr lang="en-US" sz="1200">
                <a:solidFill>
                  <a:schemeClr val="dk1"/>
                </a:solidFill>
              </a:rPr>
              <a:t>”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</a:rPr>
              <a:t>생성 A : “</a:t>
            </a:r>
            <a:r>
              <a:rPr lang="en-US" sz="1200">
                <a:solidFill>
                  <a:schemeClr val="accent1"/>
                </a:solidFill>
              </a:rPr>
              <a:t>오늘 서울에</a:t>
            </a:r>
            <a:r>
              <a:rPr lang="en-US" sz="1200">
                <a:solidFill>
                  <a:schemeClr val="dk1"/>
                </a:solidFill>
              </a:rPr>
              <a:t> </a:t>
            </a:r>
            <a:r>
              <a:rPr lang="en-US" sz="1200">
                <a:solidFill>
                  <a:schemeClr val="accent1"/>
                </a:solidFill>
              </a:rPr>
              <a:t>비가</a:t>
            </a:r>
            <a:r>
              <a:rPr lang="en-US" sz="1200">
                <a:solidFill>
                  <a:schemeClr val="dk1"/>
                </a:solidFill>
              </a:rPr>
              <a:t> </a:t>
            </a:r>
            <a:r>
              <a:rPr lang="en-US" sz="1200">
                <a:solidFill>
                  <a:schemeClr val="accent1"/>
                </a:solidFill>
              </a:rPr>
              <a:t>내렸다.</a:t>
            </a:r>
            <a:r>
              <a:rPr lang="en-US" sz="1200">
                <a:solidFill>
                  <a:schemeClr val="dk1"/>
                </a:solidFill>
              </a:rPr>
              <a:t>”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</a:rPr>
              <a:t>생성 B : “</a:t>
            </a:r>
            <a:r>
              <a:rPr lang="en-US" sz="1200">
                <a:solidFill>
                  <a:schemeClr val="accent1"/>
                </a:solidFill>
              </a:rPr>
              <a:t>오늘 서울에 비가</a:t>
            </a:r>
            <a:r>
              <a:rPr lang="en-US" sz="1200">
                <a:solidFill>
                  <a:schemeClr val="dk1"/>
                </a:solidFill>
              </a:rPr>
              <a:t> </a:t>
            </a:r>
            <a:r>
              <a:rPr lang="en-US" sz="1200">
                <a:solidFill>
                  <a:srgbClr val="E03E2D"/>
                </a:solidFill>
              </a:rPr>
              <a:t>많이</a:t>
            </a:r>
            <a:r>
              <a:rPr lang="en-US" sz="1200">
                <a:solidFill>
                  <a:schemeClr val="dk1"/>
                </a:solidFill>
              </a:rPr>
              <a:t> 내렸고 사람들이 우산을 썼다.”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1210" name="Google Shape;1210;g3effa262bf0_0_213"/>
          <p:cNvSpPr txBox="1"/>
          <p:nvPr/>
        </p:nvSpPr>
        <p:spPr>
          <a:xfrm>
            <a:off x="731525" y="3516575"/>
            <a:ext cx="39450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</a:rPr>
              <a:t>BLEU : “모델이 생성한 문장 중 정답 단어가 얼마나 되는가?”</a:t>
            </a:r>
            <a:endParaRPr sz="1000"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en-US" sz="1000">
                <a:solidFill>
                  <a:schemeClr val="dk1"/>
                </a:solidFill>
              </a:rPr>
              <a:t>생성 A : 거의 만점</a:t>
            </a:r>
            <a:endParaRPr sz="1000"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en-US" sz="1000">
                <a:solidFill>
                  <a:schemeClr val="dk1"/>
                </a:solidFill>
              </a:rPr>
              <a:t>생성 B : 뒤에 불필요한 문장이 추가되어 점수 감소</a:t>
            </a:r>
            <a:endParaRPr sz="1000">
              <a:solidFill>
                <a:schemeClr val="dk1"/>
              </a:solidFill>
            </a:endParaRPr>
          </a:p>
        </p:txBody>
      </p:sp>
      <p:sp>
        <p:nvSpPr>
          <p:cNvPr id="1211" name="Google Shape;1211;g3effa262bf0_0_213"/>
          <p:cNvSpPr txBox="1"/>
          <p:nvPr/>
        </p:nvSpPr>
        <p:spPr>
          <a:xfrm>
            <a:off x="4724800" y="3516575"/>
            <a:ext cx="3687900" cy="10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</a:rPr>
              <a:t>ROUGE : “정답 문장에 있는 내용을 얼마나 빠짐 없이 말했는가?”</a:t>
            </a:r>
            <a:endParaRPr sz="1000"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en-US" sz="1000">
                <a:solidFill>
                  <a:schemeClr val="dk1"/>
                </a:solidFill>
              </a:rPr>
              <a:t>생성 A : “많이”가 빠졌기 때문에 감점.</a:t>
            </a:r>
            <a:endParaRPr sz="1000"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en-US" sz="1000">
                <a:solidFill>
                  <a:schemeClr val="dk1"/>
                </a:solidFill>
              </a:rPr>
              <a:t>생성 B : 정답 문장에 있는 내용을 대부분 포함했기 때문에 높은 점수</a:t>
            </a:r>
            <a:endParaRPr sz="1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5" name="Shape 1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6" name="Google Shape;1216;g3effa262bf0_0_226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A5C"/>
          </a:solidFill>
          <a:ln cap="flat" cmpd="sng" w="12700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7" name="Google Shape;1217;g3effa262bf0_0_226"/>
          <p:cNvSpPr/>
          <p:nvPr/>
        </p:nvSpPr>
        <p:spPr>
          <a:xfrm>
            <a:off x="336316" y="297179"/>
            <a:ext cx="1280100" cy="320100"/>
          </a:xfrm>
          <a:prstGeom prst="roundRect">
            <a:avLst>
              <a:gd fmla="val 14286" name="adj"/>
            </a:avLst>
          </a:prstGeom>
          <a:solidFill>
            <a:srgbClr val="E8402A"/>
          </a:solidFill>
          <a:ln cap="flat" cmpd="sng" w="12700">
            <a:solidFill>
              <a:srgbClr val="E840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8" name="Google Shape;1218;g3effa262bf0_0_226"/>
          <p:cNvSpPr txBox="1"/>
          <p:nvPr/>
        </p:nvSpPr>
        <p:spPr>
          <a:xfrm>
            <a:off x="336316" y="387350"/>
            <a:ext cx="1280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Helvetica Neue"/>
              <a:buNone/>
            </a:pPr>
            <a:r>
              <a:rPr b="1" lang="en-US" sz="9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모델 평가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9" name="Google Shape;1219;g3effa262bf0_0_226"/>
          <p:cNvSpPr txBox="1"/>
          <p:nvPr/>
        </p:nvSpPr>
        <p:spPr>
          <a:xfrm>
            <a:off x="1920239" y="285750"/>
            <a:ext cx="6766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모델 평가와 배포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0" name="Google Shape;1220;g3effa262bf0_0_226"/>
          <p:cNvSpPr/>
          <p:nvPr/>
        </p:nvSpPr>
        <p:spPr>
          <a:xfrm>
            <a:off x="457200" y="1051560"/>
            <a:ext cx="8229600" cy="3909000"/>
          </a:xfrm>
          <a:prstGeom prst="roundRect">
            <a:avLst>
              <a:gd fmla="val 1871" name="adj"/>
            </a:avLst>
          </a:prstGeom>
          <a:solidFill>
            <a:srgbClr val="F4F6F9"/>
          </a:solidFill>
          <a:ln cap="flat" cmpd="sng" w="12700">
            <a:solidFill>
              <a:srgbClr val="D8DDE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dir="2700000" dist="25400">
              <a:srgbClr val="000000">
                <a:alpha val="7840"/>
              </a:srgbClr>
            </a:outerShdw>
          </a:effectLst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1" name="Google Shape;1221;g3effa262bf0_0_226"/>
          <p:cNvSpPr txBox="1"/>
          <p:nvPr/>
        </p:nvSpPr>
        <p:spPr>
          <a:xfrm>
            <a:off x="731519" y="1234439"/>
            <a:ext cx="7680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생성형 모델 평가</a:t>
            </a:r>
            <a:endParaRPr sz="16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2" name="Google Shape;1222;g3effa262bf0_0_226"/>
          <p:cNvSpPr txBox="1"/>
          <p:nvPr/>
        </p:nvSpPr>
        <p:spPr>
          <a:xfrm>
            <a:off x="731519" y="1726139"/>
            <a:ext cx="7680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의미 매칭 기반 - LLM Embedding</a:t>
            </a:r>
            <a:endParaRPr b="1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3" name="Google Shape;1223;g3effa262bf0_0_226"/>
          <p:cNvSpPr txBox="1"/>
          <p:nvPr/>
        </p:nvSpPr>
        <p:spPr>
          <a:xfrm>
            <a:off x="731519" y="2148939"/>
            <a:ext cx="76809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문장 임베딩 벡터를 학습한 모델을 불러와서 생성 결과와 예측 결과를 임베딩하고 두 벡터의 유사도를 살펴본다.</a:t>
            </a:r>
            <a:endParaRPr sz="12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24" name="Google Shape;1224;g3effa262bf0_0_2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84250" y="2571750"/>
            <a:ext cx="6575501" cy="2300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8" name="Shape 1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" name="Google Shape;1229;g3effa262bf0_0_238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A5C"/>
          </a:solidFill>
          <a:ln cap="flat" cmpd="sng" w="12700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0" name="Google Shape;1230;g3effa262bf0_0_238"/>
          <p:cNvSpPr/>
          <p:nvPr/>
        </p:nvSpPr>
        <p:spPr>
          <a:xfrm>
            <a:off x="336316" y="297179"/>
            <a:ext cx="1280100" cy="320100"/>
          </a:xfrm>
          <a:prstGeom prst="roundRect">
            <a:avLst>
              <a:gd fmla="val 14286" name="adj"/>
            </a:avLst>
          </a:prstGeom>
          <a:solidFill>
            <a:srgbClr val="E8402A"/>
          </a:solidFill>
          <a:ln cap="flat" cmpd="sng" w="12700">
            <a:solidFill>
              <a:srgbClr val="E840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1" name="Google Shape;1231;g3effa262bf0_0_238"/>
          <p:cNvSpPr txBox="1"/>
          <p:nvPr/>
        </p:nvSpPr>
        <p:spPr>
          <a:xfrm>
            <a:off x="336316" y="387350"/>
            <a:ext cx="1280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Helvetica Neue"/>
              <a:buNone/>
            </a:pPr>
            <a:r>
              <a:rPr b="1" lang="en-US" sz="9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모델 평가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2" name="Google Shape;1232;g3effa262bf0_0_238"/>
          <p:cNvSpPr txBox="1"/>
          <p:nvPr/>
        </p:nvSpPr>
        <p:spPr>
          <a:xfrm>
            <a:off x="1920239" y="285750"/>
            <a:ext cx="6766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모델 평가와 배포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3" name="Google Shape;1233;g3effa262bf0_0_238"/>
          <p:cNvSpPr/>
          <p:nvPr/>
        </p:nvSpPr>
        <p:spPr>
          <a:xfrm>
            <a:off x="457200" y="1051560"/>
            <a:ext cx="8229600" cy="3909000"/>
          </a:xfrm>
          <a:prstGeom prst="roundRect">
            <a:avLst>
              <a:gd fmla="val 1871" name="adj"/>
            </a:avLst>
          </a:prstGeom>
          <a:solidFill>
            <a:srgbClr val="F4F6F9"/>
          </a:solidFill>
          <a:ln cap="flat" cmpd="sng" w="12700">
            <a:solidFill>
              <a:srgbClr val="D8DDE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dir="2700000" dist="25400">
              <a:srgbClr val="000000">
                <a:alpha val="7840"/>
              </a:srgbClr>
            </a:outerShdw>
          </a:effectLst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4" name="Google Shape;1234;g3effa262bf0_0_238"/>
          <p:cNvSpPr txBox="1"/>
          <p:nvPr/>
        </p:nvSpPr>
        <p:spPr>
          <a:xfrm>
            <a:off x="731519" y="1234439"/>
            <a:ext cx="7680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생성형 모델 평가</a:t>
            </a:r>
            <a:endParaRPr sz="16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5" name="Google Shape;1235;g3effa262bf0_0_238"/>
          <p:cNvSpPr txBox="1"/>
          <p:nvPr/>
        </p:nvSpPr>
        <p:spPr>
          <a:xfrm>
            <a:off x="731519" y="1726139"/>
            <a:ext cx="7680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LLM as judge</a:t>
            </a:r>
            <a:endParaRPr b="1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6" name="Google Shape;1236;g3effa262bf0_0_238"/>
          <p:cNvSpPr txBox="1"/>
          <p:nvPr/>
        </p:nvSpPr>
        <p:spPr>
          <a:xfrm>
            <a:off x="731519" y="2148939"/>
            <a:ext cx="76809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-304800" lvl="0" marL="45720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alibri"/>
              <a:buChar char="●"/>
            </a:pPr>
            <a:r>
              <a:rPr lang="en-US" sz="12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인간이 직접 답변을 일일이 확인하는 대신에 llm을 이용해 답변 퀄리티를 평가한다.</a:t>
            </a:r>
            <a:endParaRPr sz="12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alibri"/>
              <a:buChar char="●"/>
            </a:pPr>
            <a:r>
              <a:rPr lang="en-US" sz="12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인간 대신 수행시키는 만큼 더 엄격한 기준을 세워야 한다.</a:t>
            </a:r>
            <a:endParaRPr sz="12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7" name="Google Shape;1237;g3effa262bf0_0_238"/>
          <p:cNvSpPr txBox="1"/>
          <p:nvPr/>
        </p:nvSpPr>
        <p:spPr>
          <a:xfrm>
            <a:off x="3310200" y="3344125"/>
            <a:ext cx="2800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2"/>
                </a:solidFill>
              </a:rPr>
              <a:t>어떤 기준을 세워야 할까?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1238" name="Google Shape;1238;g3effa262bf0_0_238"/>
          <p:cNvCxnSpPr>
            <a:endCxn id="1237" idx="1"/>
          </p:cNvCxnSpPr>
          <p:nvPr/>
        </p:nvCxnSpPr>
        <p:spPr>
          <a:xfrm>
            <a:off x="2461500" y="3574975"/>
            <a:ext cx="848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2" name="Shape 1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3" name="Google Shape;1243;g3effa262bf0_0_25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A5C"/>
          </a:solidFill>
          <a:ln cap="flat" cmpd="sng" w="12700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4" name="Google Shape;1244;g3effa262bf0_0_251"/>
          <p:cNvSpPr/>
          <p:nvPr/>
        </p:nvSpPr>
        <p:spPr>
          <a:xfrm>
            <a:off x="336316" y="297179"/>
            <a:ext cx="1280100" cy="320100"/>
          </a:xfrm>
          <a:prstGeom prst="roundRect">
            <a:avLst>
              <a:gd fmla="val 14286" name="adj"/>
            </a:avLst>
          </a:prstGeom>
          <a:solidFill>
            <a:srgbClr val="E8402A"/>
          </a:solidFill>
          <a:ln cap="flat" cmpd="sng" w="12700">
            <a:solidFill>
              <a:srgbClr val="E840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5" name="Google Shape;1245;g3effa262bf0_0_251"/>
          <p:cNvSpPr txBox="1"/>
          <p:nvPr/>
        </p:nvSpPr>
        <p:spPr>
          <a:xfrm>
            <a:off x="336316" y="387350"/>
            <a:ext cx="1280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Helvetica Neue"/>
              <a:buNone/>
            </a:pPr>
            <a:r>
              <a:rPr b="1" lang="en-US" sz="9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모델 평가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6" name="Google Shape;1246;g3effa262bf0_0_251"/>
          <p:cNvSpPr txBox="1"/>
          <p:nvPr/>
        </p:nvSpPr>
        <p:spPr>
          <a:xfrm>
            <a:off x="1920239" y="285750"/>
            <a:ext cx="6766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모델 평가와 배포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7" name="Google Shape;1247;g3effa262bf0_0_251"/>
          <p:cNvSpPr/>
          <p:nvPr/>
        </p:nvSpPr>
        <p:spPr>
          <a:xfrm>
            <a:off x="457200" y="1051560"/>
            <a:ext cx="8229600" cy="3909000"/>
          </a:xfrm>
          <a:prstGeom prst="roundRect">
            <a:avLst>
              <a:gd fmla="val 1871" name="adj"/>
            </a:avLst>
          </a:prstGeom>
          <a:solidFill>
            <a:srgbClr val="F4F6F9"/>
          </a:solidFill>
          <a:ln cap="flat" cmpd="sng" w="12700">
            <a:solidFill>
              <a:srgbClr val="D8DDE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dir="2700000" dist="25400">
              <a:srgbClr val="000000">
                <a:alpha val="7840"/>
              </a:srgbClr>
            </a:outerShdw>
          </a:effectLst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8" name="Google Shape;1248;g3effa262bf0_0_251"/>
          <p:cNvSpPr txBox="1"/>
          <p:nvPr/>
        </p:nvSpPr>
        <p:spPr>
          <a:xfrm>
            <a:off x="731519" y="1234439"/>
            <a:ext cx="7680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모델 평가</a:t>
            </a:r>
            <a:endParaRPr sz="16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9" name="Google Shape;1249;g3effa262bf0_0_251"/>
          <p:cNvSpPr txBox="1"/>
          <p:nvPr/>
        </p:nvSpPr>
        <p:spPr>
          <a:xfrm>
            <a:off x="731519" y="1726139"/>
            <a:ext cx="7680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평가 기준은 모델의 목적에 따라 다릅니다!</a:t>
            </a:r>
            <a:endParaRPr b="1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0" name="Google Shape;1250;g3effa262bf0_0_251"/>
          <p:cNvSpPr txBox="1"/>
          <p:nvPr/>
        </p:nvSpPr>
        <p:spPr>
          <a:xfrm>
            <a:off x="731519" y="2213739"/>
            <a:ext cx="76809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-304800" lvl="0" marL="45720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alibri"/>
              <a:buChar char="●"/>
            </a:pPr>
            <a:r>
              <a:rPr lang="en-US" sz="12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고객상담 챗봇 : 주어진 가이드라인의 내용을 기반으로 팩트체크가 중요. 친절한 말투를 유지하는 것이 중요함.</a:t>
            </a:r>
            <a:endParaRPr sz="12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alibri"/>
              <a:buChar char="●"/>
            </a:pPr>
            <a:r>
              <a:rPr lang="en-US" sz="12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법률분석 챗봇 : 지정된 형식대로 답변해야 함. 관련 도메인 지식이 중요함.</a:t>
            </a:r>
            <a:endParaRPr sz="12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alibri"/>
              <a:buChar char="●"/>
            </a:pPr>
            <a:r>
              <a:rPr lang="en-US" sz="12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코드 어시스턴트 : 코드가 실제로 잘 실행되는가가 핵심.</a:t>
            </a:r>
            <a:endParaRPr sz="12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alibri"/>
              <a:buChar char="●"/>
            </a:pPr>
            <a:r>
              <a:rPr lang="en-US" sz="12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금융 상담 봇 : 투자 권유성 발언 금지.</a:t>
            </a:r>
            <a:endParaRPr sz="12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1" name="Google Shape;1251;g3effa262bf0_0_251"/>
          <p:cNvSpPr txBox="1"/>
          <p:nvPr/>
        </p:nvSpPr>
        <p:spPr>
          <a:xfrm>
            <a:off x="1165049" y="4044950"/>
            <a:ext cx="6813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“모델을 학습하기 전에 먼저 </a:t>
            </a:r>
            <a:r>
              <a:rPr b="1" lang="en-US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모델의 목표를 정의</a:t>
            </a:r>
            <a:r>
              <a:rPr lang="en-US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하고, </a:t>
            </a:r>
            <a:r>
              <a:rPr b="1" lang="en-US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테스트셋을 먼저 구축</a:t>
            </a:r>
            <a:r>
              <a:rPr lang="en-US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해야 함.”</a:t>
            </a:r>
            <a:endParaRPr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5" name="Shape 1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6" name="Google Shape;1256;g3effa262bf0_0_263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A5C"/>
          </a:solidFill>
          <a:ln cap="flat" cmpd="sng" w="12700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7" name="Google Shape;1257;g3effa262bf0_0_263"/>
          <p:cNvSpPr/>
          <p:nvPr/>
        </p:nvSpPr>
        <p:spPr>
          <a:xfrm>
            <a:off x="336316" y="297179"/>
            <a:ext cx="1280100" cy="320100"/>
          </a:xfrm>
          <a:prstGeom prst="roundRect">
            <a:avLst>
              <a:gd fmla="val 14286" name="adj"/>
            </a:avLst>
          </a:prstGeom>
          <a:solidFill>
            <a:srgbClr val="E8402A"/>
          </a:solidFill>
          <a:ln cap="flat" cmpd="sng" w="12700">
            <a:solidFill>
              <a:srgbClr val="E840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8" name="Google Shape;1258;g3effa262bf0_0_263"/>
          <p:cNvSpPr txBox="1"/>
          <p:nvPr/>
        </p:nvSpPr>
        <p:spPr>
          <a:xfrm>
            <a:off x="336316" y="387350"/>
            <a:ext cx="1280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Helvetica Neue"/>
              <a:buNone/>
            </a:pPr>
            <a:r>
              <a:rPr b="1" lang="en-US" sz="9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모델 평가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9" name="Google Shape;1259;g3effa262bf0_0_263"/>
          <p:cNvSpPr txBox="1"/>
          <p:nvPr/>
        </p:nvSpPr>
        <p:spPr>
          <a:xfrm>
            <a:off x="1920239" y="285750"/>
            <a:ext cx="6766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모델 평가와 배포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0" name="Google Shape;1260;g3effa262bf0_0_263"/>
          <p:cNvSpPr/>
          <p:nvPr/>
        </p:nvSpPr>
        <p:spPr>
          <a:xfrm>
            <a:off x="457200" y="1051560"/>
            <a:ext cx="8229600" cy="3909000"/>
          </a:xfrm>
          <a:prstGeom prst="roundRect">
            <a:avLst>
              <a:gd fmla="val 1871" name="adj"/>
            </a:avLst>
          </a:prstGeom>
          <a:solidFill>
            <a:srgbClr val="F4F6F9"/>
          </a:solidFill>
          <a:ln cap="flat" cmpd="sng" w="12700">
            <a:solidFill>
              <a:srgbClr val="D8DDE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dir="2700000" dist="25400">
              <a:srgbClr val="000000">
                <a:alpha val="7840"/>
              </a:srgbClr>
            </a:outerShdw>
          </a:effectLst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1" name="Google Shape;1261;g3effa262bf0_0_263"/>
          <p:cNvSpPr txBox="1"/>
          <p:nvPr/>
        </p:nvSpPr>
        <p:spPr>
          <a:xfrm>
            <a:off x="731519" y="1234439"/>
            <a:ext cx="7680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모델 평가</a:t>
            </a:r>
            <a:endParaRPr sz="16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2" name="Google Shape;1262;g3effa262bf0_0_263"/>
          <p:cNvSpPr txBox="1"/>
          <p:nvPr/>
        </p:nvSpPr>
        <p:spPr>
          <a:xfrm>
            <a:off x="731519" y="1726139"/>
            <a:ext cx="7680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테스트 데이터 구축</a:t>
            </a:r>
            <a:endParaRPr b="1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3" name="Google Shape;1263;g3effa262bf0_0_263"/>
          <p:cNvSpPr txBox="1"/>
          <p:nvPr/>
        </p:nvSpPr>
        <p:spPr>
          <a:xfrm>
            <a:off x="731519" y="2213739"/>
            <a:ext cx="76809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-304800" lvl="0" marL="45720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alibri"/>
              <a:buChar char="●"/>
            </a:pPr>
            <a:r>
              <a:rPr lang="en-US" sz="12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테스트 데이터 = “모델이 이 질문들에 이렇게 답변하게 만들겠다”는 목표 그 자체.</a:t>
            </a:r>
            <a:endParaRPr sz="12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alibri"/>
              <a:buChar char="●"/>
            </a:pPr>
            <a:r>
              <a:rPr lang="en-US" sz="12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테스트 데이터에 모델이 달성해야 하는 목표들이 전부 반영되어 있어야 모델을 내가 원하는 대로 학습할 수 있음.</a:t>
            </a:r>
            <a:endParaRPr sz="12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alibri"/>
              <a:buChar char="●"/>
            </a:pPr>
            <a:r>
              <a:rPr lang="en-US" sz="12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테스트 데이터가 잘못 구축되면 아무리 좋은 모델을 써도 원하는 결과를 달성할 수 없다. (모델은 결국 데이터의 패턴을 학습하는 것)</a:t>
            </a:r>
            <a:endParaRPr sz="12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7" name="Shape 1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8" name="Google Shape;1268;g3effa262bf0_0_274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A5C"/>
          </a:solidFill>
          <a:ln cap="flat" cmpd="sng" w="12700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9" name="Google Shape;1269;g3effa262bf0_0_274"/>
          <p:cNvSpPr/>
          <p:nvPr/>
        </p:nvSpPr>
        <p:spPr>
          <a:xfrm>
            <a:off x="336316" y="297179"/>
            <a:ext cx="1280100" cy="320100"/>
          </a:xfrm>
          <a:prstGeom prst="roundRect">
            <a:avLst>
              <a:gd fmla="val 14286" name="adj"/>
            </a:avLst>
          </a:prstGeom>
          <a:solidFill>
            <a:srgbClr val="E8402A"/>
          </a:solidFill>
          <a:ln cap="flat" cmpd="sng" w="12700">
            <a:solidFill>
              <a:srgbClr val="E840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0" name="Google Shape;1270;g3effa262bf0_0_274"/>
          <p:cNvSpPr txBox="1"/>
          <p:nvPr/>
        </p:nvSpPr>
        <p:spPr>
          <a:xfrm>
            <a:off x="336316" y="387350"/>
            <a:ext cx="1280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Helvetica Neue"/>
              <a:buNone/>
            </a:pPr>
            <a:r>
              <a:rPr b="1" lang="en-US" sz="9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모델 평가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1" name="Google Shape;1271;g3effa262bf0_0_274"/>
          <p:cNvSpPr txBox="1"/>
          <p:nvPr/>
        </p:nvSpPr>
        <p:spPr>
          <a:xfrm>
            <a:off x="1920239" y="285750"/>
            <a:ext cx="6766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모델 평가와 배포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2" name="Google Shape;1272;g3effa262bf0_0_274"/>
          <p:cNvSpPr/>
          <p:nvPr/>
        </p:nvSpPr>
        <p:spPr>
          <a:xfrm>
            <a:off x="457200" y="1051560"/>
            <a:ext cx="8229600" cy="3909000"/>
          </a:xfrm>
          <a:prstGeom prst="roundRect">
            <a:avLst>
              <a:gd fmla="val 1871" name="adj"/>
            </a:avLst>
          </a:prstGeom>
          <a:solidFill>
            <a:srgbClr val="F4F6F9"/>
          </a:solidFill>
          <a:ln cap="flat" cmpd="sng" w="12700">
            <a:solidFill>
              <a:srgbClr val="D8DDE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dir="2700000" dist="25400">
              <a:srgbClr val="000000">
                <a:alpha val="7840"/>
              </a:srgbClr>
            </a:outerShdw>
          </a:effectLst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3" name="Google Shape;1273;g3effa262bf0_0_274"/>
          <p:cNvSpPr txBox="1"/>
          <p:nvPr/>
        </p:nvSpPr>
        <p:spPr>
          <a:xfrm>
            <a:off x="731519" y="1234439"/>
            <a:ext cx="7680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모델 평가</a:t>
            </a:r>
            <a:endParaRPr sz="16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4" name="Google Shape;1274;g3effa262bf0_0_274"/>
          <p:cNvSpPr txBox="1"/>
          <p:nvPr/>
        </p:nvSpPr>
        <p:spPr>
          <a:xfrm>
            <a:off x="731519" y="1726139"/>
            <a:ext cx="7680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키키테크 QA 챗봇 구축</a:t>
            </a:r>
            <a:endParaRPr b="1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5" name="Google Shape;1275;g3effa262bf0_0_274"/>
          <p:cNvSpPr txBox="1"/>
          <p:nvPr/>
        </p:nvSpPr>
        <p:spPr>
          <a:xfrm>
            <a:off x="731519" y="2213739"/>
            <a:ext cx="76809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-304800" lvl="0" marL="45720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alibri"/>
              <a:buChar char="●"/>
            </a:pPr>
            <a:r>
              <a:rPr lang="en-US" sz="12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테스트 데이터 = “모델이 이 질문들에 이렇게 답변하게 만들겠다”는 목표 그 자체.</a:t>
            </a:r>
            <a:endParaRPr sz="12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alibri"/>
              <a:buChar char="●"/>
            </a:pPr>
            <a:r>
              <a:rPr lang="en-US" sz="12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테스트 데이터에 모델이 달성해야 하는 목표들이 전부 반영되어 있어야 모델을 내가 원하는 대로 학습할 수 있음.</a:t>
            </a:r>
            <a:endParaRPr sz="12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alibri"/>
              <a:buChar char="●"/>
            </a:pPr>
            <a:r>
              <a:rPr lang="en-US" sz="12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테스트 데이터가 잘못 구축되면 아무리 좋은 모델을 써도 원하는 결과를 달성할 수 없다. (모델은 결국 데이터의 패턴을 학습하는 것)</a:t>
            </a:r>
            <a:endParaRPr sz="12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9" name="Shape 1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" name="Google Shape;1280;g3effa262bf0_0_285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A5C"/>
          </a:solidFill>
          <a:ln cap="flat" cmpd="sng" w="12700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1" name="Google Shape;1281;g3effa262bf0_0_285"/>
          <p:cNvSpPr/>
          <p:nvPr/>
        </p:nvSpPr>
        <p:spPr>
          <a:xfrm>
            <a:off x="336316" y="297179"/>
            <a:ext cx="1280100" cy="320100"/>
          </a:xfrm>
          <a:prstGeom prst="roundRect">
            <a:avLst>
              <a:gd fmla="val 14286" name="adj"/>
            </a:avLst>
          </a:prstGeom>
          <a:solidFill>
            <a:srgbClr val="E8402A"/>
          </a:solidFill>
          <a:ln cap="flat" cmpd="sng" w="12700">
            <a:solidFill>
              <a:srgbClr val="E840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2" name="Google Shape;1282;g3effa262bf0_0_285"/>
          <p:cNvSpPr txBox="1"/>
          <p:nvPr/>
        </p:nvSpPr>
        <p:spPr>
          <a:xfrm>
            <a:off x="336316" y="387350"/>
            <a:ext cx="1280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Helvetica Neue"/>
              <a:buNone/>
            </a:pPr>
            <a:r>
              <a:rPr b="1" lang="en-US" sz="9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모델 평가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3" name="Google Shape;1283;g3effa262bf0_0_285"/>
          <p:cNvSpPr txBox="1"/>
          <p:nvPr/>
        </p:nvSpPr>
        <p:spPr>
          <a:xfrm>
            <a:off x="1920239" y="285750"/>
            <a:ext cx="6766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모델 평가와 배포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4" name="Google Shape;1284;g3effa262bf0_0_285"/>
          <p:cNvSpPr/>
          <p:nvPr/>
        </p:nvSpPr>
        <p:spPr>
          <a:xfrm>
            <a:off x="457200" y="1051560"/>
            <a:ext cx="8229600" cy="3909000"/>
          </a:xfrm>
          <a:prstGeom prst="roundRect">
            <a:avLst>
              <a:gd fmla="val 1871" name="adj"/>
            </a:avLst>
          </a:prstGeom>
          <a:solidFill>
            <a:srgbClr val="F4F6F9"/>
          </a:solidFill>
          <a:ln cap="flat" cmpd="sng" w="12700">
            <a:solidFill>
              <a:srgbClr val="D8DDE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dir="2700000" dist="25400">
              <a:srgbClr val="000000">
                <a:alpha val="7840"/>
              </a:srgbClr>
            </a:outerShdw>
          </a:effectLst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5" name="Google Shape;1285;g3effa262bf0_0_285"/>
          <p:cNvSpPr txBox="1"/>
          <p:nvPr/>
        </p:nvSpPr>
        <p:spPr>
          <a:xfrm>
            <a:off x="731519" y="1234439"/>
            <a:ext cx="7680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모델 평가</a:t>
            </a:r>
            <a:endParaRPr sz="16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6" name="Google Shape;1286;g3effa262bf0_0_285"/>
          <p:cNvSpPr txBox="1"/>
          <p:nvPr/>
        </p:nvSpPr>
        <p:spPr>
          <a:xfrm>
            <a:off x="731519" y="1726139"/>
            <a:ext cx="7680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키키테크 QA 챗봇 구축</a:t>
            </a:r>
            <a:endParaRPr b="1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7" name="Google Shape;1287;g3effa262bf0_0_285"/>
          <p:cNvSpPr txBox="1"/>
          <p:nvPr/>
        </p:nvSpPr>
        <p:spPr>
          <a:xfrm>
            <a:off x="731519" y="2213739"/>
            <a:ext cx="7680900" cy="24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-304800" lvl="0" marL="45720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alibri"/>
              <a:buChar char="●"/>
            </a:pPr>
            <a:r>
              <a:rPr lang="en-US" sz="12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Step 1. 챗봇 목적과 범위 확정</a:t>
            </a:r>
            <a:endParaRPr sz="12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alibri"/>
              <a:buChar char="○"/>
            </a:pPr>
            <a:r>
              <a:rPr lang="en-US" sz="12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어떤 질문에 답할 것인가? / 어떤 질문은 거절할 것인가?</a:t>
            </a:r>
            <a:endParaRPr sz="12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alibri"/>
              <a:buChar char="●"/>
            </a:pPr>
            <a:r>
              <a:rPr lang="en-US" sz="12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Step 2. 팩트 추출</a:t>
            </a:r>
            <a:endParaRPr sz="12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alibri"/>
              <a:buChar char="○"/>
            </a:pPr>
            <a:r>
              <a:rPr lang="en-US" sz="12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문서와 기준을 LLM에게 주고 팩트 테이블 생성</a:t>
            </a:r>
            <a:endParaRPr sz="12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alibri"/>
              <a:buChar char="●"/>
            </a:pPr>
            <a:r>
              <a:rPr lang="en-US" sz="12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Step 3. 테스트셋 확정</a:t>
            </a:r>
            <a:endParaRPr sz="12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alibri"/>
              <a:buChar char="○"/>
            </a:pPr>
            <a:r>
              <a:rPr lang="en-US" sz="12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팩트마다 쉬운 질문 하나, 어려운 질문 하나 추출</a:t>
            </a:r>
            <a:endParaRPr sz="12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alibri"/>
              <a:buChar char="●"/>
            </a:pPr>
            <a:r>
              <a:rPr lang="en-US" sz="12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Step 4. 훈련 데이터 제작</a:t>
            </a:r>
            <a:endParaRPr sz="12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alibri"/>
              <a:buChar char="○"/>
            </a:pPr>
            <a:r>
              <a:rPr lang="en-US" sz="12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테스트셋과 겹치지 않는 표현으로 데이터 제작. 거절 케이스도 충분히 마련하기.</a:t>
            </a:r>
            <a:endParaRPr sz="12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alibri"/>
              <a:buChar char="●"/>
            </a:pPr>
            <a:r>
              <a:rPr lang="en-US" sz="12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Step 5. 결과 확인 후 데이터 다듬기</a:t>
            </a:r>
            <a:endParaRPr sz="12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1" name="Shape 1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2" name="Google Shape;1292;g3effa262bf0_0_296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A5C"/>
          </a:solidFill>
          <a:ln cap="flat" cmpd="sng" w="12700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3" name="Google Shape;1293;g3effa262bf0_0_296"/>
          <p:cNvSpPr/>
          <p:nvPr/>
        </p:nvSpPr>
        <p:spPr>
          <a:xfrm>
            <a:off x="336316" y="297179"/>
            <a:ext cx="1280100" cy="320100"/>
          </a:xfrm>
          <a:prstGeom prst="roundRect">
            <a:avLst>
              <a:gd fmla="val 14286" name="adj"/>
            </a:avLst>
          </a:prstGeom>
          <a:solidFill>
            <a:srgbClr val="E8402A"/>
          </a:solidFill>
          <a:ln cap="flat" cmpd="sng" w="12700">
            <a:solidFill>
              <a:srgbClr val="E840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4" name="Google Shape;1294;g3effa262bf0_0_296"/>
          <p:cNvSpPr txBox="1"/>
          <p:nvPr/>
        </p:nvSpPr>
        <p:spPr>
          <a:xfrm>
            <a:off x="336316" y="387350"/>
            <a:ext cx="1280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Helvetica Neue"/>
              <a:buNone/>
            </a:pPr>
            <a:r>
              <a:rPr b="1" lang="en-US" sz="9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모델 평가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5" name="Google Shape;1295;g3effa262bf0_0_296"/>
          <p:cNvSpPr txBox="1"/>
          <p:nvPr/>
        </p:nvSpPr>
        <p:spPr>
          <a:xfrm>
            <a:off x="1920239" y="285750"/>
            <a:ext cx="6766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모델 평가와 배포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6" name="Google Shape;1296;g3effa262bf0_0_296"/>
          <p:cNvSpPr/>
          <p:nvPr/>
        </p:nvSpPr>
        <p:spPr>
          <a:xfrm>
            <a:off x="457200" y="1051560"/>
            <a:ext cx="8229600" cy="3909000"/>
          </a:xfrm>
          <a:prstGeom prst="roundRect">
            <a:avLst>
              <a:gd fmla="val 1871" name="adj"/>
            </a:avLst>
          </a:prstGeom>
          <a:solidFill>
            <a:srgbClr val="F4F6F9"/>
          </a:solidFill>
          <a:ln cap="flat" cmpd="sng" w="12700">
            <a:solidFill>
              <a:srgbClr val="D8DDE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dir="2700000" dist="25400">
              <a:srgbClr val="000000">
                <a:alpha val="7840"/>
              </a:srgbClr>
            </a:outerShdw>
          </a:effectLst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7" name="Google Shape;1297;g3effa262bf0_0_296"/>
          <p:cNvSpPr txBox="1"/>
          <p:nvPr/>
        </p:nvSpPr>
        <p:spPr>
          <a:xfrm>
            <a:off x="731519" y="1234439"/>
            <a:ext cx="7680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모델 성능 개선 방법</a:t>
            </a:r>
            <a:endParaRPr sz="16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8" name="Google Shape;1298;g3effa262bf0_0_296"/>
          <p:cNvSpPr txBox="1"/>
          <p:nvPr/>
        </p:nvSpPr>
        <p:spPr>
          <a:xfrm>
            <a:off x="731519" y="1795264"/>
            <a:ext cx="76809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-304800" lvl="0" marL="45720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alibri"/>
              <a:buChar char="●"/>
            </a:pPr>
            <a:r>
              <a:rPr lang="en-US" sz="12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데이터 측면</a:t>
            </a:r>
            <a:endParaRPr sz="12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alibri"/>
              <a:buChar char="○"/>
            </a:pPr>
            <a:r>
              <a:rPr lang="en-US" sz="12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데이터의 양보다 품질, 일관성을 유지</a:t>
            </a:r>
            <a:endParaRPr sz="12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alibri"/>
              <a:buChar char="○"/>
            </a:pPr>
            <a:r>
              <a:rPr lang="en-US" sz="12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경계 케이스와 거절 케이스를 충분히 포함.</a:t>
            </a:r>
            <a:endParaRPr sz="12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alibri"/>
              <a:buChar char="○"/>
            </a:pPr>
            <a:r>
              <a:rPr lang="en-US" sz="12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에러 분석을 통해 반복 보강</a:t>
            </a:r>
            <a:endParaRPr sz="12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9" name="Google Shape;1299;g3effa262bf0_0_296"/>
          <p:cNvSpPr txBox="1"/>
          <p:nvPr/>
        </p:nvSpPr>
        <p:spPr>
          <a:xfrm>
            <a:off x="731519" y="3309389"/>
            <a:ext cx="76809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-304800" lvl="0" marL="45720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alibri"/>
              <a:buChar char="●"/>
            </a:pPr>
            <a:r>
              <a:rPr lang="en-US" sz="12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모델 측면</a:t>
            </a:r>
            <a:endParaRPr sz="12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alibri"/>
              <a:buChar char="○"/>
            </a:pPr>
            <a:r>
              <a:rPr lang="en-US" sz="12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베이스 모델 변경</a:t>
            </a:r>
            <a:endParaRPr sz="12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alibri"/>
              <a:buChar char="○"/>
            </a:pPr>
            <a:r>
              <a:rPr lang="en-US" sz="12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epoch, learning rate, LoRA 같은 하이퍼 파라미터 조절</a:t>
            </a:r>
            <a:endParaRPr sz="12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3" name="Shape 1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4" name="Google Shape;1304;g3effa262bf0_0_307"/>
          <p:cNvSpPr/>
          <p:nvPr/>
        </p:nvSpPr>
        <p:spPr>
          <a:xfrm>
            <a:off x="0" y="0"/>
            <a:ext cx="7667100" cy="5143500"/>
          </a:xfrm>
          <a:prstGeom prst="roundRect">
            <a:avLst>
              <a:gd fmla="val 1871" name="adj"/>
            </a:avLst>
          </a:prstGeom>
          <a:solidFill>
            <a:srgbClr val="E8402A"/>
          </a:solidFill>
          <a:ln cap="flat" cmpd="sng" w="12700">
            <a:solidFill>
              <a:srgbClr val="D8DDE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dir="2700000" dist="25400">
              <a:srgbClr val="000000">
                <a:alpha val="7840"/>
              </a:srgbClr>
            </a:outerShdw>
          </a:effectLst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5" name="Google Shape;1305;g3effa262bf0_0_307"/>
          <p:cNvSpPr/>
          <p:nvPr/>
        </p:nvSpPr>
        <p:spPr>
          <a:xfrm>
            <a:off x="0" y="0"/>
            <a:ext cx="6376200" cy="5143500"/>
          </a:xfrm>
          <a:prstGeom prst="roundRect">
            <a:avLst>
              <a:gd fmla="val 1871" name="adj"/>
            </a:avLst>
          </a:prstGeom>
          <a:solidFill>
            <a:srgbClr val="F4F6F9"/>
          </a:solidFill>
          <a:ln cap="flat" cmpd="sng" w="12700">
            <a:solidFill>
              <a:srgbClr val="D8DDE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dir="2700000" dist="25400">
              <a:srgbClr val="000000">
                <a:alpha val="7840"/>
              </a:srgbClr>
            </a:outerShdw>
          </a:effectLst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6" name="Google Shape;1306;g3effa262bf0_0_307"/>
          <p:cNvSpPr txBox="1"/>
          <p:nvPr/>
        </p:nvSpPr>
        <p:spPr>
          <a:xfrm>
            <a:off x="621875" y="2117550"/>
            <a:ext cx="54552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latin typeface="Calibri"/>
                <a:ea typeface="Calibri"/>
                <a:cs typeface="Calibri"/>
                <a:sym typeface="Calibri"/>
              </a:rPr>
              <a:t>7. 모델 배포</a:t>
            </a:r>
            <a:endParaRPr b="1" sz="32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0" name="Shape 1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1" name="Google Shape;1311;g3effa262bf0_0_313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A5C"/>
          </a:solidFill>
          <a:ln cap="flat" cmpd="sng" w="12700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2" name="Google Shape;1312;g3effa262bf0_0_313"/>
          <p:cNvSpPr/>
          <p:nvPr/>
        </p:nvSpPr>
        <p:spPr>
          <a:xfrm>
            <a:off x="336316" y="297179"/>
            <a:ext cx="1280100" cy="320100"/>
          </a:xfrm>
          <a:prstGeom prst="roundRect">
            <a:avLst>
              <a:gd fmla="val 14286" name="adj"/>
            </a:avLst>
          </a:prstGeom>
          <a:solidFill>
            <a:srgbClr val="E8402A"/>
          </a:solidFill>
          <a:ln cap="flat" cmpd="sng" w="12700">
            <a:solidFill>
              <a:srgbClr val="E840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3" name="Google Shape;1313;g3effa262bf0_0_313"/>
          <p:cNvSpPr txBox="1"/>
          <p:nvPr/>
        </p:nvSpPr>
        <p:spPr>
          <a:xfrm>
            <a:off x="336316" y="387350"/>
            <a:ext cx="1280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Helvetica Neue"/>
              <a:buNone/>
            </a:pPr>
            <a:r>
              <a:rPr b="1" lang="en-US" sz="9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모델 평가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4" name="Google Shape;1314;g3effa262bf0_0_313"/>
          <p:cNvSpPr txBox="1"/>
          <p:nvPr/>
        </p:nvSpPr>
        <p:spPr>
          <a:xfrm>
            <a:off x="1920239" y="285750"/>
            <a:ext cx="6766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모델 평가와 배포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5" name="Google Shape;1315;g3effa262bf0_0_313"/>
          <p:cNvSpPr/>
          <p:nvPr/>
        </p:nvSpPr>
        <p:spPr>
          <a:xfrm>
            <a:off x="457200" y="1051560"/>
            <a:ext cx="8229600" cy="3909000"/>
          </a:xfrm>
          <a:prstGeom prst="roundRect">
            <a:avLst>
              <a:gd fmla="val 1871" name="adj"/>
            </a:avLst>
          </a:prstGeom>
          <a:solidFill>
            <a:srgbClr val="F4F6F9"/>
          </a:solidFill>
          <a:ln cap="flat" cmpd="sng" w="12700">
            <a:solidFill>
              <a:srgbClr val="D8DDE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dir="2700000" dist="25400">
              <a:srgbClr val="000000">
                <a:alpha val="7840"/>
              </a:srgbClr>
            </a:outerShdw>
          </a:effectLst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6" name="Google Shape;1316;g3effa262bf0_0_313"/>
          <p:cNvSpPr txBox="1"/>
          <p:nvPr/>
        </p:nvSpPr>
        <p:spPr>
          <a:xfrm>
            <a:off x="731519" y="1234439"/>
            <a:ext cx="7680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모델 배포</a:t>
            </a:r>
            <a:endParaRPr sz="16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7" name="Google Shape;1317;g3effa262bf0_0_313"/>
          <p:cNvSpPr txBox="1"/>
          <p:nvPr/>
        </p:nvSpPr>
        <p:spPr>
          <a:xfrm>
            <a:off x="731544" y="1789039"/>
            <a:ext cx="76809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-304800" lvl="0" marL="45720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alibri"/>
              <a:buChar char="●"/>
            </a:pPr>
            <a:r>
              <a:rPr lang="en-US" sz="12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내가 만든 모델은 어떻게 다른 사람과 공유할 수 있을까?</a:t>
            </a:r>
            <a:endParaRPr sz="12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alibri"/>
              <a:buChar char="●"/>
            </a:pPr>
            <a:r>
              <a:rPr lang="en-US" sz="12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huggingface에 모델을 업로드하고 다른 사람과 공유해보자.</a:t>
            </a:r>
            <a:endParaRPr sz="12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8" name="Google Shape;1318;g3effa262bf0_0_313"/>
          <p:cNvSpPr txBox="1"/>
          <p:nvPr/>
        </p:nvSpPr>
        <p:spPr>
          <a:xfrm>
            <a:off x="731525" y="2707550"/>
            <a:ext cx="4888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latin typeface="Calibri"/>
                <a:ea typeface="Calibri"/>
                <a:cs typeface="Calibri"/>
                <a:sym typeface="Calibri"/>
              </a:rPr>
              <a:t>업로드 하는 방법</a:t>
            </a:r>
            <a:endParaRPr b="1" sz="1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9" name="Google Shape;1319;g3effa262bf0_0_313"/>
          <p:cNvSpPr txBox="1"/>
          <p:nvPr/>
        </p:nvSpPr>
        <p:spPr>
          <a:xfrm>
            <a:off x="731544" y="3265889"/>
            <a:ext cx="76809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-304800" lvl="0" marL="45720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alibri"/>
              <a:buChar char="●"/>
            </a:pPr>
            <a:r>
              <a:rPr lang="en-US" sz="12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LoRA를 적용했기 때문에 모델 전체를 업로드 할 필요 없이 LoRA 가중치만 업로드하면 됨.</a:t>
            </a:r>
            <a:endParaRPr sz="12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alibri"/>
              <a:buChar char="●"/>
            </a:pPr>
            <a:r>
              <a:rPr lang="en-US" sz="12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모델이 메모리에 있을 땐 `push_to_hub()`로, 폴더에서 업로드할 땐 `HfApi.upload_folder()`로 업로드</a:t>
            </a:r>
            <a:endParaRPr sz="12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alibri"/>
              <a:buChar char="●"/>
            </a:pPr>
            <a:r>
              <a:rPr lang="en-US" sz="12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모델을 불러올 땐 베이스 모델을 불러온 뒤, 업로드 된 가중치를 불러와 적용하면 된다.</a:t>
            </a:r>
            <a:endParaRPr sz="12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3" name="Shape 1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4" name="Google Shape;1324;g3effa262bf0_0_325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A5C"/>
          </a:solidFill>
          <a:ln cap="flat" cmpd="sng" w="12700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5" name="Google Shape;1325;g3effa262bf0_0_325"/>
          <p:cNvSpPr/>
          <p:nvPr/>
        </p:nvSpPr>
        <p:spPr>
          <a:xfrm>
            <a:off x="336316" y="297179"/>
            <a:ext cx="1280100" cy="320100"/>
          </a:xfrm>
          <a:prstGeom prst="roundRect">
            <a:avLst>
              <a:gd fmla="val 14286" name="adj"/>
            </a:avLst>
          </a:prstGeom>
          <a:solidFill>
            <a:srgbClr val="E8402A"/>
          </a:solidFill>
          <a:ln cap="flat" cmpd="sng" w="12700">
            <a:solidFill>
              <a:srgbClr val="E840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6" name="Google Shape;1326;g3effa262bf0_0_325"/>
          <p:cNvSpPr txBox="1"/>
          <p:nvPr/>
        </p:nvSpPr>
        <p:spPr>
          <a:xfrm>
            <a:off x="336316" y="387350"/>
            <a:ext cx="1280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Helvetica Neue"/>
              <a:buNone/>
            </a:pPr>
            <a:r>
              <a:rPr b="1" lang="en-US" sz="9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모델 평가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7" name="Google Shape;1327;g3effa262bf0_0_325"/>
          <p:cNvSpPr txBox="1"/>
          <p:nvPr/>
        </p:nvSpPr>
        <p:spPr>
          <a:xfrm>
            <a:off x="1920239" y="285750"/>
            <a:ext cx="6766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모델 평가와 배포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8" name="Google Shape;1328;g3effa262bf0_0_325"/>
          <p:cNvSpPr/>
          <p:nvPr/>
        </p:nvSpPr>
        <p:spPr>
          <a:xfrm>
            <a:off x="457200" y="1051560"/>
            <a:ext cx="8229600" cy="3909000"/>
          </a:xfrm>
          <a:prstGeom prst="roundRect">
            <a:avLst>
              <a:gd fmla="val 1871" name="adj"/>
            </a:avLst>
          </a:prstGeom>
          <a:solidFill>
            <a:srgbClr val="F4F6F9"/>
          </a:solidFill>
          <a:ln cap="flat" cmpd="sng" w="12700">
            <a:solidFill>
              <a:srgbClr val="D8DDE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dir="2700000" dist="25400">
              <a:srgbClr val="000000">
                <a:alpha val="7840"/>
              </a:srgbClr>
            </a:outerShdw>
          </a:effectLst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9" name="Google Shape;1329;g3effa262bf0_0_325"/>
          <p:cNvSpPr txBox="1"/>
          <p:nvPr/>
        </p:nvSpPr>
        <p:spPr>
          <a:xfrm>
            <a:off x="731519" y="1234439"/>
            <a:ext cx="7680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모델 배포</a:t>
            </a:r>
            <a:endParaRPr sz="16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0" name="Google Shape;1330;g3effa262bf0_0_325"/>
          <p:cNvSpPr txBox="1"/>
          <p:nvPr/>
        </p:nvSpPr>
        <p:spPr>
          <a:xfrm>
            <a:off x="731550" y="1764050"/>
            <a:ext cx="4888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latin typeface="Calibri"/>
                <a:ea typeface="Calibri"/>
                <a:cs typeface="Calibri"/>
                <a:sym typeface="Calibri"/>
              </a:rPr>
              <a:t>Gradio</a:t>
            </a:r>
            <a:endParaRPr b="1" sz="16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31" name="Google Shape;1331;g3effa262bf0_0_3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18613" y="2690920"/>
            <a:ext cx="4306725" cy="2058625"/>
          </a:xfrm>
          <a:prstGeom prst="rect">
            <a:avLst/>
          </a:prstGeom>
          <a:solidFill>
            <a:srgbClr val="F4F6F9"/>
          </a:solidFill>
          <a:ln cap="flat" cmpd="sng" w="12700">
            <a:solidFill>
              <a:srgbClr val="D8DDE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dir="2700000" dist="25400">
              <a:srgbClr val="000000">
                <a:alpha val="7840"/>
              </a:srgbClr>
            </a:outerShdw>
          </a:effectLst>
        </p:spPr>
      </p:pic>
      <p:sp>
        <p:nvSpPr>
          <p:cNvPr id="1332" name="Google Shape;1332;g3effa262bf0_0_325"/>
          <p:cNvSpPr txBox="1"/>
          <p:nvPr/>
        </p:nvSpPr>
        <p:spPr>
          <a:xfrm>
            <a:off x="731525" y="2213750"/>
            <a:ext cx="7512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en-US">
                <a:solidFill>
                  <a:schemeClr val="dk2"/>
                </a:solidFill>
              </a:rPr>
              <a:t>간단한 코드로 함수를 감싸 ui로 만들어주는 라이브러리</a:t>
            </a:r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